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6.svg" ContentType="image/svg+xml"/>
  <Override PartName="/ppt/media/image108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8.svg" ContentType="image/svg+xml"/>
  <Override PartName="/ppt/media/image80.svg" ContentType="image/svg+xml"/>
  <Override PartName="/ppt/media/image8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0E0"/>
    <a:srgbClr val="0547A0"/>
    <a:srgbClr val="215F9A"/>
    <a:srgbClr val="FFFFFF"/>
    <a:srgbClr val="3B6E41"/>
    <a:srgbClr val="84E291"/>
    <a:srgbClr val="C04F15"/>
    <a:srgbClr val="FFF6EF"/>
    <a:srgbClr val="0B4B82"/>
    <a:srgbClr val="0A5B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7" autoAdjust="0"/>
    <p:restoredTop sz="95315" autoAdjust="0"/>
  </p:normalViewPr>
  <p:slideViewPr>
    <p:cSldViewPr snapToGrid="0">
      <p:cViewPr>
        <p:scale>
          <a:sx n="75" d="100"/>
          <a:sy n="75" d="100"/>
        </p:scale>
        <p:origin x="2979" y="1101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71607-F1E9-4B4A-922B-2E4CE64C1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92A14-83CD-4146-8D0B-3B5C649630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92A14-83CD-4146-8D0B-3B5C649630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9C625-1D65-417B-991D-01DBB4F011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E5C06-2803-4CAE-AA36-54AF6ACF3B6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4" Type="http://schemas.openxmlformats.org/officeDocument/2006/relationships/notesSlide" Target="../notesSlides/notesSlide1.xml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42.sv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svg"/><Relationship Id="rId39" Type="http://schemas.openxmlformats.org/officeDocument/2006/relationships/image" Target="../media/image39.png"/><Relationship Id="rId38" Type="http://schemas.openxmlformats.org/officeDocument/2006/relationships/image" Target="../media/image38.svg"/><Relationship Id="rId37" Type="http://schemas.openxmlformats.org/officeDocument/2006/relationships/image" Target="../media/image37.png"/><Relationship Id="rId36" Type="http://schemas.openxmlformats.org/officeDocument/2006/relationships/image" Target="../media/image36.svg"/><Relationship Id="rId35" Type="http://schemas.openxmlformats.org/officeDocument/2006/relationships/image" Target="../media/image35.png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image" Target="../media/image32.svg"/><Relationship Id="rId31" Type="http://schemas.openxmlformats.org/officeDocument/2006/relationships/image" Target="../media/image31.png"/><Relationship Id="rId30" Type="http://schemas.openxmlformats.org/officeDocument/2006/relationships/image" Target="../media/image30.sv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8" Type="http://schemas.openxmlformats.org/officeDocument/2006/relationships/slideLayout" Target="../slideLayouts/slideLayout2.xml"/><Relationship Id="rId97" Type="http://schemas.openxmlformats.org/officeDocument/2006/relationships/image" Target="../media/image111.png"/><Relationship Id="rId96" Type="http://schemas.openxmlformats.org/officeDocument/2006/relationships/image" Target="../media/image110.png"/><Relationship Id="rId95" Type="http://schemas.openxmlformats.org/officeDocument/2006/relationships/image" Target="../media/image18.svg"/><Relationship Id="rId94" Type="http://schemas.openxmlformats.org/officeDocument/2006/relationships/image" Target="../media/image17.png"/><Relationship Id="rId93" Type="http://schemas.openxmlformats.org/officeDocument/2006/relationships/image" Target="../media/image109.png"/><Relationship Id="rId92" Type="http://schemas.openxmlformats.org/officeDocument/2006/relationships/image" Target="../media/image108.svg"/><Relationship Id="rId91" Type="http://schemas.openxmlformats.org/officeDocument/2006/relationships/image" Target="../media/image107.png"/><Relationship Id="rId90" Type="http://schemas.openxmlformats.org/officeDocument/2006/relationships/image" Target="../media/image106.svg"/><Relationship Id="rId9" Type="http://schemas.openxmlformats.org/officeDocument/2006/relationships/image" Target="../media/image25.png"/><Relationship Id="rId89" Type="http://schemas.openxmlformats.org/officeDocument/2006/relationships/image" Target="../media/image105.png"/><Relationship Id="rId88" Type="http://schemas.openxmlformats.org/officeDocument/2006/relationships/image" Target="../media/image104.png"/><Relationship Id="rId87" Type="http://schemas.openxmlformats.org/officeDocument/2006/relationships/image" Target="../media/image103.png"/><Relationship Id="rId86" Type="http://schemas.openxmlformats.org/officeDocument/2006/relationships/image" Target="../media/image102.png"/><Relationship Id="rId85" Type="http://schemas.openxmlformats.org/officeDocument/2006/relationships/image" Target="../media/image101.png"/><Relationship Id="rId84" Type="http://schemas.openxmlformats.org/officeDocument/2006/relationships/image" Target="../media/image100.png"/><Relationship Id="rId83" Type="http://schemas.openxmlformats.org/officeDocument/2006/relationships/image" Target="../media/image99.png"/><Relationship Id="rId82" Type="http://schemas.openxmlformats.org/officeDocument/2006/relationships/image" Target="../media/image98.svg"/><Relationship Id="rId81" Type="http://schemas.openxmlformats.org/officeDocument/2006/relationships/image" Target="../media/image97.png"/><Relationship Id="rId80" Type="http://schemas.openxmlformats.org/officeDocument/2006/relationships/tags" Target="../tags/tag1.xml"/><Relationship Id="rId8" Type="http://schemas.openxmlformats.org/officeDocument/2006/relationships/image" Target="../media/image24.svg"/><Relationship Id="rId79" Type="http://schemas.openxmlformats.org/officeDocument/2006/relationships/image" Target="../media/image96.png"/><Relationship Id="rId78" Type="http://schemas.openxmlformats.org/officeDocument/2006/relationships/image" Target="../media/image95.png"/><Relationship Id="rId77" Type="http://schemas.openxmlformats.org/officeDocument/2006/relationships/image" Target="../media/image9.png"/><Relationship Id="rId76" Type="http://schemas.openxmlformats.org/officeDocument/2006/relationships/image" Target="../media/image94.png"/><Relationship Id="rId75" Type="http://schemas.openxmlformats.org/officeDocument/2006/relationships/image" Target="../media/image93.png"/><Relationship Id="rId74" Type="http://schemas.openxmlformats.org/officeDocument/2006/relationships/image" Target="../media/image92.png"/><Relationship Id="rId73" Type="http://schemas.openxmlformats.org/officeDocument/2006/relationships/image" Target="../media/image91.png"/><Relationship Id="rId72" Type="http://schemas.openxmlformats.org/officeDocument/2006/relationships/image" Target="../media/image90.png"/><Relationship Id="rId71" Type="http://schemas.openxmlformats.org/officeDocument/2006/relationships/image" Target="../media/image89.png"/><Relationship Id="rId70" Type="http://schemas.openxmlformats.org/officeDocument/2006/relationships/image" Target="../media/image88.png"/><Relationship Id="rId7" Type="http://schemas.openxmlformats.org/officeDocument/2006/relationships/image" Target="../media/image23.png"/><Relationship Id="rId69" Type="http://schemas.openxmlformats.org/officeDocument/2006/relationships/image" Target="../media/image87.png"/><Relationship Id="rId68" Type="http://schemas.openxmlformats.org/officeDocument/2006/relationships/image" Target="../media/image86.svg"/><Relationship Id="rId67" Type="http://schemas.openxmlformats.org/officeDocument/2006/relationships/image" Target="../media/image85.png"/><Relationship Id="rId66" Type="http://schemas.openxmlformats.org/officeDocument/2006/relationships/image" Target="../media/image84.png"/><Relationship Id="rId65" Type="http://schemas.openxmlformats.org/officeDocument/2006/relationships/image" Target="../media/image83.png"/><Relationship Id="rId64" Type="http://schemas.openxmlformats.org/officeDocument/2006/relationships/image" Target="../media/image82.png"/><Relationship Id="rId63" Type="http://schemas.openxmlformats.org/officeDocument/2006/relationships/image" Target="../media/image81.png"/><Relationship Id="rId62" Type="http://schemas.openxmlformats.org/officeDocument/2006/relationships/image" Target="../media/image80.svg"/><Relationship Id="rId61" Type="http://schemas.openxmlformats.org/officeDocument/2006/relationships/image" Target="../media/image79.png"/><Relationship Id="rId60" Type="http://schemas.openxmlformats.org/officeDocument/2006/relationships/image" Target="../media/image78.png"/><Relationship Id="rId6" Type="http://schemas.openxmlformats.org/officeDocument/2006/relationships/image" Target="../media/image22.svg"/><Relationship Id="rId59" Type="http://schemas.openxmlformats.org/officeDocument/2006/relationships/image" Target="../media/image77.png"/><Relationship Id="rId58" Type="http://schemas.openxmlformats.org/officeDocument/2006/relationships/image" Target="../media/image76.png"/><Relationship Id="rId57" Type="http://schemas.openxmlformats.org/officeDocument/2006/relationships/image" Target="../media/image75.png"/><Relationship Id="rId56" Type="http://schemas.openxmlformats.org/officeDocument/2006/relationships/image" Target="../media/image74.png"/><Relationship Id="rId55" Type="http://schemas.openxmlformats.org/officeDocument/2006/relationships/image" Target="../media/image73.png"/><Relationship Id="rId54" Type="http://schemas.openxmlformats.org/officeDocument/2006/relationships/image" Target="../media/image72.png"/><Relationship Id="rId53" Type="http://schemas.openxmlformats.org/officeDocument/2006/relationships/image" Target="../media/image71.png"/><Relationship Id="rId52" Type="http://schemas.openxmlformats.org/officeDocument/2006/relationships/image" Target="../media/image70.png"/><Relationship Id="rId51" Type="http://schemas.openxmlformats.org/officeDocument/2006/relationships/image" Target="../media/image69.png"/><Relationship Id="rId50" Type="http://schemas.openxmlformats.org/officeDocument/2006/relationships/image" Target="../media/image68.png"/><Relationship Id="rId5" Type="http://schemas.openxmlformats.org/officeDocument/2006/relationships/image" Target="../media/image21.png"/><Relationship Id="rId49" Type="http://schemas.openxmlformats.org/officeDocument/2006/relationships/image" Target="../media/image67.png"/><Relationship Id="rId48" Type="http://schemas.openxmlformats.org/officeDocument/2006/relationships/image" Target="../media/image66.png"/><Relationship Id="rId47" Type="http://schemas.openxmlformats.org/officeDocument/2006/relationships/image" Target="../media/image65.png"/><Relationship Id="rId46" Type="http://schemas.openxmlformats.org/officeDocument/2006/relationships/image" Target="../media/image64.svg"/><Relationship Id="rId45" Type="http://schemas.openxmlformats.org/officeDocument/2006/relationships/image" Target="../media/image63.png"/><Relationship Id="rId44" Type="http://schemas.openxmlformats.org/officeDocument/2006/relationships/image" Target="../media/image62.svg"/><Relationship Id="rId43" Type="http://schemas.openxmlformats.org/officeDocument/2006/relationships/image" Target="../media/image61.png"/><Relationship Id="rId42" Type="http://schemas.openxmlformats.org/officeDocument/2006/relationships/image" Target="../media/image60.png"/><Relationship Id="rId41" Type="http://schemas.openxmlformats.org/officeDocument/2006/relationships/image" Target="../media/image59.png"/><Relationship Id="rId40" Type="http://schemas.openxmlformats.org/officeDocument/2006/relationships/image" Target="../media/image58.png"/><Relationship Id="rId4" Type="http://schemas.openxmlformats.org/officeDocument/2006/relationships/image" Target="../media/image20.svg"/><Relationship Id="rId39" Type="http://schemas.openxmlformats.org/officeDocument/2006/relationships/image" Target="../media/image57.png"/><Relationship Id="rId38" Type="http://schemas.openxmlformats.org/officeDocument/2006/relationships/image" Target="../media/image56.svg"/><Relationship Id="rId37" Type="http://schemas.openxmlformats.org/officeDocument/2006/relationships/image" Target="../media/image55.png"/><Relationship Id="rId36" Type="http://schemas.openxmlformats.org/officeDocument/2006/relationships/image" Target="../media/image54.svg"/><Relationship Id="rId35" Type="http://schemas.openxmlformats.org/officeDocument/2006/relationships/image" Target="../media/image53.png"/><Relationship Id="rId34" Type="http://schemas.openxmlformats.org/officeDocument/2006/relationships/image" Target="../media/image52.png"/><Relationship Id="rId33" Type="http://schemas.openxmlformats.org/officeDocument/2006/relationships/image" Target="../media/image51.png"/><Relationship Id="rId32" Type="http://schemas.openxmlformats.org/officeDocument/2006/relationships/image" Target="../media/image50.png"/><Relationship Id="rId31" Type="http://schemas.openxmlformats.org/officeDocument/2006/relationships/image" Target="../media/image49.png"/><Relationship Id="rId30" Type="http://schemas.openxmlformats.org/officeDocument/2006/relationships/image" Target="../media/image38.svg"/><Relationship Id="rId3" Type="http://schemas.openxmlformats.org/officeDocument/2006/relationships/image" Target="../media/image19.png"/><Relationship Id="rId29" Type="http://schemas.openxmlformats.org/officeDocument/2006/relationships/image" Target="../media/image37.png"/><Relationship Id="rId28" Type="http://schemas.openxmlformats.org/officeDocument/2006/relationships/image" Target="../media/image48.png"/><Relationship Id="rId27" Type="http://schemas.openxmlformats.org/officeDocument/2006/relationships/image" Target="../media/image47.png"/><Relationship Id="rId26" Type="http://schemas.openxmlformats.org/officeDocument/2006/relationships/image" Target="../media/image46.png"/><Relationship Id="rId25" Type="http://schemas.openxmlformats.org/officeDocument/2006/relationships/image" Target="../media/image45.png"/><Relationship Id="rId24" Type="http://schemas.openxmlformats.org/officeDocument/2006/relationships/image" Target="../media/image8.svg"/><Relationship Id="rId23" Type="http://schemas.openxmlformats.org/officeDocument/2006/relationships/image" Target="../media/image7.png"/><Relationship Id="rId22" Type="http://schemas.openxmlformats.org/officeDocument/2006/relationships/image" Target="../media/image44.png"/><Relationship Id="rId21" Type="http://schemas.openxmlformats.org/officeDocument/2006/relationships/image" Target="../media/image43.png"/><Relationship Id="rId20" Type="http://schemas.openxmlformats.org/officeDocument/2006/relationships/image" Target="../media/image12.svg"/><Relationship Id="rId2" Type="http://schemas.openxmlformats.org/officeDocument/2006/relationships/image" Target="../media/image2.svg"/><Relationship Id="rId19" Type="http://schemas.openxmlformats.org/officeDocument/2006/relationships/image" Target="../media/image11.png"/><Relationship Id="rId18" Type="http://schemas.openxmlformats.org/officeDocument/2006/relationships/image" Target="../media/image4.svg"/><Relationship Id="rId17" Type="http://schemas.openxmlformats.org/officeDocument/2006/relationships/image" Target="../media/image3.png"/><Relationship Id="rId16" Type="http://schemas.openxmlformats.org/officeDocument/2006/relationships/image" Target="../media/image32.svg"/><Relationship Id="rId15" Type="http://schemas.openxmlformats.org/officeDocument/2006/relationships/image" Target="../media/image31.png"/><Relationship Id="rId14" Type="http://schemas.openxmlformats.org/officeDocument/2006/relationships/image" Target="../media/image30.svg"/><Relationship Id="rId13" Type="http://schemas.openxmlformats.org/officeDocument/2006/relationships/image" Target="../media/image29.png"/><Relationship Id="rId12" Type="http://schemas.openxmlformats.org/officeDocument/2006/relationships/image" Target="../media/image28.svg"/><Relationship Id="rId11" Type="http://schemas.openxmlformats.org/officeDocument/2006/relationships/image" Target="../media/image27.png"/><Relationship Id="rId10" Type="http://schemas.openxmlformats.org/officeDocument/2006/relationships/image" Target="../media/image26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矩形: 圆角 692"/>
          <p:cNvSpPr/>
          <p:nvPr/>
        </p:nvSpPr>
        <p:spPr>
          <a:xfrm>
            <a:off x="7001708" y="-678206"/>
            <a:ext cx="7055881" cy="7746663"/>
          </a:xfrm>
          <a:prstGeom prst="roundRect">
            <a:avLst>
              <a:gd name="adj" fmla="val 4441"/>
            </a:avLst>
          </a:prstGeom>
          <a:solidFill>
            <a:srgbClr val="F5FAFD"/>
          </a:solidFill>
          <a:ln>
            <a:solidFill>
              <a:srgbClr val="4C68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4" name="文本框 693"/>
          <p:cNvSpPr txBox="1"/>
          <p:nvPr/>
        </p:nvSpPr>
        <p:spPr>
          <a:xfrm>
            <a:off x="8857964" y="-580862"/>
            <a:ext cx="3317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B4B82"/>
                </a:solidFill>
                <a:latin typeface="Arial" panose="020B0604020202090204" pitchFamily="34" charset="0"/>
                <a:ea typeface="ADLaM Display" panose="020F0502020204030204" pitchFamily="2" charset="0"/>
                <a:cs typeface="Arial" panose="020B0604020202090204" pitchFamily="34" charset="0"/>
              </a:rPr>
              <a:t>LASO Semantic Oracle</a:t>
            </a:r>
            <a:endParaRPr lang="zh-CN" altLang="en-US" b="1" dirty="0">
              <a:solidFill>
                <a:srgbClr val="0B4B8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95" name="流程图: 可选过程 694"/>
          <p:cNvSpPr/>
          <p:nvPr/>
        </p:nvSpPr>
        <p:spPr>
          <a:xfrm>
            <a:off x="7139636" y="-561399"/>
            <a:ext cx="353273" cy="359227"/>
          </a:xfrm>
          <a:prstGeom prst="flowChartAlternateProcess">
            <a:avLst/>
          </a:prstGeom>
          <a:solidFill>
            <a:srgbClr val="0B4B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90204" pitchFamily="34" charset="0"/>
                <a:ea typeface="ADLaM Display" panose="020F0502020204030204" pitchFamily="2" charset="0"/>
                <a:cs typeface="Arial" panose="020B0604020202090204" pitchFamily="34" charset="0"/>
              </a:rPr>
              <a:t>B</a:t>
            </a:r>
            <a:endParaRPr lang="zh-CN" altLang="en-US" b="1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79" name="矩形: 圆角 578"/>
          <p:cNvSpPr/>
          <p:nvPr/>
        </p:nvSpPr>
        <p:spPr>
          <a:xfrm>
            <a:off x="11953471" y="-20631"/>
            <a:ext cx="2037488" cy="4771930"/>
          </a:xfrm>
          <a:prstGeom prst="roundRect">
            <a:avLst>
              <a:gd name="adj" fmla="val 8696"/>
            </a:avLst>
          </a:prstGeom>
          <a:solidFill>
            <a:srgbClr val="FBFBFB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9" name="矩形: 圆角 588"/>
          <p:cNvSpPr/>
          <p:nvPr/>
        </p:nvSpPr>
        <p:spPr>
          <a:xfrm>
            <a:off x="9000507" y="-20631"/>
            <a:ext cx="2317593" cy="4771930"/>
          </a:xfrm>
          <a:prstGeom prst="roundRect">
            <a:avLst>
              <a:gd name="adj" fmla="val 8696"/>
            </a:avLst>
          </a:prstGeom>
          <a:solidFill>
            <a:srgbClr val="FFF6EF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42" name="组合 441"/>
          <p:cNvGrpSpPr/>
          <p:nvPr/>
        </p:nvGrpSpPr>
        <p:grpSpPr>
          <a:xfrm>
            <a:off x="9184595" y="1209808"/>
            <a:ext cx="1978398" cy="686828"/>
            <a:chOff x="12053368" y="-889000"/>
            <a:chExt cx="1978398" cy="686828"/>
          </a:xfrm>
        </p:grpSpPr>
        <p:sp>
          <p:nvSpPr>
            <p:cNvPr id="431" name="矩形: 圆角 430"/>
            <p:cNvSpPr/>
            <p:nvPr/>
          </p:nvSpPr>
          <p:spPr>
            <a:xfrm>
              <a:off x="12053368" y="-889000"/>
              <a:ext cx="1978398" cy="686828"/>
            </a:xfrm>
            <a:prstGeom prst="roundRect">
              <a:avLst>
                <a:gd name="adj" fmla="val 8696"/>
              </a:avLst>
            </a:prstGeom>
            <a:solidFill>
              <a:srgbClr val="F8FBFD"/>
            </a:solidFill>
            <a:ln>
              <a:solidFill>
                <a:srgbClr val="80A0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14" name="图形 41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44543" y="-849239"/>
              <a:ext cx="644357" cy="607307"/>
            </a:xfrm>
            <a:prstGeom prst="rect">
              <a:avLst/>
            </a:prstGeom>
          </p:spPr>
        </p:pic>
        <p:sp>
          <p:nvSpPr>
            <p:cNvPr id="432" name="文本框 431"/>
            <p:cNvSpPr txBox="1"/>
            <p:nvPr/>
          </p:nvSpPr>
          <p:spPr>
            <a:xfrm>
              <a:off x="12676530" y="-776418"/>
              <a:ext cx="11868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Agent-1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(LLM)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9" name="矩形: 圆角 388"/>
          <p:cNvSpPr/>
          <p:nvPr/>
        </p:nvSpPr>
        <p:spPr>
          <a:xfrm>
            <a:off x="-308975" y="-678206"/>
            <a:ext cx="7055881" cy="7746663"/>
          </a:xfrm>
          <a:prstGeom prst="roundRect">
            <a:avLst>
              <a:gd name="adj" fmla="val 4441"/>
            </a:avLst>
          </a:prstGeom>
          <a:solidFill>
            <a:srgbClr val="F2F9FE"/>
          </a:solidFill>
          <a:ln>
            <a:solidFill>
              <a:srgbClr val="4C68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7" name="矩形: 圆角 356"/>
          <p:cNvSpPr/>
          <p:nvPr/>
        </p:nvSpPr>
        <p:spPr>
          <a:xfrm>
            <a:off x="207698" y="596327"/>
            <a:ext cx="6074230" cy="6316102"/>
          </a:xfrm>
          <a:prstGeom prst="roundRect">
            <a:avLst>
              <a:gd name="adj" fmla="val 8696"/>
            </a:avLst>
          </a:prstGeom>
          <a:solidFill>
            <a:srgbClr val="FEFEFE"/>
          </a:solidFill>
          <a:ln>
            <a:solidFill>
              <a:srgbClr val="4C68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: 圆角 355"/>
          <p:cNvSpPr/>
          <p:nvPr/>
        </p:nvSpPr>
        <p:spPr>
          <a:xfrm>
            <a:off x="-205085" y="-89263"/>
            <a:ext cx="6899798" cy="5391243"/>
          </a:xfrm>
          <a:prstGeom prst="roundRect">
            <a:avLst>
              <a:gd name="adj" fmla="val 8696"/>
            </a:avLst>
          </a:prstGeom>
          <a:solidFill>
            <a:srgbClr val="FEFEFE"/>
          </a:solidFill>
          <a:ln>
            <a:solidFill>
              <a:srgbClr val="4C68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572753" y="-580862"/>
            <a:ext cx="3317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A5B44"/>
                </a:solidFill>
                <a:latin typeface="Arial" panose="020B0604020202090204" pitchFamily="34" charset="0"/>
                <a:ea typeface="ADLaM Display" panose="020F0502020204030204" pitchFamily="2" charset="0"/>
                <a:cs typeface="Arial" panose="020B0604020202090204" pitchFamily="34" charset="0"/>
              </a:rPr>
              <a:t>Conventional Data Oracle</a:t>
            </a:r>
            <a:endParaRPr lang="zh-CN" altLang="en-US" b="1" dirty="0">
              <a:solidFill>
                <a:srgbClr val="0A5B4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662022" y="1987006"/>
            <a:ext cx="409303" cy="1669468"/>
            <a:chOff x="764872" y="2387600"/>
            <a:chExt cx="409303" cy="1669468"/>
          </a:xfrm>
        </p:grpSpPr>
        <p:cxnSp>
          <p:nvCxnSpPr>
            <p:cNvPr id="53" name="直接箭头连接符 52"/>
            <p:cNvCxnSpPr/>
            <p:nvPr/>
          </p:nvCxnSpPr>
          <p:spPr>
            <a:xfrm flipV="1">
              <a:off x="764872" y="2387600"/>
              <a:ext cx="0" cy="16694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969523" y="2387600"/>
              <a:ext cx="0" cy="16694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/>
          </p:nvCxnSpPr>
          <p:spPr>
            <a:xfrm flipV="1">
              <a:off x="1174175" y="2387600"/>
              <a:ext cx="0" cy="3338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662570" y="2299463"/>
            <a:ext cx="1198279" cy="441599"/>
            <a:chOff x="782463" y="2700057"/>
            <a:chExt cx="1198279" cy="441599"/>
          </a:xfrm>
        </p:grpSpPr>
        <p:sp>
          <p:nvSpPr>
            <p:cNvPr id="58" name="流程图: 接点 57"/>
            <p:cNvSpPr/>
            <p:nvPr/>
          </p:nvSpPr>
          <p:spPr>
            <a:xfrm>
              <a:off x="1274713" y="2700057"/>
              <a:ext cx="213779" cy="201749"/>
            </a:xfrm>
            <a:prstGeom prst="flowChartConnector">
              <a:avLst/>
            </a:prstGeom>
            <a:solidFill>
              <a:srgbClr val="0A5B4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1</a:t>
              </a:r>
              <a:endParaRPr lang="zh-CN" altLang="en-US" sz="1000" b="1" dirty="0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82463" y="2880046"/>
              <a:ext cx="11982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 oracle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-393347" y="2732981"/>
            <a:ext cx="1198279" cy="433905"/>
            <a:chOff x="782463" y="2700057"/>
            <a:chExt cx="1198279" cy="433905"/>
          </a:xfrm>
        </p:grpSpPr>
        <p:sp>
          <p:nvSpPr>
            <p:cNvPr id="65" name="流程图: 接点 64"/>
            <p:cNvSpPr/>
            <p:nvPr/>
          </p:nvSpPr>
          <p:spPr>
            <a:xfrm>
              <a:off x="1274713" y="2700057"/>
              <a:ext cx="213779" cy="201749"/>
            </a:xfrm>
            <a:prstGeom prst="flowChartConnector">
              <a:avLst/>
            </a:prstGeom>
            <a:solidFill>
              <a:srgbClr val="0A5B4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5</a:t>
              </a:r>
              <a:endParaRPr lang="zh-CN" altLang="en-US" sz="1000" b="1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82463" y="2880046"/>
              <a:ext cx="119827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Callback user 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0" name="矩形: 圆角 49"/>
          <p:cNvSpPr/>
          <p:nvPr/>
        </p:nvSpPr>
        <p:spPr>
          <a:xfrm>
            <a:off x="325610" y="3656474"/>
            <a:ext cx="1082126" cy="1516418"/>
          </a:xfrm>
          <a:prstGeom prst="roundRect">
            <a:avLst>
              <a:gd name="adj" fmla="val 869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421314" y="3730513"/>
            <a:ext cx="890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</a:t>
            </a:r>
            <a:endParaRPr lang="en-US" altLang="zh-CN" sz="14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</a:t>
            </a:r>
            <a:endParaRPr lang="zh-CN" altLang="en-US" sz="14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-210321" y="94849"/>
            <a:ext cx="2153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On-Chain</a:t>
            </a:r>
            <a:endParaRPr lang="zh-CN" altLang="en-US" sz="16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矩形: 圆角 157"/>
          <p:cNvSpPr/>
          <p:nvPr/>
        </p:nvSpPr>
        <p:spPr>
          <a:xfrm>
            <a:off x="1871540" y="470588"/>
            <a:ext cx="2317593" cy="4702304"/>
          </a:xfrm>
          <a:prstGeom prst="roundRect">
            <a:avLst>
              <a:gd name="adj" fmla="val 8696"/>
            </a:avLst>
          </a:prstGeom>
          <a:solidFill>
            <a:srgbClr val="FFF6EF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4" name="组合 153"/>
          <p:cNvGrpSpPr/>
          <p:nvPr/>
        </p:nvGrpSpPr>
        <p:grpSpPr>
          <a:xfrm>
            <a:off x="2037054" y="1007697"/>
            <a:ext cx="1986564" cy="1328158"/>
            <a:chOff x="2100379" y="681049"/>
            <a:chExt cx="1986564" cy="1328158"/>
          </a:xfrm>
        </p:grpSpPr>
        <p:cxnSp>
          <p:nvCxnSpPr>
            <p:cNvPr id="89" name="直接连接符 88"/>
            <p:cNvCxnSpPr/>
            <p:nvPr/>
          </p:nvCxnSpPr>
          <p:spPr>
            <a:xfrm>
              <a:off x="2413907" y="902200"/>
              <a:ext cx="1451885" cy="0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3334404" y="902199"/>
              <a:ext cx="292685" cy="0"/>
            </a:xfrm>
            <a:prstGeom prst="line">
              <a:avLst/>
            </a:prstGeom>
            <a:ln w="19050" cap="flat" cmpd="sng" algn="ctr">
              <a:solidFill>
                <a:srgbClr val="494E5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83" name="图形 8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74550" y="681049"/>
              <a:ext cx="442301" cy="442301"/>
            </a:xfrm>
            <a:prstGeom prst="rect">
              <a:avLst/>
            </a:prstGeom>
          </p:spPr>
        </p:pic>
        <p:pic>
          <p:nvPicPr>
            <p:cNvPr id="80" name="图形 79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04456" y="681049"/>
              <a:ext cx="442301" cy="442301"/>
            </a:xfrm>
            <a:prstGeom prst="rect">
              <a:avLst/>
            </a:prstGeom>
          </p:spPr>
        </p:pic>
        <p:pic>
          <p:nvPicPr>
            <p:cNvPr id="84" name="图形 8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44642" y="681049"/>
              <a:ext cx="442301" cy="442301"/>
            </a:xfrm>
            <a:prstGeom prst="rect">
              <a:avLst/>
            </a:prstGeom>
          </p:spPr>
        </p:pic>
        <p:cxnSp>
          <p:nvCxnSpPr>
            <p:cNvPr id="142" name="直接连接符 141"/>
            <p:cNvCxnSpPr/>
            <p:nvPr/>
          </p:nvCxnSpPr>
          <p:spPr>
            <a:xfrm>
              <a:off x="2409830" y="1788057"/>
              <a:ext cx="1451885" cy="0"/>
            </a:xfrm>
            <a:prstGeom prst="line">
              <a:avLst/>
            </a:prstGeom>
            <a:ln w="19050" cap="flat" cmpd="sng" algn="ctr">
              <a:solidFill>
                <a:srgbClr val="494E5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3330327" y="1788056"/>
              <a:ext cx="292685" cy="0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44" name="图形 14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70473" y="1566906"/>
              <a:ext cx="442301" cy="442301"/>
            </a:xfrm>
            <a:prstGeom prst="rect">
              <a:avLst/>
            </a:prstGeom>
          </p:spPr>
        </p:pic>
        <p:pic>
          <p:nvPicPr>
            <p:cNvPr id="145" name="图形 14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00379" y="1566906"/>
              <a:ext cx="442301" cy="442301"/>
            </a:xfrm>
            <a:prstGeom prst="rect">
              <a:avLst/>
            </a:prstGeom>
          </p:spPr>
        </p:pic>
        <p:pic>
          <p:nvPicPr>
            <p:cNvPr id="146" name="图形 14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40565" y="1566906"/>
              <a:ext cx="442301" cy="442301"/>
            </a:xfrm>
            <a:prstGeom prst="rect">
              <a:avLst/>
            </a:prstGeom>
          </p:spPr>
        </p:pic>
        <p:cxnSp>
          <p:nvCxnSpPr>
            <p:cNvPr id="147" name="直接连接符 146"/>
            <p:cNvCxnSpPr/>
            <p:nvPr/>
          </p:nvCxnSpPr>
          <p:spPr>
            <a:xfrm>
              <a:off x="2477772" y="1053785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3248370" y="1045622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 flipH="1">
              <a:off x="2468395" y="1042901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flipH="1">
              <a:off x="3238993" y="1034738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55" name="文本框 154"/>
          <p:cNvSpPr txBox="1"/>
          <p:nvPr/>
        </p:nvSpPr>
        <p:spPr>
          <a:xfrm>
            <a:off x="1953342" y="570502"/>
            <a:ext cx="2153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 Nodes</a:t>
            </a:r>
            <a:endParaRPr lang="zh-CN" altLang="en-US" sz="1400" b="1" i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953342" y="94849"/>
            <a:ext cx="2153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 Network</a:t>
            </a:r>
            <a:endParaRPr lang="zh-CN" altLang="en-US" sz="1600" b="1" i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0" name="直接箭头连接符 179"/>
          <p:cNvCxnSpPr/>
          <p:nvPr/>
        </p:nvCxnSpPr>
        <p:spPr>
          <a:xfrm>
            <a:off x="3028298" y="2370874"/>
            <a:ext cx="0" cy="211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>
          <a:xfrm>
            <a:off x="3014380" y="3726441"/>
            <a:ext cx="0" cy="211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8" name="组合 217"/>
          <p:cNvGrpSpPr/>
          <p:nvPr/>
        </p:nvGrpSpPr>
        <p:grpSpPr>
          <a:xfrm>
            <a:off x="1930250" y="2640136"/>
            <a:ext cx="2200173" cy="992547"/>
            <a:chOff x="1930250" y="2572929"/>
            <a:chExt cx="2200173" cy="992547"/>
          </a:xfrm>
        </p:grpSpPr>
        <p:sp>
          <p:nvSpPr>
            <p:cNvPr id="160" name="矩形: 圆角 159"/>
            <p:cNvSpPr/>
            <p:nvPr/>
          </p:nvSpPr>
          <p:spPr>
            <a:xfrm>
              <a:off x="1930250" y="2572929"/>
              <a:ext cx="2200173" cy="992547"/>
            </a:xfrm>
            <a:prstGeom prst="roundRect">
              <a:avLst>
                <a:gd name="adj" fmla="val 8696"/>
              </a:avLst>
            </a:prstGeom>
            <a:solidFill>
              <a:srgbClr val="FFF6EF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2207900" y="2621023"/>
              <a:ext cx="16448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Collect &amp;Validate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7" name="组合 216"/>
            <p:cNvGrpSpPr/>
            <p:nvPr/>
          </p:nvGrpSpPr>
          <p:grpSpPr>
            <a:xfrm>
              <a:off x="2268374" y="2982697"/>
              <a:ext cx="1523924" cy="403586"/>
              <a:chOff x="2268374" y="2982697"/>
              <a:chExt cx="1523924" cy="403586"/>
            </a:xfrm>
          </p:grpSpPr>
          <p:pic>
            <p:nvPicPr>
              <p:cNvPr id="175" name="图形 174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268374" y="3004123"/>
                <a:ext cx="345013" cy="360735"/>
              </a:xfrm>
              <a:prstGeom prst="rect">
                <a:avLst/>
              </a:prstGeom>
            </p:spPr>
          </p:pic>
          <p:pic>
            <p:nvPicPr>
              <p:cNvPr id="176" name="图形 175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15373" y="2996028"/>
                <a:ext cx="376925" cy="376925"/>
              </a:xfrm>
              <a:prstGeom prst="rect">
                <a:avLst/>
              </a:prstGeom>
            </p:spPr>
          </p:pic>
          <p:pic>
            <p:nvPicPr>
              <p:cNvPr id="216" name="图片 21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4476" y="2982697"/>
                <a:ext cx="319808" cy="403586"/>
              </a:xfrm>
              <a:prstGeom prst="rect">
                <a:avLst/>
              </a:prstGeom>
            </p:spPr>
          </p:pic>
        </p:grpSp>
      </p:grpSp>
      <p:sp>
        <p:nvSpPr>
          <p:cNvPr id="186" name="矩形: 圆角 185"/>
          <p:cNvSpPr/>
          <p:nvPr/>
        </p:nvSpPr>
        <p:spPr>
          <a:xfrm>
            <a:off x="1930250" y="3991158"/>
            <a:ext cx="2200173" cy="992547"/>
          </a:xfrm>
          <a:prstGeom prst="roundRect">
            <a:avLst>
              <a:gd name="adj" fmla="val 8696"/>
            </a:avLst>
          </a:prstGeom>
          <a:solidFill>
            <a:srgbClr val="FFF6EF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7" name="文本框 186"/>
          <p:cNvSpPr txBox="1"/>
          <p:nvPr/>
        </p:nvSpPr>
        <p:spPr>
          <a:xfrm>
            <a:off x="2025289" y="4039610"/>
            <a:ext cx="2006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 </a:t>
            </a:r>
            <a:r>
              <a:rPr lang="en-US" altLang="zh-CN" sz="14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(Consensus)</a:t>
            </a:r>
            <a:endParaRPr lang="zh-CN" altLang="en-US" sz="1400" b="1" i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78" name="组合 277"/>
          <p:cNvGrpSpPr/>
          <p:nvPr/>
        </p:nvGrpSpPr>
        <p:grpSpPr>
          <a:xfrm>
            <a:off x="2279318" y="4394462"/>
            <a:ext cx="1397607" cy="452463"/>
            <a:chOff x="2279318" y="4358070"/>
            <a:chExt cx="1397607" cy="452463"/>
          </a:xfrm>
        </p:grpSpPr>
        <p:pic>
          <p:nvPicPr>
            <p:cNvPr id="191" name="图形 19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300000" y="4395839"/>
              <a:ext cx="376925" cy="376925"/>
            </a:xfrm>
            <a:prstGeom prst="rect">
              <a:avLst/>
            </a:prstGeom>
          </p:spPr>
        </p:pic>
        <p:grpSp>
          <p:nvGrpSpPr>
            <p:cNvPr id="273" name="组合 272"/>
            <p:cNvGrpSpPr/>
            <p:nvPr/>
          </p:nvGrpSpPr>
          <p:grpSpPr>
            <a:xfrm rot="16200000">
              <a:off x="2367063" y="4270325"/>
              <a:ext cx="452463" cy="627953"/>
              <a:chOff x="4310037" y="4716933"/>
              <a:chExt cx="814412" cy="1093033"/>
            </a:xfrm>
          </p:grpSpPr>
          <p:sp>
            <p:nvSpPr>
              <p:cNvPr id="224" name="流程图: 接点 223"/>
              <p:cNvSpPr/>
              <p:nvPr/>
            </p:nvSpPr>
            <p:spPr>
              <a:xfrm>
                <a:off x="4310037" y="4993158"/>
                <a:ext cx="166713" cy="165026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流程图: 接点 224"/>
              <p:cNvSpPr/>
              <p:nvPr/>
            </p:nvSpPr>
            <p:spPr>
              <a:xfrm>
                <a:off x="4310037" y="5368715"/>
                <a:ext cx="166713" cy="165026"/>
              </a:xfrm>
              <a:prstGeom prst="flowChartConnector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流程图: 接点 226"/>
              <p:cNvSpPr/>
              <p:nvPr/>
            </p:nvSpPr>
            <p:spPr>
              <a:xfrm>
                <a:off x="4957736" y="4993158"/>
                <a:ext cx="166713" cy="165026"/>
              </a:xfrm>
              <a:prstGeom prst="flowChartConnector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流程图: 接点 227"/>
              <p:cNvSpPr/>
              <p:nvPr/>
            </p:nvSpPr>
            <p:spPr>
              <a:xfrm>
                <a:off x="4957736" y="5368715"/>
                <a:ext cx="166713" cy="165026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流程图: 接点 222"/>
              <p:cNvSpPr/>
              <p:nvPr/>
            </p:nvSpPr>
            <p:spPr>
              <a:xfrm>
                <a:off x="4633887" y="4716933"/>
                <a:ext cx="166713" cy="165026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流程图: 接点 228"/>
              <p:cNvSpPr/>
              <p:nvPr/>
            </p:nvSpPr>
            <p:spPr>
              <a:xfrm>
                <a:off x="4633886" y="5644940"/>
                <a:ext cx="166713" cy="165026"/>
              </a:xfrm>
              <a:prstGeom prst="flowChartConnector">
                <a:avLst/>
              </a:prstGeom>
              <a:solidFill>
                <a:srgbClr val="FFF6EF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4" name="直接连接符 233"/>
              <p:cNvCxnSpPr>
                <a:stCxn id="224" idx="7"/>
                <a:endCxn id="223" idx="3"/>
              </p:cNvCxnSpPr>
              <p:nvPr/>
            </p:nvCxnSpPr>
            <p:spPr>
              <a:xfrm flipV="1">
                <a:off x="4452335" y="4857792"/>
                <a:ext cx="205967" cy="15953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>
                <a:stCxn id="227" idx="1"/>
                <a:endCxn id="223" idx="5"/>
              </p:cNvCxnSpPr>
              <p:nvPr/>
            </p:nvCxnSpPr>
            <p:spPr>
              <a:xfrm flipH="1" flipV="1">
                <a:off x="4776185" y="4857792"/>
                <a:ext cx="205966" cy="15953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/>
              <p:cNvCxnSpPr>
                <a:stCxn id="228" idx="3"/>
                <a:endCxn id="229" idx="7"/>
              </p:cNvCxnSpPr>
              <p:nvPr/>
            </p:nvCxnSpPr>
            <p:spPr>
              <a:xfrm flipH="1">
                <a:off x="4776184" y="5509574"/>
                <a:ext cx="205967" cy="15953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/>
              <p:cNvCxnSpPr>
                <a:stCxn id="227" idx="4"/>
                <a:endCxn id="228" idx="0"/>
              </p:cNvCxnSpPr>
              <p:nvPr/>
            </p:nvCxnSpPr>
            <p:spPr>
              <a:xfrm>
                <a:off x="5041093" y="5158184"/>
                <a:ext cx="0" cy="2105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/>
              <p:cNvCxnSpPr/>
              <p:nvPr/>
            </p:nvCxnSpPr>
            <p:spPr>
              <a:xfrm>
                <a:off x="4390672" y="5158184"/>
                <a:ext cx="0" cy="2105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/>
              <p:cNvCxnSpPr>
                <a:stCxn id="229" idx="1"/>
                <a:endCxn id="225" idx="5"/>
              </p:cNvCxnSpPr>
              <p:nvPr/>
            </p:nvCxnSpPr>
            <p:spPr>
              <a:xfrm flipH="1" flipV="1">
                <a:off x="4452335" y="5509574"/>
                <a:ext cx="205966" cy="15953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流程图: 接点 249"/>
              <p:cNvSpPr/>
              <p:nvPr/>
            </p:nvSpPr>
            <p:spPr>
              <a:xfrm>
                <a:off x="4632526" y="5166106"/>
                <a:ext cx="166713" cy="165026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1" name="直接连接符 250"/>
              <p:cNvCxnSpPr>
                <a:stCxn id="250" idx="0"/>
                <a:endCxn id="223" idx="4"/>
              </p:cNvCxnSpPr>
              <p:nvPr/>
            </p:nvCxnSpPr>
            <p:spPr>
              <a:xfrm flipV="1">
                <a:off x="4715883" y="4881959"/>
                <a:ext cx="1361" cy="28414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>
                <a:stCxn id="250" idx="1"/>
                <a:endCxn id="224" idx="5"/>
              </p:cNvCxnSpPr>
              <p:nvPr/>
            </p:nvCxnSpPr>
            <p:spPr>
              <a:xfrm flipH="1" flipV="1">
                <a:off x="4452335" y="5134017"/>
                <a:ext cx="204606" cy="5625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>
                <a:stCxn id="250" idx="3"/>
                <a:endCxn id="225" idx="7"/>
              </p:cNvCxnSpPr>
              <p:nvPr/>
            </p:nvCxnSpPr>
            <p:spPr>
              <a:xfrm flipH="1">
                <a:off x="4452335" y="5306965"/>
                <a:ext cx="204606" cy="8591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/>
              <p:cNvCxnSpPr/>
              <p:nvPr/>
            </p:nvCxnSpPr>
            <p:spPr>
              <a:xfrm flipV="1">
                <a:off x="4713161" y="5343420"/>
                <a:ext cx="1361" cy="28414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/>
              <p:cNvCxnSpPr>
                <a:stCxn id="250" idx="5"/>
                <a:endCxn id="228" idx="1"/>
              </p:cNvCxnSpPr>
              <p:nvPr/>
            </p:nvCxnSpPr>
            <p:spPr>
              <a:xfrm>
                <a:off x="4774824" y="5306965"/>
                <a:ext cx="207327" cy="8591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/>
              <p:cNvCxnSpPr>
                <a:stCxn id="250" idx="7"/>
                <a:endCxn id="227" idx="3"/>
              </p:cNvCxnSpPr>
              <p:nvPr/>
            </p:nvCxnSpPr>
            <p:spPr>
              <a:xfrm flipV="1">
                <a:off x="4774824" y="5134017"/>
                <a:ext cx="207327" cy="5625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4" name="直接箭头连接符 273"/>
            <p:cNvCxnSpPr/>
            <p:nvPr/>
          </p:nvCxnSpPr>
          <p:spPr>
            <a:xfrm>
              <a:off x="2966986" y="4584301"/>
              <a:ext cx="3155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9" name="文本框 278"/>
          <p:cNvSpPr txBox="1"/>
          <p:nvPr/>
        </p:nvSpPr>
        <p:spPr>
          <a:xfrm>
            <a:off x="4764199" y="-28261"/>
            <a:ext cx="1815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Structured Data Source</a:t>
            </a:r>
            <a:endParaRPr lang="zh-CN" altLang="en-US" sz="1600" b="1" i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4832511" y="543887"/>
            <a:ext cx="1706867" cy="904282"/>
            <a:chOff x="4526190" y="806237"/>
            <a:chExt cx="1706867" cy="904282"/>
          </a:xfrm>
        </p:grpSpPr>
        <p:pic>
          <p:nvPicPr>
            <p:cNvPr id="206" name="图片 20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5158" y="1016621"/>
              <a:ext cx="531215" cy="483514"/>
            </a:xfrm>
            <a:prstGeom prst="rect">
              <a:avLst/>
            </a:prstGeom>
          </p:spPr>
        </p:pic>
        <p:sp>
          <p:nvSpPr>
            <p:cNvPr id="280" name="矩形: 圆角 279"/>
            <p:cNvSpPr/>
            <p:nvPr/>
          </p:nvSpPr>
          <p:spPr>
            <a:xfrm>
              <a:off x="4526190" y="806237"/>
              <a:ext cx="1670767" cy="904282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5046183" y="1027546"/>
              <a:ext cx="11868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API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(REST/JSON)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95" name="组合 394"/>
          <p:cNvGrpSpPr/>
          <p:nvPr/>
        </p:nvGrpSpPr>
        <p:grpSpPr>
          <a:xfrm>
            <a:off x="325610" y="470588"/>
            <a:ext cx="1082126" cy="1516418"/>
            <a:chOff x="325610" y="470588"/>
            <a:chExt cx="1082126" cy="1516418"/>
          </a:xfrm>
        </p:grpSpPr>
        <p:sp>
          <p:nvSpPr>
            <p:cNvPr id="39" name="矩形: 圆角 38"/>
            <p:cNvSpPr/>
            <p:nvPr/>
          </p:nvSpPr>
          <p:spPr>
            <a:xfrm>
              <a:off x="325610" y="470588"/>
              <a:ext cx="1082126" cy="1516418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421314" y="544627"/>
              <a:ext cx="8907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</a:t>
              </a:r>
              <a:endPara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Contract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87" name="图形 286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8273" y="1075082"/>
              <a:ext cx="616800" cy="740160"/>
            </a:xfrm>
            <a:prstGeom prst="rect">
              <a:avLst/>
            </a:prstGeom>
          </p:spPr>
        </p:pic>
      </p:grpSp>
      <p:pic>
        <p:nvPicPr>
          <p:cNvPr id="288" name="图形 28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4940" y="4250613"/>
            <a:ext cx="616800" cy="740160"/>
          </a:xfrm>
          <a:prstGeom prst="rect">
            <a:avLst/>
          </a:prstGeom>
        </p:spPr>
      </p:pic>
      <p:grpSp>
        <p:nvGrpSpPr>
          <p:cNvPr id="449" name="组合 448"/>
          <p:cNvGrpSpPr/>
          <p:nvPr/>
        </p:nvGrpSpPr>
        <p:grpSpPr>
          <a:xfrm>
            <a:off x="4832511" y="2758715"/>
            <a:ext cx="1706867" cy="904282"/>
            <a:chOff x="4832511" y="2758715"/>
            <a:chExt cx="1706867" cy="904282"/>
          </a:xfrm>
        </p:grpSpPr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919447" y="2940112"/>
              <a:ext cx="561540" cy="561540"/>
            </a:xfrm>
            <a:prstGeom prst="rect">
              <a:avLst/>
            </a:prstGeom>
          </p:spPr>
        </p:pic>
        <p:sp>
          <p:nvSpPr>
            <p:cNvPr id="323" name="矩形: 圆角 322"/>
            <p:cNvSpPr/>
            <p:nvPr/>
          </p:nvSpPr>
          <p:spPr>
            <a:xfrm>
              <a:off x="4832511" y="2758715"/>
              <a:ext cx="1670767" cy="904282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5352504" y="2990050"/>
              <a:ext cx="11868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Market Data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(Prices, Ticks)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3" name="组合 332"/>
          <p:cNvGrpSpPr/>
          <p:nvPr/>
        </p:nvGrpSpPr>
        <p:grpSpPr>
          <a:xfrm>
            <a:off x="3933209" y="995115"/>
            <a:ext cx="1198279" cy="573918"/>
            <a:chOff x="3933209" y="1191064"/>
            <a:chExt cx="1198279" cy="573918"/>
          </a:xfrm>
        </p:grpSpPr>
        <p:cxnSp>
          <p:nvCxnSpPr>
            <p:cNvPr id="325" name="直接箭头连接符 324"/>
            <p:cNvCxnSpPr/>
            <p:nvPr/>
          </p:nvCxnSpPr>
          <p:spPr>
            <a:xfrm>
              <a:off x="4263686" y="1744317"/>
              <a:ext cx="547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7" name="组合 326"/>
            <p:cNvGrpSpPr/>
            <p:nvPr/>
          </p:nvGrpSpPr>
          <p:grpSpPr>
            <a:xfrm>
              <a:off x="3933209" y="1191064"/>
              <a:ext cx="1198279" cy="573918"/>
              <a:chOff x="782462" y="2683727"/>
              <a:chExt cx="1198279" cy="573918"/>
            </a:xfrm>
          </p:grpSpPr>
          <p:sp>
            <p:nvSpPr>
              <p:cNvPr id="328" name="流程图: 接点 327"/>
              <p:cNvSpPr/>
              <p:nvPr/>
            </p:nvSpPr>
            <p:spPr>
              <a:xfrm>
                <a:off x="1274713" y="2683727"/>
                <a:ext cx="213779" cy="201749"/>
              </a:xfrm>
              <a:prstGeom prst="flowChartConnector">
                <a:avLst/>
              </a:prstGeom>
              <a:solidFill>
                <a:srgbClr val="0A5B4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b="1" dirty="0"/>
                  <a:t>3</a:t>
                </a:r>
                <a:endParaRPr lang="zh-CN" altLang="en-US" sz="1000" b="1" dirty="0"/>
              </a:p>
            </p:txBody>
          </p:sp>
          <p:sp>
            <p:nvSpPr>
              <p:cNvPr id="329" name="文本框 328"/>
              <p:cNvSpPr txBox="1"/>
              <p:nvPr/>
            </p:nvSpPr>
            <p:spPr>
              <a:xfrm>
                <a:off x="782462" y="2842147"/>
                <a:ext cx="1198279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Fetch</a:t>
                </a:r>
                <a:endPara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05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</a:t>
                </a:r>
                <a:endPara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335" name="直接箭头连接符 334"/>
          <p:cNvCxnSpPr/>
          <p:nvPr/>
        </p:nvCxnSpPr>
        <p:spPr>
          <a:xfrm flipH="1">
            <a:off x="4242160" y="3786304"/>
            <a:ext cx="5478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6" name="组合 335"/>
          <p:cNvGrpSpPr/>
          <p:nvPr/>
        </p:nvGrpSpPr>
        <p:grpSpPr>
          <a:xfrm>
            <a:off x="3934581" y="3221291"/>
            <a:ext cx="1198279" cy="573918"/>
            <a:chOff x="782462" y="2683727"/>
            <a:chExt cx="1198279" cy="573918"/>
          </a:xfrm>
        </p:grpSpPr>
        <p:sp>
          <p:nvSpPr>
            <p:cNvPr id="337" name="流程图: 接点 336"/>
            <p:cNvSpPr/>
            <p:nvPr/>
          </p:nvSpPr>
          <p:spPr>
            <a:xfrm>
              <a:off x="1274713" y="2683727"/>
              <a:ext cx="213779" cy="201749"/>
            </a:xfrm>
            <a:prstGeom prst="flowChartConnector">
              <a:avLst/>
            </a:prstGeom>
            <a:solidFill>
              <a:srgbClr val="0A5B4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4</a:t>
              </a:r>
              <a:endParaRPr lang="zh-CN" altLang="en-US" sz="1000" b="1" dirty="0"/>
            </a:p>
          </p:txBody>
        </p:sp>
        <p:sp>
          <p:nvSpPr>
            <p:cNvPr id="338" name="文本框 337"/>
            <p:cNvSpPr txBox="1"/>
            <p:nvPr/>
          </p:nvSpPr>
          <p:spPr>
            <a:xfrm>
              <a:off x="782462" y="2842147"/>
              <a:ext cx="119827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Return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5" name="文本框 354"/>
          <p:cNvSpPr txBox="1"/>
          <p:nvPr/>
        </p:nvSpPr>
        <p:spPr>
          <a:xfrm>
            <a:off x="5404459" y="4808511"/>
            <a:ext cx="526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…</a:t>
            </a:r>
            <a:endParaRPr lang="zh-CN" altLang="en-US" sz="2000" b="1" dirty="0"/>
          </a:p>
        </p:txBody>
      </p:sp>
      <p:sp>
        <p:nvSpPr>
          <p:cNvPr id="368" name="文本框 367"/>
          <p:cNvSpPr txBox="1"/>
          <p:nvPr/>
        </p:nvSpPr>
        <p:spPr>
          <a:xfrm>
            <a:off x="3488322" y="6277322"/>
            <a:ext cx="2262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 (e.g., Ethereum)</a:t>
            </a:r>
            <a:endParaRPr lang="zh-CN" altLang="en-US" sz="1400" b="1" i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流程图: 可选过程 17"/>
          <p:cNvSpPr/>
          <p:nvPr/>
        </p:nvSpPr>
        <p:spPr>
          <a:xfrm>
            <a:off x="-145575" y="-561399"/>
            <a:ext cx="353273" cy="359227"/>
          </a:xfrm>
          <a:prstGeom prst="flowChartAlternateProcess">
            <a:avLst/>
          </a:prstGeom>
          <a:solidFill>
            <a:srgbClr val="0A5B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90204" pitchFamily="34" charset="0"/>
                <a:ea typeface="ADLaM Display" panose="020F0502020204030204" pitchFamily="2" charset="0"/>
                <a:cs typeface="Arial" panose="020B0604020202090204" pitchFamily="34" charset="0"/>
              </a:rPr>
              <a:t>A</a:t>
            </a:r>
            <a:endParaRPr lang="zh-CN" altLang="en-US" b="1" dirty="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450" name="组合 449"/>
          <p:cNvGrpSpPr/>
          <p:nvPr/>
        </p:nvGrpSpPr>
        <p:grpSpPr>
          <a:xfrm>
            <a:off x="4832511" y="3866128"/>
            <a:ext cx="1736950" cy="904282"/>
            <a:chOff x="4832511" y="3866128"/>
            <a:chExt cx="1736950" cy="904282"/>
          </a:xfrm>
        </p:grpSpPr>
        <p:sp>
          <p:nvSpPr>
            <p:cNvPr id="315" name="矩形: 圆角 314"/>
            <p:cNvSpPr/>
            <p:nvPr/>
          </p:nvSpPr>
          <p:spPr>
            <a:xfrm>
              <a:off x="4832511" y="3866128"/>
              <a:ext cx="1670767" cy="904282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6" name="文本框 315"/>
            <p:cNvSpPr txBox="1"/>
            <p:nvPr/>
          </p:nvSpPr>
          <p:spPr>
            <a:xfrm>
              <a:off x="5382587" y="3995392"/>
              <a:ext cx="1186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Other Feeds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(Weather, </a:t>
              </a:r>
              <a:r>
                <a:rPr lang="en-US" altLang="zh-CN" sz="1200" b="1" i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loT</a:t>
              </a:r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Social,...)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91" name="图形 390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950071" y="4068412"/>
              <a:ext cx="500291" cy="500291"/>
            </a:xfrm>
            <a:prstGeom prst="rect">
              <a:avLst/>
            </a:prstGeom>
          </p:spPr>
        </p:pic>
      </p:grpSp>
      <p:grpSp>
        <p:nvGrpSpPr>
          <p:cNvPr id="448" name="组合 447"/>
          <p:cNvGrpSpPr/>
          <p:nvPr/>
        </p:nvGrpSpPr>
        <p:grpSpPr>
          <a:xfrm>
            <a:off x="4832511" y="1651301"/>
            <a:ext cx="1706867" cy="904282"/>
            <a:chOff x="4832511" y="1651301"/>
            <a:chExt cx="1706867" cy="904282"/>
          </a:xfrm>
        </p:grpSpPr>
        <p:sp>
          <p:nvSpPr>
            <p:cNvPr id="319" name="矩形: 圆角 318"/>
            <p:cNvSpPr/>
            <p:nvPr/>
          </p:nvSpPr>
          <p:spPr>
            <a:xfrm>
              <a:off x="4832511" y="1651301"/>
              <a:ext cx="1670767" cy="904282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文本框 319"/>
            <p:cNvSpPr txBox="1"/>
            <p:nvPr/>
          </p:nvSpPr>
          <p:spPr>
            <a:xfrm>
              <a:off x="5352504" y="1871029"/>
              <a:ext cx="11868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Database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(SQL/NoSQL)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94" name="图形 39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941327" y="1842972"/>
              <a:ext cx="517778" cy="517778"/>
            </a:xfrm>
            <a:prstGeom prst="rect">
              <a:avLst/>
            </a:prstGeom>
          </p:spPr>
        </p:pic>
      </p:grpSp>
      <p:grpSp>
        <p:nvGrpSpPr>
          <p:cNvPr id="446" name="组合 445"/>
          <p:cNvGrpSpPr/>
          <p:nvPr/>
        </p:nvGrpSpPr>
        <p:grpSpPr>
          <a:xfrm>
            <a:off x="7080498" y="704530"/>
            <a:ext cx="1082126" cy="1516418"/>
            <a:chOff x="7915218" y="37024"/>
            <a:chExt cx="1082126" cy="1516418"/>
          </a:xfrm>
        </p:grpSpPr>
        <p:sp>
          <p:nvSpPr>
            <p:cNvPr id="401" name="矩形: 圆角 400"/>
            <p:cNvSpPr/>
            <p:nvPr/>
          </p:nvSpPr>
          <p:spPr>
            <a:xfrm>
              <a:off x="7915218" y="37024"/>
              <a:ext cx="1082126" cy="1516418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2" name="文本框 401"/>
            <p:cNvSpPr txBox="1"/>
            <p:nvPr/>
          </p:nvSpPr>
          <p:spPr>
            <a:xfrm>
              <a:off x="8010922" y="111063"/>
              <a:ext cx="8907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</a:t>
              </a:r>
              <a:endPara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Contract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47" name="组合 446"/>
          <p:cNvGrpSpPr/>
          <p:nvPr/>
        </p:nvGrpSpPr>
        <p:grpSpPr>
          <a:xfrm>
            <a:off x="7065643" y="4712713"/>
            <a:ext cx="1082126" cy="1516418"/>
            <a:chOff x="7915218" y="2474740"/>
            <a:chExt cx="1082126" cy="1516418"/>
          </a:xfrm>
        </p:grpSpPr>
        <p:sp>
          <p:nvSpPr>
            <p:cNvPr id="405" name="矩形: 圆角 404"/>
            <p:cNvSpPr/>
            <p:nvPr/>
          </p:nvSpPr>
          <p:spPr>
            <a:xfrm>
              <a:off x="7915218" y="2474740"/>
              <a:ext cx="1082126" cy="1516418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6" name="文本框 405"/>
            <p:cNvSpPr txBox="1"/>
            <p:nvPr/>
          </p:nvSpPr>
          <p:spPr>
            <a:xfrm>
              <a:off x="8010922" y="2548779"/>
              <a:ext cx="8907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Oracle</a:t>
              </a:r>
              <a:endPara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Contract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07" name="直接箭头连接符 406"/>
          <p:cNvCxnSpPr>
            <a:stCxn id="472" idx="1"/>
            <a:endCxn id="431" idx="3"/>
          </p:cNvCxnSpPr>
          <p:nvPr/>
        </p:nvCxnSpPr>
        <p:spPr>
          <a:xfrm flipH="1">
            <a:off x="11162993" y="1099509"/>
            <a:ext cx="948268" cy="4537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直接箭头连接符 407"/>
          <p:cNvCxnSpPr>
            <a:stCxn id="405" idx="0"/>
            <a:endCxn id="401" idx="2"/>
          </p:cNvCxnSpPr>
          <p:nvPr/>
        </p:nvCxnSpPr>
        <p:spPr>
          <a:xfrm flipV="1">
            <a:off x="7606706" y="2220948"/>
            <a:ext cx="14855" cy="2491765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0" name="组合 409"/>
          <p:cNvGrpSpPr/>
          <p:nvPr/>
        </p:nvGrpSpPr>
        <p:grpSpPr>
          <a:xfrm>
            <a:off x="7434327" y="3275281"/>
            <a:ext cx="1198279" cy="441599"/>
            <a:chOff x="782463" y="2700057"/>
            <a:chExt cx="1198279" cy="441599"/>
          </a:xfrm>
        </p:grpSpPr>
        <p:sp>
          <p:nvSpPr>
            <p:cNvPr id="411" name="流程图: 接点 410"/>
            <p:cNvSpPr/>
            <p:nvPr/>
          </p:nvSpPr>
          <p:spPr>
            <a:xfrm>
              <a:off x="1274713" y="2700057"/>
              <a:ext cx="213779" cy="201749"/>
            </a:xfrm>
            <a:prstGeom prst="flowChartConnector">
              <a:avLst/>
            </a:prstGeom>
            <a:solidFill>
              <a:srgbClr val="0B4B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1</a:t>
              </a:r>
              <a:endParaRPr lang="zh-CN" altLang="en-US" sz="1000" b="1" dirty="0"/>
            </a:p>
          </p:txBody>
        </p:sp>
        <p:sp>
          <p:nvSpPr>
            <p:cNvPr id="412" name="文本框 411"/>
            <p:cNvSpPr txBox="1"/>
            <p:nvPr/>
          </p:nvSpPr>
          <p:spPr>
            <a:xfrm>
              <a:off x="782463" y="2880046"/>
              <a:ext cx="11982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Emit event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43" name="组合 442"/>
          <p:cNvGrpSpPr/>
          <p:nvPr/>
        </p:nvGrpSpPr>
        <p:grpSpPr>
          <a:xfrm>
            <a:off x="9184595" y="2058969"/>
            <a:ext cx="1978398" cy="686828"/>
            <a:chOff x="12053368" y="-36362"/>
            <a:chExt cx="1978398" cy="686828"/>
          </a:xfrm>
        </p:grpSpPr>
        <p:sp>
          <p:nvSpPr>
            <p:cNvPr id="434" name="矩形: 圆角 433"/>
            <p:cNvSpPr/>
            <p:nvPr/>
          </p:nvSpPr>
          <p:spPr>
            <a:xfrm>
              <a:off x="12053368" y="-36362"/>
              <a:ext cx="1978398" cy="686828"/>
            </a:xfrm>
            <a:prstGeom prst="roundRect">
              <a:avLst>
                <a:gd name="adj" fmla="val 8696"/>
              </a:avLst>
            </a:prstGeom>
            <a:solidFill>
              <a:srgbClr val="F8FBFD"/>
            </a:solidFill>
            <a:ln>
              <a:solidFill>
                <a:srgbClr val="80A0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20" name="图形 419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122642" y="-17242"/>
              <a:ext cx="688158" cy="648589"/>
            </a:xfrm>
            <a:prstGeom prst="rect">
              <a:avLst/>
            </a:prstGeom>
          </p:spPr>
        </p:pic>
        <p:sp>
          <p:nvSpPr>
            <p:cNvPr id="435" name="文本框 434"/>
            <p:cNvSpPr txBox="1"/>
            <p:nvPr/>
          </p:nvSpPr>
          <p:spPr>
            <a:xfrm>
              <a:off x="12676530" y="76220"/>
              <a:ext cx="11868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Agent-1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(LLM)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44" name="组合 443"/>
          <p:cNvGrpSpPr/>
          <p:nvPr/>
        </p:nvGrpSpPr>
        <p:grpSpPr>
          <a:xfrm>
            <a:off x="9184595" y="2908130"/>
            <a:ext cx="1978398" cy="686828"/>
            <a:chOff x="12053368" y="811796"/>
            <a:chExt cx="1978398" cy="686828"/>
          </a:xfrm>
        </p:grpSpPr>
        <p:sp>
          <p:nvSpPr>
            <p:cNvPr id="437" name="矩形: 圆角 436"/>
            <p:cNvSpPr/>
            <p:nvPr/>
          </p:nvSpPr>
          <p:spPr>
            <a:xfrm>
              <a:off x="12053368" y="811796"/>
              <a:ext cx="1978398" cy="686828"/>
            </a:xfrm>
            <a:prstGeom prst="roundRect">
              <a:avLst>
                <a:gd name="adj" fmla="val 8696"/>
              </a:avLst>
            </a:prstGeom>
            <a:solidFill>
              <a:srgbClr val="F8FBFD"/>
            </a:solidFill>
            <a:ln>
              <a:solidFill>
                <a:srgbClr val="80A0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8" name="图形 417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2122642" y="830916"/>
              <a:ext cx="688158" cy="648589"/>
            </a:xfrm>
            <a:prstGeom prst="rect">
              <a:avLst/>
            </a:prstGeom>
          </p:spPr>
        </p:pic>
        <p:sp>
          <p:nvSpPr>
            <p:cNvPr id="438" name="文本框 437"/>
            <p:cNvSpPr txBox="1"/>
            <p:nvPr/>
          </p:nvSpPr>
          <p:spPr>
            <a:xfrm>
              <a:off x="12676530" y="924378"/>
              <a:ext cx="11868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Agent-1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(LLM)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45" name="组合 444"/>
          <p:cNvGrpSpPr/>
          <p:nvPr/>
        </p:nvGrpSpPr>
        <p:grpSpPr>
          <a:xfrm>
            <a:off x="9184595" y="3757290"/>
            <a:ext cx="1978398" cy="686828"/>
            <a:chOff x="12053368" y="1658482"/>
            <a:chExt cx="1978398" cy="686828"/>
          </a:xfrm>
        </p:grpSpPr>
        <p:sp>
          <p:nvSpPr>
            <p:cNvPr id="440" name="矩形: 圆角 439"/>
            <p:cNvSpPr/>
            <p:nvPr/>
          </p:nvSpPr>
          <p:spPr>
            <a:xfrm>
              <a:off x="12053368" y="1658482"/>
              <a:ext cx="1978398" cy="686828"/>
            </a:xfrm>
            <a:prstGeom prst="roundRect">
              <a:avLst>
                <a:gd name="adj" fmla="val 8696"/>
              </a:avLst>
            </a:prstGeom>
            <a:solidFill>
              <a:srgbClr val="F8FBFD"/>
            </a:solidFill>
            <a:ln>
              <a:solidFill>
                <a:srgbClr val="80A0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6" name="图形 415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122642" y="1677602"/>
              <a:ext cx="688158" cy="648589"/>
            </a:xfrm>
            <a:prstGeom prst="rect">
              <a:avLst/>
            </a:prstGeom>
          </p:spPr>
        </p:pic>
        <p:sp>
          <p:nvSpPr>
            <p:cNvPr id="441" name="文本框 440"/>
            <p:cNvSpPr txBox="1"/>
            <p:nvPr/>
          </p:nvSpPr>
          <p:spPr>
            <a:xfrm>
              <a:off x="12676530" y="1771064"/>
              <a:ext cx="11868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Agent-1</a:t>
              </a:r>
              <a:endPara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(LLM)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9" name="文本框 468"/>
          <p:cNvSpPr txBox="1"/>
          <p:nvPr/>
        </p:nvSpPr>
        <p:spPr>
          <a:xfrm>
            <a:off x="12064371" y="59585"/>
            <a:ext cx="1815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Evidence Sources</a:t>
            </a:r>
            <a:endParaRPr lang="zh-CN" altLang="en-US" sz="1600" b="1" i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82" name="组合 581"/>
          <p:cNvGrpSpPr/>
          <p:nvPr/>
        </p:nvGrpSpPr>
        <p:grpSpPr>
          <a:xfrm>
            <a:off x="12111261" y="1647738"/>
            <a:ext cx="1721908" cy="904282"/>
            <a:chOff x="12849079" y="1350870"/>
            <a:chExt cx="1721908" cy="904282"/>
          </a:xfrm>
        </p:grpSpPr>
        <p:sp>
          <p:nvSpPr>
            <p:cNvPr id="483" name="矩形: 圆角 482"/>
            <p:cNvSpPr/>
            <p:nvPr/>
          </p:nvSpPr>
          <p:spPr>
            <a:xfrm>
              <a:off x="12849079" y="1350870"/>
              <a:ext cx="1670767" cy="904282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4" name="文本框 483"/>
            <p:cNvSpPr txBox="1"/>
            <p:nvPr/>
          </p:nvSpPr>
          <p:spPr>
            <a:xfrm>
              <a:off x="13384113" y="1664512"/>
              <a:ext cx="1186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News Articles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87" name="图形 486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942515" y="1540804"/>
              <a:ext cx="524415" cy="524415"/>
            </a:xfrm>
            <a:prstGeom prst="rect">
              <a:avLst/>
            </a:prstGeom>
          </p:spPr>
        </p:pic>
      </p:grpSp>
      <p:grpSp>
        <p:nvGrpSpPr>
          <p:cNvPr id="580" name="组合 579"/>
          <p:cNvGrpSpPr/>
          <p:nvPr/>
        </p:nvGrpSpPr>
        <p:grpSpPr>
          <a:xfrm>
            <a:off x="12111261" y="2648108"/>
            <a:ext cx="1721908" cy="904282"/>
            <a:chOff x="12849079" y="2458284"/>
            <a:chExt cx="1721908" cy="904282"/>
          </a:xfrm>
        </p:grpSpPr>
        <p:sp>
          <p:nvSpPr>
            <p:cNvPr id="476" name="矩形: 圆角 475"/>
            <p:cNvSpPr/>
            <p:nvPr/>
          </p:nvSpPr>
          <p:spPr>
            <a:xfrm>
              <a:off x="12849079" y="2458284"/>
              <a:ext cx="1670767" cy="904282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7" name="文本框 476"/>
            <p:cNvSpPr txBox="1"/>
            <p:nvPr/>
          </p:nvSpPr>
          <p:spPr>
            <a:xfrm>
              <a:off x="13384113" y="2771926"/>
              <a:ext cx="1186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Web Pages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93" name="图形 492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2998666" y="2704369"/>
              <a:ext cx="412113" cy="412113"/>
            </a:xfrm>
            <a:prstGeom prst="rect">
              <a:avLst/>
            </a:prstGeom>
          </p:spPr>
        </p:pic>
      </p:grpSp>
      <p:grpSp>
        <p:nvGrpSpPr>
          <p:cNvPr id="581" name="组合 580"/>
          <p:cNvGrpSpPr/>
          <p:nvPr/>
        </p:nvGrpSpPr>
        <p:grpSpPr>
          <a:xfrm>
            <a:off x="12111261" y="3648479"/>
            <a:ext cx="1721908" cy="904282"/>
            <a:chOff x="12849079" y="3565697"/>
            <a:chExt cx="1721908" cy="904282"/>
          </a:xfrm>
        </p:grpSpPr>
        <p:sp>
          <p:nvSpPr>
            <p:cNvPr id="479" name="矩形: 圆角 478"/>
            <p:cNvSpPr/>
            <p:nvPr/>
          </p:nvSpPr>
          <p:spPr>
            <a:xfrm>
              <a:off x="12849079" y="3565697"/>
              <a:ext cx="1670767" cy="904282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0" name="文本框 479"/>
            <p:cNvSpPr txBox="1"/>
            <p:nvPr/>
          </p:nvSpPr>
          <p:spPr>
            <a:xfrm>
              <a:off x="13384113" y="3787006"/>
              <a:ext cx="11868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Documents(PDF, Reports)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96" name="图形 495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2981041" y="3807968"/>
              <a:ext cx="351931" cy="419740"/>
            </a:xfrm>
            <a:prstGeom prst="rect">
              <a:avLst/>
            </a:prstGeom>
          </p:spPr>
        </p:pic>
      </p:grpSp>
      <p:grpSp>
        <p:nvGrpSpPr>
          <p:cNvPr id="583" name="组合 582"/>
          <p:cNvGrpSpPr/>
          <p:nvPr/>
        </p:nvGrpSpPr>
        <p:grpSpPr>
          <a:xfrm>
            <a:off x="12111261" y="647368"/>
            <a:ext cx="1721908" cy="904282"/>
            <a:chOff x="12849079" y="243456"/>
            <a:chExt cx="1721908" cy="904282"/>
          </a:xfrm>
        </p:grpSpPr>
        <p:sp>
          <p:nvSpPr>
            <p:cNvPr id="472" name="矩形: 圆角 471"/>
            <p:cNvSpPr/>
            <p:nvPr/>
          </p:nvSpPr>
          <p:spPr>
            <a:xfrm>
              <a:off x="12849079" y="243456"/>
              <a:ext cx="1670767" cy="904282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3" name="文本框 472"/>
            <p:cNvSpPr txBox="1"/>
            <p:nvPr/>
          </p:nvSpPr>
          <p:spPr>
            <a:xfrm>
              <a:off x="13384113" y="372432"/>
              <a:ext cx="118687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Structured Feeds(Prices, Stats, APIs)</a:t>
              </a:r>
              <a:endParaRPr lang="zh-CN" altLang="en-US" sz="12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98" name="图形 497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3012131" y="503006"/>
              <a:ext cx="385182" cy="385182"/>
            </a:xfrm>
            <a:prstGeom prst="rect">
              <a:avLst/>
            </a:prstGeom>
          </p:spPr>
        </p:pic>
      </p:grpSp>
      <p:cxnSp>
        <p:nvCxnSpPr>
          <p:cNvPr id="501" name="直接箭头连接符 500"/>
          <p:cNvCxnSpPr>
            <a:stCxn id="483" idx="1"/>
            <a:endCxn id="431" idx="3"/>
          </p:cNvCxnSpPr>
          <p:nvPr/>
        </p:nvCxnSpPr>
        <p:spPr>
          <a:xfrm flipH="1" flipV="1">
            <a:off x="11162993" y="1553222"/>
            <a:ext cx="948268" cy="5466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直接箭头连接符 503"/>
          <p:cNvCxnSpPr>
            <a:stCxn id="476" idx="1"/>
            <a:endCxn id="431" idx="3"/>
          </p:cNvCxnSpPr>
          <p:nvPr/>
        </p:nvCxnSpPr>
        <p:spPr>
          <a:xfrm flipH="1" flipV="1">
            <a:off x="11162993" y="1553222"/>
            <a:ext cx="948268" cy="154702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直接箭头连接符 511"/>
          <p:cNvCxnSpPr>
            <a:stCxn id="472" idx="1"/>
            <a:endCxn id="434" idx="3"/>
          </p:cNvCxnSpPr>
          <p:nvPr/>
        </p:nvCxnSpPr>
        <p:spPr>
          <a:xfrm flipH="1">
            <a:off x="11162993" y="1099509"/>
            <a:ext cx="948268" cy="13028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直接箭头连接符 516"/>
          <p:cNvCxnSpPr>
            <a:stCxn id="472" idx="1"/>
            <a:endCxn id="437" idx="3"/>
          </p:cNvCxnSpPr>
          <p:nvPr/>
        </p:nvCxnSpPr>
        <p:spPr>
          <a:xfrm flipH="1">
            <a:off x="11162993" y="1099509"/>
            <a:ext cx="948268" cy="215203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直接箭头连接符 522"/>
          <p:cNvCxnSpPr>
            <a:stCxn id="479" idx="1"/>
            <a:endCxn id="440" idx="3"/>
          </p:cNvCxnSpPr>
          <p:nvPr/>
        </p:nvCxnSpPr>
        <p:spPr>
          <a:xfrm flipH="1">
            <a:off x="11162993" y="4100620"/>
            <a:ext cx="948268" cy="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直接箭头连接符 525"/>
          <p:cNvCxnSpPr>
            <a:stCxn id="476" idx="1"/>
            <a:endCxn id="440" idx="3"/>
          </p:cNvCxnSpPr>
          <p:nvPr/>
        </p:nvCxnSpPr>
        <p:spPr>
          <a:xfrm flipH="1">
            <a:off x="11162993" y="3100249"/>
            <a:ext cx="948268" cy="100045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文本框 528"/>
          <p:cNvSpPr txBox="1"/>
          <p:nvPr/>
        </p:nvSpPr>
        <p:spPr>
          <a:xfrm>
            <a:off x="6550646" y="157951"/>
            <a:ext cx="2153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On-Chain</a:t>
            </a:r>
            <a:endParaRPr lang="zh-CN" altLang="en-US" sz="1600" b="1" i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0" name="文本框 529"/>
          <p:cNvSpPr txBox="1"/>
          <p:nvPr/>
        </p:nvSpPr>
        <p:spPr>
          <a:xfrm>
            <a:off x="9296382" y="59585"/>
            <a:ext cx="1725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 Network</a:t>
            </a:r>
            <a:endParaRPr lang="en-US" altLang="zh-CN" sz="1600" b="1" i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(Semantic Layer)</a:t>
            </a:r>
            <a:endParaRPr lang="zh-CN" altLang="en-US" sz="1600" b="1" i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7" name="左大括号 566"/>
          <p:cNvSpPr/>
          <p:nvPr/>
        </p:nvSpPr>
        <p:spPr>
          <a:xfrm>
            <a:off x="9022761" y="1553222"/>
            <a:ext cx="177901" cy="2547482"/>
          </a:xfrm>
          <a:prstGeom prst="leftBrace">
            <a:avLst>
              <a:gd name="adj1" fmla="val 8333"/>
              <a:gd name="adj2" fmla="val 4935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8" name="直接箭头连接符 567"/>
          <p:cNvCxnSpPr>
            <a:stCxn id="567" idx="1"/>
            <a:endCxn id="401" idx="3"/>
          </p:cNvCxnSpPr>
          <p:nvPr/>
        </p:nvCxnSpPr>
        <p:spPr>
          <a:xfrm flipH="1" flipV="1">
            <a:off x="8162624" y="1462739"/>
            <a:ext cx="860137" cy="134789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1" name="组合 570"/>
          <p:cNvGrpSpPr/>
          <p:nvPr/>
        </p:nvGrpSpPr>
        <p:grpSpPr>
          <a:xfrm>
            <a:off x="7805057" y="2218964"/>
            <a:ext cx="1198279" cy="441599"/>
            <a:chOff x="782463" y="2700057"/>
            <a:chExt cx="1198279" cy="441599"/>
          </a:xfrm>
        </p:grpSpPr>
        <p:sp>
          <p:nvSpPr>
            <p:cNvPr id="572" name="流程图: 接点 571"/>
            <p:cNvSpPr/>
            <p:nvPr/>
          </p:nvSpPr>
          <p:spPr>
            <a:xfrm>
              <a:off x="1274713" y="2700057"/>
              <a:ext cx="213779" cy="201749"/>
            </a:xfrm>
            <a:prstGeom prst="flowChartConnector">
              <a:avLst/>
            </a:prstGeom>
            <a:solidFill>
              <a:srgbClr val="0B4B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3</a:t>
              </a:r>
              <a:endParaRPr lang="zh-CN" altLang="en-US" sz="1000" b="1" dirty="0"/>
            </a:p>
          </p:txBody>
        </p:sp>
        <p:sp>
          <p:nvSpPr>
            <p:cNvPr id="573" name="文本框 572"/>
            <p:cNvSpPr txBox="1"/>
            <p:nvPr/>
          </p:nvSpPr>
          <p:spPr>
            <a:xfrm>
              <a:off x="782463" y="2880046"/>
              <a:ext cx="11982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Get answers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4" name="组合 573"/>
          <p:cNvGrpSpPr/>
          <p:nvPr/>
        </p:nvGrpSpPr>
        <p:grpSpPr>
          <a:xfrm>
            <a:off x="9560164" y="635640"/>
            <a:ext cx="1198279" cy="593646"/>
            <a:chOff x="789555" y="2558538"/>
            <a:chExt cx="1198279" cy="593646"/>
          </a:xfrm>
        </p:grpSpPr>
        <p:sp>
          <p:nvSpPr>
            <p:cNvPr id="575" name="流程图: 接点 574"/>
            <p:cNvSpPr/>
            <p:nvPr/>
          </p:nvSpPr>
          <p:spPr>
            <a:xfrm>
              <a:off x="1274713" y="2558538"/>
              <a:ext cx="213779" cy="201749"/>
            </a:xfrm>
            <a:prstGeom prst="flowChartConnector">
              <a:avLst/>
            </a:prstGeom>
            <a:solidFill>
              <a:srgbClr val="0B4B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2</a:t>
              </a:r>
              <a:endParaRPr lang="zh-CN" altLang="en-US" sz="1000" b="1" dirty="0"/>
            </a:p>
          </p:txBody>
        </p:sp>
        <p:sp>
          <p:nvSpPr>
            <p:cNvPr id="576" name="文本框 575"/>
            <p:cNvSpPr txBox="1"/>
            <p:nvPr/>
          </p:nvSpPr>
          <p:spPr>
            <a:xfrm>
              <a:off x="789555" y="2736686"/>
              <a:ext cx="119827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Ask Agents (Dispatch Query)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84" name="文本框 583"/>
          <p:cNvSpPr txBox="1"/>
          <p:nvPr/>
        </p:nvSpPr>
        <p:spPr>
          <a:xfrm>
            <a:off x="12708780" y="4454470"/>
            <a:ext cx="526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…</a:t>
            </a:r>
            <a:endParaRPr lang="zh-CN" altLang="en-US" sz="2000" b="1" dirty="0"/>
          </a:p>
        </p:txBody>
      </p:sp>
      <p:grpSp>
        <p:nvGrpSpPr>
          <p:cNvPr id="591" name="组合 590"/>
          <p:cNvGrpSpPr/>
          <p:nvPr/>
        </p:nvGrpSpPr>
        <p:grpSpPr>
          <a:xfrm>
            <a:off x="8633243" y="5180219"/>
            <a:ext cx="5357716" cy="1555966"/>
            <a:chOff x="7915218" y="2474740"/>
            <a:chExt cx="1082126" cy="1516418"/>
          </a:xfrm>
        </p:grpSpPr>
        <p:sp>
          <p:nvSpPr>
            <p:cNvPr id="593" name="矩形: 圆角 592"/>
            <p:cNvSpPr/>
            <p:nvPr/>
          </p:nvSpPr>
          <p:spPr>
            <a:xfrm>
              <a:off x="7915218" y="2474740"/>
              <a:ext cx="1082126" cy="1516418"/>
            </a:xfrm>
            <a:prstGeom prst="roundRect">
              <a:avLst>
                <a:gd name="adj" fmla="val 86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4" name="文本框 593"/>
            <p:cNvSpPr txBox="1"/>
            <p:nvPr/>
          </p:nvSpPr>
          <p:spPr>
            <a:xfrm>
              <a:off x="8010922" y="2495579"/>
              <a:ext cx="890718" cy="299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Truth Discovery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95" name="组合 594"/>
          <p:cNvGrpSpPr/>
          <p:nvPr/>
        </p:nvGrpSpPr>
        <p:grpSpPr>
          <a:xfrm>
            <a:off x="10255963" y="4793941"/>
            <a:ext cx="1462061" cy="418364"/>
            <a:chOff x="630832" y="2700057"/>
            <a:chExt cx="1462061" cy="418364"/>
          </a:xfrm>
        </p:grpSpPr>
        <p:sp>
          <p:nvSpPr>
            <p:cNvPr id="596" name="流程图: 接点 595"/>
            <p:cNvSpPr/>
            <p:nvPr/>
          </p:nvSpPr>
          <p:spPr>
            <a:xfrm>
              <a:off x="1274713" y="2700057"/>
              <a:ext cx="213779" cy="201749"/>
            </a:xfrm>
            <a:prstGeom prst="flowChartConnector">
              <a:avLst/>
            </a:prstGeom>
            <a:solidFill>
              <a:srgbClr val="0B4B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4</a:t>
              </a:r>
              <a:endParaRPr lang="zh-CN" altLang="en-US" sz="1000" b="1" dirty="0"/>
            </a:p>
          </p:txBody>
        </p:sp>
        <p:sp>
          <p:nvSpPr>
            <p:cNvPr id="597" name="文本框 596"/>
            <p:cNvSpPr txBox="1"/>
            <p:nvPr/>
          </p:nvSpPr>
          <p:spPr>
            <a:xfrm>
              <a:off x="630832" y="2864505"/>
              <a:ext cx="146206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Return claim &amp; proof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598" name="直接箭头连接符 597"/>
          <p:cNvCxnSpPr>
            <a:stCxn id="589" idx="2"/>
          </p:cNvCxnSpPr>
          <p:nvPr/>
        </p:nvCxnSpPr>
        <p:spPr>
          <a:xfrm flipH="1">
            <a:off x="10159303" y="4751299"/>
            <a:ext cx="1" cy="4215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6" name="左大括号 625"/>
          <p:cNvSpPr/>
          <p:nvPr/>
        </p:nvSpPr>
        <p:spPr>
          <a:xfrm rot="5400000" flipH="1">
            <a:off x="9525996" y="5828621"/>
            <a:ext cx="173013" cy="1278420"/>
          </a:xfrm>
          <a:prstGeom prst="leftBrace">
            <a:avLst>
              <a:gd name="adj1" fmla="val 159001"/>
              <a:gd name="adj2" fmla="val 4908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29" name="组合 628"/>
          <p:cNvGrpSpPr/>
          <p:nvPr/>
        </p:nvGrpSpPr>
        <p:grpSpPr>
          <a:xfrm rot="16200000">
            <a:off x="11784468" y="5438572"/>
            <a:ext cx="461665" cy="676638"/>
            <a:chOff x="4310037" y="4716933"/>
            <a:chExt cx="814412" cy="1093033"/>
          </a:xfrm>
        </p:grpSpPr>
        <p:sp>
          <p:nvSpPr>
            <p:cNvPr id="631" name="流程图: 接点 630"/>
            <p:cNvSpPr/>
            <p:nvPr/>
          </p:nvSpPr>
          <p:spPr>
            <a:xfrm>
              <a:off x="4310037" y="4993158"/>
              <a:ext cx="166713" cy="165026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2" name="流程图: 接点 631"/>
            <p:cNvSpPr/>
            <p:nvPr/>
          </p:nvSpPr>
          <p:spPr>
            <a:xfrm>
              <a:off x="4310037" y="5368715"/>
              <a:ext cx="166713" cy="165026"/>
            </a:xfrm>
            <a:prstGeom prst="flowChartConnector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3" name="流程图: 接点 632"/>
            <p:cNvSpPr/>
            <p:nvPr/>
          </p:nvSpPr>
          <p:spPr>
            <a:xfrm>
              <a:off x="4957736" y="4993158"/>
              <a:ext cx="166713" cy="165026"/>
            </a:xfrm>
            <a:prstGeom prst="flowChartConnector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4" name="流程图: 接点 633"/>
            <p:cNvSpPr/>
            <p:nvPr/>
          </p:nvSpPr>
          <p:spPr>
            <a:xfrm>
              <a:off x="4957736" y="5368715"/>
              <a:ext cx="166713" cy="165026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5" name="流程图: 接点 634"/>
            <p:cNvSpPr/>
            <p:nvPr/>
          </p:nvSpPr>
          <p:spPr>
            <a:xfrm>
              <a:off x="4633887" y="4716933"/>
              <a:ext cx="166713" cy="165026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6" name="流程图: 接点 635"/>
            <p:cNvSpPr/>
            <p:nvPr/>
          </p:nvSpPr>
          <p:spPr>
            <a:xfrm>
              <a:off x="4633886" y="5644940"/>
              <a:ext cx="166713" cy="165026"/>
            </a:xfrm>
            <a:prstGeom prst="flowChartConnector">
              <a:avLst/>
            </a:prstGeom>
            <a:solidFill>
              <a:srgbClr val="FFF6EF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7" name="直接连接符 636"/>
            <p:cNvCxnSpPr>
              <a:stCxn id="631" idx="7"/>
              <a:endCxn id="635" idx="3"/>
            </p:cNvCxnSpPr>
            <p:nvPr/>
          </p:nvCxnSpPr>
          <p:spPr>
            <a:xfrm flipV="1">
              <a:off x="4452335" y="4857792"/>
              <a:ext cx="205967" cy="159533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直接连接符 637"/>
            <p:cNvCxnSpPr>
              <a:stCxn id="633" idx="1"/>
              <a:endCxn id="635" idx="5"/>
            </p:cNvCxnSpPr>
            <p:nvPr/>
          </p:nvCxnSpPr>
          <p:spPr>
            <a:xfrm flipH="1" flipV="1">
              <a:off x="4776185" y="4857792"/>
              <a:ext cx="205966" cy="159533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直接连接符 638"/>
            <p:cNvCxnSpPr>
              <a:stCxn id="634" idx="3"/>
              <a:endCxn id="636" idx="7"/>
            </p:cNvCxnSpPr>
            <p:nvPr/>
          </p:nvCxnSpPr>
          <p:spPr>
            <a:xfrm flipH="1">
              <a:off x="4776184" y="5509574"/>
              <a:ext cx="205967" cy="159533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直接连接符 639"/>
            <p:cNvCxnSpPr>
              <a:stCxn id="633" idx="4"/>
              <a:endCxn id="634" idx="0"/>
            </p:cNvCxnSpPr>
            <p:nvPr/>
          </p:nvCxnSpPr>
          <p:spPr>
            <a:xfrm>
              <a:off x="5041093" y="5158184"/>
              <a:ext cx="0" cy="210531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直接连接符 640"/>
            <p:cNvCxnSpPr/>
            <p:nvPr/>
          </p:nvCxnSpPr>
          <p:spPr>
            <a:xfrm>
              <a:off x="4390672" y="5158184"/>
              <a:ext cx="0" cy="210531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直接连接符 641"/>
            <p:cNvCxnSpPr>
              <a:stCxn id="636" idx="1"/>
              <a:endCxn id="632" idx="5"/>
            </p:cNvCxnSpPr>
            <p:nvPr/>
          </p:nvCxnSpPr>
          <p:spPr>
            <a:xfrm flipH="1" flipV="1">
              <a:off x="4452335" y="5509574"/>
              <a:ext cx="205966" cy="159533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3" name="流程图: 接点 642"/>
            <p:cNvSpPr/>
            <p:nvPr/>
          </p:nvSpPr>
          <p:spPr>
            <a:xfrm>
              <a:off x="4632526" y="5166106"/>
              <a:ext cx="166713" cy="165026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4" name="直接连接符 643"/>
            <p:cNvCxnSpPr>
              <a:stCxn id="643" idx="0"/>
              <a:endCxn id="635" idx="4"/>
            </p:cNvCxnSpPr>
            <p:nvPr/>
          </p:nvCxnSpPr>
          <p:spPr>
            <a:xfrm flipV="1">
              <a:off x="4715883" y="4881959"/>
              <a:ext cx="1361" cy="28414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直接连接符 644"/>
            <p:cNvCxnSpPr>
              <a:stCxn id="643" idx="1"/>
              <a:endCxn id="631" idx="5"/>
            </p:cNvCxnSpPr>
            <p:nvPr/>
          </p:nvCxnSpPr>
          <p:spPr>
            <a:xfrm flipH="1" flipV="1">
              <a:off x="4452335" y="5134017"/>
              <a:ext cx="204606" cy="56256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直接连接符 645"/>
            <p:cNvCxnSpPr>
              <a:stCxn id="643" idx="3"/>
              <a:endCxn id="632" idx="7"/>
            </p:cNvCxnSpPr>
            <p:nvPr/>
          </p:nvCxnSpPr>
          <p:spPr>
            <a:xfrm flipH="1">
              <a:off x="4452335" y="5306965"/>
              <a:ext cx="204606" cy="8591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直接连接符 646"/>
            <p:cNvCxnSpPr/>
            <p:nvPr/>
          </p:nvCxnSpPr>
          <p:spPr>
            <a:xfrm flipV="1">
              <a:off x="4713161" y="5343420"/>
              <a:ext cx="1361" cy="28414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直接连接符 647"/>
            <p:cNvCxnSpPr>
              <a:stCxn id="643" idx="5"/>
              <a:endCxn id="634" idx="1"/>
            </p:cNvCxnSpPr>
            <p:nvPr/>
          </p:nvCxnSpPr>
          <p:spPr>
            <a:xfrm>
              <a:off x="4774824" y="5306965"/>
              <a:ext cx="207327" cy="8591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直接连接符 648"/>
            <p:cNvCxnSpPr>
              <a:stCxn id="643" idx="7"/>
              <a:endCxn id="633" idx="3"/>
            </p:cNvCxnSpPr>
            <p:nvPr/>
          </p:nvCxnSpPr>
          <p:spPr>
            <a:xfrm flipV="1">
              <a:off x="4774824" y="5134017"/>
              <a:ext cx="207327" cy="56256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2" name="连接符: 肘形 651"/>
          <p:cNvCxnSpPr/>
          <p:nvPr/>
        </p:nvCxnSpPr>
        <p:spPr>
          <a:xfrm rot="5400000" flipH="1" flipV="1">
            <a:off x="10114021" y="5622247"/>
            <a:ext cx="418413" cy="1397999"/>
          </a:xfrm>
          <a:prstGeom prst="bentConnector4">
            <a:avLst>
              <a:gd name="adj1" fmla="val -24282"/>
              <a:gd name="adj2" fmla="val 744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文本框 657"/>
          <p:cNvSpPr txBox="1"/>
          <p:nvPr/>
        </p:nvSpPr>
        <p:spPr>
          <a:xfrm>
            <a:off x="10672780" y="5556644"/>
            <a:ext cx="118687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Aggregation</a:t>
            </a:r>
            <a:endParaRPr lang="zh-CN" altLang="en-U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59" name="组合 658"/>
          <p:cNvGrpSpPr/>
          <p:nvPr/>
        </p:nvGrpSpPr>
        <p:grpSpPr>
          <a:xfrm>
            <a:off x="8759843" y="5621931"/>
            <a:ext cx="1687087" cy="735010"/>
            <a:chOff x="9464895" y="5260475"/>
            <a:chExt cx="2170906" cy="955495"/>
          </a:xfrm>
        </p:grpSpPr>
        <p:pic>
          <p:nvPicPr>
            <p:cNvPr id="605" name="图形 60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4895" y="5260476"/>
              <a:ext cx="525270" cy="495090"/>
            </a:xfrm>
            <a:prstGeom prst="rect">
              <a:avLst/>
            </a:prstGeom>
          </p:spPr>
        </p:pic>
        <p:pic>
          <p:nvPicPr>
            <p:cNvPr id="606" name="图形 605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013441" y="5260476"/>
              <a:ext cx="525270" cy="495090"/>
            </a:xfrm>
            <a:prstGeom prst="rect">
              <a:avLst/>
            </a:prstGeom>
          </p:spPr>
        </p:pic>
        <p:pic>
          <p:nvPicPr>
            <p:cNvPr id="607" name="图形 606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110531" y="5260476"/>
              <a:ext cx="525270" cy="495090"/>
            </a:xfrm>
            <a:prstGeom prst="rect">
              <a:avLst/>
            </a:prstGeom>
          </p:spPr>
        </p:pic>
        <p:pic>
          <p:nvPicPr>
            <p:cNvPr id="608" name="图形 607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561988" y="5260475"/>
              <a:ext cx="525268" cy="495088"/>
            </a:xfrm>
            <a:prstGeom prst="rect">
              <a:avLst/>
            </a:prstGeom>
          </p:spPr>
        </p:pic>
        <p:sp>
          <p:nvSpPr>
            <p:cNvPr id="609" name="流程图: 接点 608"/>
            <p:cNvSpPr/>
            <p:nvPr/>
          </p:nvSpPr>
          <p:spPr>
            <a:xfrm>
              <a:off x="9596943" y="5970305"/>
              <a:ext cx="259296" cy="245659"/>
            </a:xfrm>
            <a:prstGeom prst="flowChartConnector">
              <a:avLst/>
            </a:prstGeom>
            <a:solidFill>
              <a:srgbClr val="537BC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0" name="矩形 609"/>
            <p:cNvSpPr/>
            <p:nvPr/>
          </p:nvSpPr>
          <p:spPr>
            <a:xfrm>
              <a:off x="10146429" y="5970305"/>
              <a:ext cx="259296" cy="245659"/>
            </a:xfrm>
            <a:prstGeom prst="rect">
              <a:avLst/>
            </a:prstGeom>
            <a:solidFill>
              <a:srgbClr val="5DAE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1" name="等腰三角形 610"/>
            <p:cNvSpPr/>
            <p:nvPr/>
          </p:nvSpPr>
          <p:spPr>
            <a:xfrm>
              <a:off x="10682269" y="5970311"/>
              <a:ext cx="285909" cy="245659"/>
            </a:xfrm>
            <a:prstGeom prst="triangle">
              <a:avLst/>
            </a:prstGeom>
            <a:solidFill>
              <a:srgbClr val="FF842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菱形 611"/>
            <p:cNvSpPr/>
            <p:nvPr/>
          </p:nvSpPr>
          <p:spPr>
            <a:xfrm>
              <a:off x="11231595" y="5970305"/>
              <a:ext cx="285909" cy="245659"/>
            </a:xfrm>
            <a:prstGeom prst="diamond">
              <a:avLst/>
            </a:prstGeom>
            <a:solidFill>
              <a:srgbClr val="7D55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箭头连接符 612"/>
            <p:cNvCxnSpPr>
              <a:stCxn id="605" idx="2"/>
              <a:endCxn id="609" idx="0"/>
            </p:cNvCxnSpPr>
            <p:nvPr/>
          </p:nvCxnSpPr>
          <p:spPr>
            <a:xfrm flipH="1">
              <a:off x="9726591" y="5755566"/>
              <a:ext cx="941" cy="21473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直接箭头连接符 616"/>
            <p:cNvCxnSpPr>
              <a:stCxn id="606" idx="2"/>
              <a:endCxn id="610" idx="0"/>
            </p:cNvCxnSpPr>
            <p:nvPr/>
          </p:nvCxnSpPr>
          <p:spPr>
            <a:xfrm>
              <a:off x="10276075" y="5755576"/>
              <a:ext cx="0" cy="21473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直接箭头连接符 619"/>
            <p:cNvCxnSpPr>
              <a:stCxn id="608" idx="2"/>
              <a:endCxn id="611" idx="0"/>
            </p:cNvCxnSpPr>
            <p:nvPr/>
          </p:nvCxnSpPr>
          <p:spPr>
            <a:xfrm>
              <a:off x="10824626" y="5755563"/>
              <a:ext cx="602" cy="21474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直接箭头连接符 622"/>
            <p:cNvCxnSpPr>
              <a:stCxn id="607" idx="2"/>
              <a:endCxn id="612" idx="0"/>
            </p:cNvCxnSpPr>
            <p:nvPr/>
          </p:nvCxnSpPr>
          <p:spPr>
            <a:xfrm>
              <a:off x="11373685" y="5755564"/>
              <a:ext cx="1382" cy="21473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70" name="图形 669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058091" y="5369502"/>
            <a:ext cx="425134" cy="425134"/>
          </a:xfrm>
          <a:prstGeom prst="rect">
            <a:avLst/>
          </a:prstGeom>
        </p:spPr>
      </p:pic>
      <p:pic>
        <p:nvPicPr>
          <p:cNvPr id="672" name="图形 671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637768" y="6229570"/>
            <a:ext cx="322282" cy="322282"/>
          </a:xfrm>
          <a:prstGeom prst="rect">
            <a:avLst/>
          </a:prstGeom>
        </p:spPr>
      </p:pic>
      <p:sp>
        <p:nvSpPr>
          <p:cNvPr id="677" name="文本框 676"/>
          <p:cNvSpPr txBox="1"/>
          <p:nvPr/>
        </p:nvSpPr>
        <p:spPr>
          <a:xfrm>
            <a:off x="10672780" y="6135925"/>
            <a:ext cx="118687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Resolve Conflicts</a:t>
            </a:r>
            <a:endParaRPr lang="zh-CN" altLang="en-U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2" name="文本框 691"/>
          <p:cNvSpPr txBox="1"/>
          <p:nvPr/>
        </p:nvSpPr>
        <p:spPr>
          <a:xfrm>
            <a:off x="12677221" y="5743057"/>
            <a:ext cx="118687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Claim</a:t>
            </a:r>
            <a:endParaRPr lang="en-US" altLang="zh-CN" sz="12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98" name="图形 697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077869" y="6182659"/>
            <a:ext cx="397329" cy="397329"/>
          </a:xfrm>
          <a:prstGeom prst="rect">
            <a:avLst/>
          </a:prstGeom>
        </p:spPr>
      </p:pic>
      <p:sp>
        <p:nvSpPr>
          <p:cNvPr id="699" name="箭头: 右 698"/>
          <p:cNvSpPr/>
          <p:nvPr/>
        </p:nvSpPr>
        <p:spPr>
          <a:xfrm>
            <a:off x="11987212" y="6323047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3" name="图片 70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028297" y="5805616"/>
            <a:ext cx="3262835" cy="461999"/>
          </a:xfrm>
          <a:prstGeom prst="rect">
            <a:avLst/>
          </a:prstGeom>
        </p:spPr>
      </p:pic>
      <p:pic>
        <p:nvPicPr>
          <p:cNvPr id="712" name="图片 711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44544" y="5543676"/>
            <a:ext cx="2200173" cy="1050645"/>
          </a:xfrm>
          <a:prstGeom prst="rect">
            <a:avLst/>
          </a:prstGeom>
        </p:spPr>
      </p:pic>
      <p:sp>
        <p:nvSpPr>
          <p:cNvPr id="717" name="箭头: 右 716"/>
          <p:cNvSpPr/>
          <p:nvPr/>
        </p:nvSpPr>
        <p:spPr>
          <a:xfrm>
            <a:off x="2892512" y="5967256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19" name="图形 718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3017828" y="5968477"/>
            <a:ext cx="505661" cy="505661"/>
          </a:xfrm>
          <a:prstGeom prst="rect">
            <a:avLst/>
          </a:prstGeom>
        </p:spPr>
      </p:pic>
      <p:sp>
        <p:nvSpPr>
          <p:cNvPr id="720" name="文本框 719"/>
          <p:cNvSpPr txBox="1"/>
          <p:nvPr/>
        </p:nvSpPr>
        <p:spPr>
          <a:xfrm>
            <a:off x="12677221" y="6422558"/>
            <a:ext cx="118687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ZK Proof</a:t>
            </a:r>
            <a:endParaRPr lang="en-US" altLang="zh-CN" sz="12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1" name="箭头: 右 720"/>
          <p:cNvSpPr/>
          <p:nvPr/>
        </p:nvSpPr>
        <p:spPr>
          <a:xfrm>
            <a:off x="12609328" y="5924214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2" name="连接符: 肘形 721"/>
          <p:cNvCxnSpPr>
            <a:stCxn id="593" idx="1"/>
            <a:endCxn id="405" idx="2"/>
          </p:cNvCxnSpPr>
          <p:nvPr/>
        </p:nvCxnSpPr>
        <p:spPr>
          <a:xfrm rot="10800000" flipV="1">
            <a:off x="7606707" y="5958201"/>
            <a:ext cx="1026537" cy="270929"/>
          </a:xfrm>
          <a:prstGeom prst="bentConnector4">
            <a:avLst>
              <a:gd name="adj1" fmla="val 23646"/>
              <a:gd name="adj2" fmla="val 19186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7" name="组合 726"/>
          <p:cNvGrpSpPr/>
          <p:nvPr/>
        </p:nvGrpSpPr>
        <p:grpSpPr>
          <a:xfrm>
            <a:off x="7028737" y="6561057"/>
            <a:ext cx="1462061" cy="418364"/>
            <a:chOff x="630832" y="2700057"/>
            <a:chExt cx="1462061" cy="418364"/>
          </a:xfrm>
        </p:grpSpPr>
        <p:sp>
          <p:nvSpPr>
            <p:cNvPr id="728" name="流程图: 接点 727"/>
            <p:cNvSpPr/>
            <p:nvPr/>
          </p:nvSpPr>
          <p:spPr>
            <a:xfrm>
              <a:off x="1274713" y="2700057"/>
              <a:ext cx="213779" cy="201749"/>
            </a:xfrm>
            <a:prstGeom prst="flowChartConnector">
              <a:avLst/>
            </a:prstGeom>
            <a:solidFill>
              <a:srgbClr val="0B4B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5</a:t>
              </a:r>
              <a:endParaRPr lang="zh-CN" altLang="en-US" sz="1000" b="1" dirty="0"/>
            </a:p>
          </p:txBody>
        </p:sp>
        <p:sp>
          <p:nvSpPr>
            <p:cNvPr id="729" name="文本框 728"/>
            <p:cNvSpPr txBox="1"/>
            <p:nvPr/>
          </p:nvSpPr>
          <p:spPr>
            <a:xfrm>
              <a:off x="630832" y="2864505"/>
              <a:ext cx="146206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Invoke Contract</a:t>
              </a:r>
              <a:endParaRPr lang="en-US" altLang="zh-CN" sz="10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732" name="图形 73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4718" y="1304297"/>
            <a:ext cx="616800" cy="740160"/>
          </a:xfrm>
          <a:prstGeom prst="rect">
            <a:avLst/>
          </a:prstGeom>
        </p:spPr>
      </p:pic>
      <p:pic>
        <p:nvPicPr>
          <p:cNvPr id="733" name="图形 73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1507" y="5328838"/>
            <a:ext cx="616800" cy="74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组合 173"/>
          <p:cNvGrpSpPr/>
          <p:nvPr/>
        </p:nvGrpSpPr>
        <p:grpSpPr>
          <a:xfrm>
            <a:off x="-6041280" y="2049288"/>
            <a:ext cx="5467964" cy="5186869"/>
            <a:chOff x="923833" y="-1757869"/>
            <a:chExt cx="5448378" cy="5186869"/>
          </a:xfrm>
        </p:grpSpPr>
        <p:sp>
          <p:nvSpPr>
            <p:cNvPr id="66" name="矩形: 圆角 65"/>
            <p:cNvSpPr/>
            <p:nvPr/>
          </p:nvSpPr>
          <p:spPr>
            <a:xfrm>
              <a:off x="4063591" y="-1344181"/>
              <a:ext cx="2037488" cy="4702404"/>
            </a:xfrm>
            <a:prstGeom prst="roundRect">
              <a:avLst>
                <a:gd name="adj" fmla="val 8696"/>
              </a:avLst>
            </a:prstGeom>
            <a:solidFill>
              <a:srgbClr val="FBFBFB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矩形: 圆角 66"/>
            <p:cNvSpPr/>
            <p:nvPr/>
          </p:nvSpPr>
          <p:spPr>
            <a:xfrm>
              <a:off x="1110627" y="-1344181"/>
              <a:ext cx="2317593" cy="4702403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294715" y="-330229"/>
              <a:ext cx="1978398" cy="686828"/>
              <a:chOff x="12053368" y="-889000"/>
              <a:chExt cx="1978398" cy="686828"/>
            </a:xfrm>
          </p:grpSpPr>
          <p:sp>
            <p:nvSpPr>
              <p:cNvPr id="114" name="矩形: 圆角 113"/>
              <p:cNvSpPr/>
              <p:nvPr/>
            </p:nvSpPr>
            <p:spPr>
              <a:xfrm>
                <a:off x="12053368" y="-889000"/>
                <a:ext cx="1978398" cy="686828"/>
              </a:xfrm>
              <a:prstGeom prst="roundRect">
                <a:avLst>
                  <a:gd name="adj" fmla="val 8696"/>
                </a:avLst>
              </a:prstGeom>
              <a:solidFill>
                <a:srgbClr val="F8FBFD"/>
              </a:solidFill>
              <a:ln>
                <a:solidFill>
                  <a:srgbClr val="80A0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15" name="图形 114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2144543" y="-849239"/>
                <a:ext cx="644357" cy="607307"/>
              </a:xfrm>
              <a:prstGeom prst="rect">
                <a:avLst/>
              </a:prstGeom>
            </p:spPr>
          </p:pic>
          <p:sp>
            <p:nvSpPr>
              <p:cNvPr id="116" name="文本框 115"/>
              <p:cNvSpPr txBox="1"/>
              <p:nvPr/>
            </p:nvSpPr>
            <p:spPr>
              <a:xfrm>
                <a:off x="12676530" y="-776418"/>
                <a:ext cx="1186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Agent-1</a:t>
                </a:r>
                <a:endPara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(LLM)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69" name="直接箭头连接符 68"/>
            <p:cNvCxnSpPr>
              <a:stCxn id="93" idx="1"/>
              <a:endCxn id="114" idx="3"/>
            </p:cNvCxnSpPr>
            <p:nvPr/>
          </p:nvCxnSpPr>
          <p:spPr>
            <a:xfrm flipH="1">
              <a:off x="3273113" y="-299010"/>
              <a:ext cx="948268" cy="31219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69"/>
            <p:cNvGrpSpPr/>
            <p:nvPr/>
          </p:nvGrpSpPr>
          <p:grpSpPr>
            <a:xfrm>
              <a:off x="1294715" y="518932"/>
              <a:ext cx="1978398" cy="686828"/>
              <a:chOff x="12053368" y="-36362"/>
              <a:chExt cx="1978398" cy="686828"/>
            </a:xfrm>
          </p:grpSpPr>
          <p:sp>
            <p:nvSpPr>
              <p:cNvPr id="111" name="矩形: 圆角 110"/>
              <p:cNvSpPr/>
              <p:nvPr/>
            </p:nvSpPr>
            <p:spPr>
              <a:xfrm>
                <a:off x="12053368" y="-36362"/>
                <a:ext cx="1978398" cy="686828"/>
              </a:xfrm>
              <a:prstGeom prst="roundRect">
                <a:avLst>
                  <a:gd name="adj" fmla="val 8696"/>
                </a:avLst>
              </a:prstGeom>
              <a:solidFill>
                <a:srgbClr val="F8FBFD"/>
              </a:solidFill>
              <a:ln>
                <a:solidFill>
                  <a:srgbClr val="80A0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2" name="图形 111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122642" y="-17242"/>
                <a:ext cx="688158" cy="648589"/>
              </a:xfrm>
              <a:prstGeom prst="rect">
                <a:avLst/>
              </a:prstGeom>
            </p:spPr>
          </p:pic>
          <p:sp>
            <p:nvSpPr>
              <p:cNvPr id="113" name="文本框 112"/>
              <p:cNvSpPr txBox="1"/>
              <p:nvPr/>
            </p:nvSpPr>
            <p:spPr>
              <a:xfrm>
                <a:off x="12676530" y="76220"/>
                <a:ext cx="1186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Agent-1</a:t>
                </a:r>
                <a:endPara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(LLM)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294715" y="1368093"/>
              <a:ext cx="1978398" cy="686828"/>
              <a:chOff x="12053368" y="811796"/>
              <a:chExt cx="1978398" cy="686828"/>
            </a:xfrm>
          </p:grpSpPr>
          <p:sp>
            <p:nvSpPr>
              <p:cNvPr id="108" name="矩形: 圆角 107"/>
              <p:cNvSpPr/>
              <p:nvPr/>
            </p:nvSpPr>
            <p:spPr>
              <a:xfrm>
                <a:off x="12053368" y="811796"/>
                <a:ext cx="1978398" cy="686828"/>
              </a:xfrm>
              <a:prstGeom prst="roundRect">
                <a:avLst>
                  <a:gd name="adj" fmla="val 8696"/>
                </a:avLst>
              </a:prstGeom>
              <a:solidFill>
                <a:srgbClr val="F8FBFD"/>
              </a:solidFill>
              <a:ln>
                <a:solidFill>
                  <a:srgbClr val="80A0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9" name="图形 108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122642" y="830916"/>
                <a:ext cx="688158" cy="648589"/>
              </a:xfrm>
              <a:prstGeom prst="rect">
                <a:avLst/>
              </a:prstGeom>
            </p:spPr>
          </p:pic>
          <p:sp>
            <p:nvSpPr>
              <p:cNvPr id="110" name="文本框 109"/>
              <p:cNvSpPr txBox="1"/>
              <p:nvPr/>
            </p:nvSpPr>
            <p:spPr>
              <a:xfrm>
                <a:off x="12676530" y="924378"/>
                <a:ext cx="1186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Agent-1</a:t>
                </a:r>
                <a:endPara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(LLM)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294715" y="2217253"/>
              <a:ext cx="1978398" cy="686828"/>
              <a:chOff x="12053368" y="1658482"/>
              <a:chExt cx="1978398" cy="686828"/>
            </a:xfrm>
          </p:grpSpPr>
          <p:sp>
            <p:nvSpPr>
              <p:cNvPr id="105" name="矩形: 圆角 104"/>
              <p:cNvSpPr/>
              <p:nvPr/>
            </p:nvSpPr>
            <p:spPr>
              <a:xfrm>
                <a:off x="12053368" y="1658482"/>
                <a:ext cx="1978398" cy="686828"/>
              </a:xfrm>
              <a:prstGeom prst="roundRect">
                <a:avLst>
                  <a:gd name="adj" fmla="val 8696"/>
                </a:avLst>
              </a:prstGeom>
              <a:solidFill>
                <a:srgbClr val="F8FBFD"/>
              </a:solidFill>
              <a:ln>
                <a:solidFill>
                  <a:srgbClr val="80A0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06" name="图形 105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122642" y="1677602"/>
                <a:ext cx="688158" cy="648589"/>
              </a:xfrm>
              <a:prstGeom prst="rect">
                <a:avLst/>
              </a:prstGeom>
            </p:spPr>
          </p:pic>
          <p:sp>
            <p:nvSpPr>
              <p:cNvPr id="107" name="文本框 106"/>
              <p:cNvSpPr txBox="1"/>
              <p:nvPr/>
            </p:nvSpPr>
            <p:spPr>
              <a:xfrm>
                <a:off x="12676530" y="1771064"/>
                <a:ext cx="1186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Agent-1</a:t>
                </a:r>
                <a:endParaRPr lang="en-US" altLang="zh-CN" sz="12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(LLM)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本框 72"/>
            <p:cNvSpPr txBox="1"/>
            <p:nvPr/>
          </p:nvSpPr>
          <p:spPr>
            <a:xfrm>
              <a:off x="4174491" y="-1306276"/>
              <a:ext cx="18156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chemeClr val="accent6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Hybrid Evidence Sources</a:t>
              </a:r>
              <a:endParaRPr lang="zh-CN" altLang="en-US" sz="1600" b="1" i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221381" y="249219"/>
              <a:ext cx="1721908" cy="904282"/>
              <a:chOff x="12849079" y="1350870"/>
              <a:chExt cx="1721908" cy="904282"/>
            </a:xfrm>
          </p:grpSpPr>
          <p:sp>
            <p:nvSpPr>
              <p:cNvPr id="102" name="矩形: 圆角 101"/>
              <p:cNvSpPr/>
              <p:nvPr/>
            </p:nvSpPr>
            <p:spPr>
              <a:xfrm>
                <a:off x="12849079" y="1350870"/>
                <a:ext cx="1670767" cy="904282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13384113" y="1664512"/>
                <a:ext cx="118687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News Articles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4" name="图形 103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2942515" y="1540804"/>
                <a:ext cx="524415" cy="524415"/>
              </a:xfrm>
              <a:prstGeom prst="rect">
                <a:avLst/>
              </a:prstGeom>
            </p:spPr>
          </p:pic>
        </p:grpSp>
        <p:grpSp>
          <p:nvGrpSpPr>
            <p:cNvPr id="75" name="组合 74"/>
            <p:cNvGrpSpPr/>
            <p:nvPr/>
          </p:nvGrpSpPr>
          <p:grpSpPr>
            <a:xfrm>
              <a:off x="4221381" y="1249589"/>
              <a:ext cx="1721908" cy="904282"/>
              <a:chOff x="12849079" y="2458284"/>
              <a:chExt cx="1721908" cy="904282"/>
            </a:xfrm>
          </p:grpSpPr>
          <p:sp>
            <p:nvSpPr>
              <p:cNvPr id="99" name="矩形: 圆角 98"/>
              <p:cNvSpPr/>
              <p:nvPr/>
            </p:nvSpPr>
            <p:spPr>
              <a:xfrm>
                <a:off x="12849079" y="2458284"/>
                <a:ext cx="1670767" cy="904282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3384113" y="2771926"/>
                <a:ext cx="118687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Web Pages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1" name="图形 100"/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2998666" y="2704369"/>
                <a:ext cx="412113" cy="412113"/>
              </a:xfrm>
              <a:prstGeom prst="rect">
                <a:avLst/>
              </a:prstGeom>
            </p:spPr>
          </p:pic>
        </p:grpSp>
        <p:grpSp>
          <p:nvGrpSpPr>
            <p:cNvPr id="76" name="组合 75"/>
            <p:cNvGrpSpPr/>
            <p:nvPr/>
          </p:nvGrpSpPr>
          <p:grpSpPr>
            <a:xfrm>
              <a:off x="4221381" y="2249960"/>
              <a:ext cx="1721908" cy="904282"/>
              <a:chOff x="12849079" y="3565697"/>
              <a:chExt cx="1721908" cy="904282"/>
            </a:xfrm>
          </p:grpSpPr>
          <p:sp>
            <p:nvSpPr>
              <p:cNvPr id="96" name="矩形: 圆角 95"/>
              <p:cNvSpPr/>
              <p:nvPr/>
            </p:nvSpPr>
            <p:spPr>
              <a:xfrm>
                <a:off x="12849079" y="3565697"/>
                <a:ext cx="1670767" cy="904282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13384113" y="3787006"/>
                <a:ext cx="118687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Documents(PDF, Reports)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98" name="图形 97"/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981041" y="3807968"/>
                <a:ext cx="351931" cy="419740"/>
              </a:xfrm>
              <a:prstGeom prst="rect">
                <a:avLst/>
              </a:prstGeom>
            </p:spPr>
          </p:pic>
        </p:grpSp>
        <p:grpSp>
          <p:nvGrpSpPr>
            <p:cNvPr id="77" name="组合 76"/>
            <p:cNvGrpSpPr/>
            <p:nvPr/>
          </p:nvGrpSpPr>
          <p:grpSpPr>
            <a:xfrm>
              <a:off x="4221381" y="-751151"/>
              <a:ext cx="1721908" cy="904282"/>
              <a:chOff x="12849079" y="243456"/>
              <a:chExt cx="1721908" cy="904282"/>
            </a:xfrm>
          </p:grpSpPr>
          <p:sp>
            <p:nvSpPr>
              <p:cNvPr id="93" name="矩形: 圆角 92"/>
              <p:cNvSpPr/>
              <p:nvPr/>
            </p:nvSpPr>
            <p:spPr>
              <a:xfrm>
                <a:off x="12849079" y="243456"/>
                <a:ext cx="1670767" cy="904282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13384113" y="372432"/>
                <a:ext cx="118687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Structured Feeds(Prices, Stats, APIs)</a:t>
                </a:r>
                <a:endParaRPr lang="zh-CN" altLang="en-US" sz="1200" b="1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95" name="图形 94"/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3012131" y="503006"/>
                <a:ext cx="385182" cy="385182"/>
              </a:xfrm>
              <a:prstGeom prst="rect">
                <a:avLst/>
              </a:prstGeom>
            </p:spPr>
          </p:pic>
        </p:grpSp>
        <p:cxnSp>
          <p:nvCxnSpPr>
            <p:cNvPr id="78" name="直接箭头连接符 77"/>
            <p:cNvCxnSpPr>
              <a:stCxn id="102" idx="1"/>
              <a:endCxn id="114" idx="3"/>
            </p:cNvCxnSpPr>
            <p:nvPr/>
          </p:nvCxnSpPr>
          <p:spPr>
            <a:xfrm flipH="1" flipV="1">
              <a:off x="3273113" y="13185"/>
              <a:ext cx="948268" cy="68817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>
              <a:stCxn id="99" idx="1"/>
              <a:endCxn id="114" idx="3"/>
            </p:cNvCxnSpPr>
            <p:nvPr/>
          </p:nvCxnSpPr>
          <p:spPr>
            <a:xfrm flipH="1" flipV="1">
              <a:off x="3273113" y="13185"/>
              <a:ext cx="948268" cy="168854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>
              <a:stCxn id="93" idx="1"/>
              <a:endCxn id="111" idx="3"/>
            </p:cNvCxnSpPr>
            <p:nvPr/>
          </p:nvCxnSpPr>
          <p:spPr>
            <a:xfrm flipH="1">
              <a:off x="3273113" y="-299010"/>
              <a:ext cx="948268" cy="116135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stCxn id="93" idx="1"/>
              <a:endCxn id="108" idx="3"/>
            </p:cNvCxnSpPr>
            <p:nvPr/>
          </p:nvCxnSpPr>
          <p:spPr>
            <a:xfrm flipH="1">
              <a:off x="3273113" y="-299010"/>
              <a:ext cx="948268" cy="201051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>
              <a:stCxn id="96" idx="1"/>
              <a:endCxn id="105" idx="3"/>
            </p:cNvCxnSpPr>
            <p:nvPr/>
          </p:nvCxnSpPr>
          <p:spPr>
            <a:xfrm flipH="1" flipV="1">
              <a:off x="3273113" y="2560667"/>
              <a:ext cx="948268" cy="14143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>
              <a:stCxn id="99" idx="1"/>
              <a:endCxn id="105" idx="3"/>
            </p:cNvCxnSpPr>
            <p:nvPr/>
          </p:nvCxnSpPr>
          <p:spPr>
            <a:xfrm flipH="1">
              <a:off x="3273113" y="1701730"/>
              <a:ext cx="948268" cy="8589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1363989" y="-1112604"/>
              <a:ext cx="17258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Oracle Network</a:t>
              </a:r>
              <a:endPara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600" b="1" i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(Semantic Layer)</a:t>
              </a:r>
              <a:endParaRPr lang="zh-CN" altLang="en-US" sz="16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左大括号 84"/>
            <p:cNvSpPr/>
            <p:nvPr/>
          </p:nvSpPr>
          <p:spPr>
            <a:xfrm>
              <a:off x="1132881" y="13185"/>
              <a:ext cx="177901" cy="2547482"/>
            </a:xfrm>
            <a:prstGeom prst="leftBrace">
              <a:avLst>
                <a:gd name="adj1" fmla="val 8333"/>
                <a:gd name="adj2" fmla="val 4935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1733568" y="-1715402"/>
              <a:ext cx="4027358" cy="338554"/>
              <a:chOff x="1343299" y="-170266"/>
              <a:chExt cx="4027358" cy="338554"/>
            </a:xfrm>
          </p:grpSpPr>
          <p:sp>
            <p:nvSpPr>
              <p:cNvPr id="89" name="文本框 88"/>
              <p:cNvSpPr txBox="1"/>
              <p:nvPr/>
            </p:nvSpPr>
            <p:spPr>
              <a:xfrm>
                <a:off x="1443896" y="-170266"/>
                <a:ext cx="392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Hybrid Evidence Collection by Multi-Agents</a:t>
                </a:r>
                <a:endParaRPr lang="zh-CN" altLang="en-US" sz="1600" b="1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流程图: 接点 89"/>
              <p:cNvSpPr/>
              <p:nvPr/>
            </p:nvSpPr>
            <p:spPr>
              <a:xfrm>
                <a:off x="1343299" y="-100874"/>
                <a:ext cx="213779" cy="201749"/>
              </a:xfrm>
              <a:prstGeom prst="flowChartConnector">
                <a:avLst/>
              </a:prstGeom>
              <a:solidFill>
                <a:srgbClr val="0547A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b="1" dirty="0"/>
                  <a:t>3</a:t>
                </a:r>
                <a:endParaRPr lang="zh-CN" altLang="en-US" sz="1000" b="1" dirty="0"/>
              </a:p>
            </p:txBody>
          </p:sp>
        </p:grpSp>
        <p:sp>
          <p:nvSpPr>
            <p:cNvPr id="88" name="矩形: 圆角 87"/>
            <p:cNvSpPr/>
            <p:nvPr/>
          </p:nvSpPr>
          <p:spPr>
            <a:xfrm>
              <a:off x="923833" y="-1757869"/>
              <a:ext cx="5448378" cy="5186869"/>
            </a:xfrm>
            <a:prstGeom prst="roundRect">
              <a:avLst>
                <a:gd name="adj" fmla="val 2988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-2975242" y="262368"/>
            <a:ext cx="2153988" cy="1478370"/>
            <a:chOff x="2100379" y="681049"/>
            <a:chExt cx="1986564" cy="1328158"/>
          </a:xfrm>
        </p:grpSpPr>
        <p:cxnSp>
          <p:nvCxnSpPr>
            <p:cNvPr id="46" name="直接连接符 45"/>
            <p:cNvCxnSpPr/>
            <p:nvPr/>
          </p:nvCxnSpPr>
          <p:spPr>
            <a:xfrm>
              <a:off x="2413907" y="902200"/>
              <a:ext cx="1451885" cy="0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3334404" y="902199"/>
              <a:ext cx="292685" cy="0"/>
            </a:xfrm>
            <a:prstGeom prst="line">
              <a:avLst/>
            </a:prstGeom>
            <a:ln w="19050" cap="flat" cmpd="sng" algn="ctr">
              <a:solidFill>
                <a:srgbClr val="494E5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8" name="图形 47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874550" y="681049"/>
              <a:ext cx="442301" cy="442301"/>
            </a:xfrm>
            <a:prstGeom prst="rect">
              <a:avLst/>
            </a:prstGeom>
          </p:spPr>
        </p:pic>
        <p:pic>
          <p:nvPicPr>
            <p:cNvPr id="49" name="图形 48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104456" y="681049"/>
              <a:ext cx="442301" cy="442301"/>
            </a:xfrm>
            <a:prstGeom prst="rect">
              <a:avLst/>
            </a:prstGeom>
          </p:spPr>
        </p:pic>
        <p:pic>
          <p:nvPicPr>
            <p:cNvPr id="50" name="图形 49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644642" y="681049"/>
              <a:ext cx="442301" cy="442301"/>
            </a:xfrm>
            <a:prstGeom prst="rect">
              <a:avLst/>
            </a:prstGeom>
          </p:spPr>
        </p:pic>
        <p:cxnSp>
          <p:nvCxnSpPr>
            <p:cNvPr id="51" name="直接连接符 50"/>
            <p:cNvCxnSpPr/>
            <p:nvPr/>
          </p:nvCxnSpPr>
          <p:spPr>
            <a:xfrm>
              <a:off x="2409830" y="1788057"/>
              <a:ext cx="1451885" cy="0"/>
            </a:xfrm>
            <a:prstGeom prst="line">
              <a:avLst/>
            </a:prstGeom>
            <a:ln w="19050" cap="flat" cmpd="sng" algn="ctr">
              <a:solidFill>
                <a:srgbClr val="494E5B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3330327" y="1788056"/>
              <a:ext cx="292685" cy="0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53" name="图形 52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870473" y="1566906"/>
              <a:ext cx="442301" cy="442301"/>
            </a:xfrm>
            <a:prstGeom prst="rect">
              <a:avLst/>
            </a:prstGeom>
          </p:spPr>
        </p:pic>
        <p:pic>
          <p:nvPicPr>
            <p:cNvPr id="54" name="图形 5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100379" y="1566906"/>
              <a:ext cx="442301" cy="442301"/>
            </a:xfrm>
            <a:prstGeom prst="rect">
              <a:avLst/>
            </a:prstGeom>
          </p:spPr>
        </p:pic>
        <p:pic>
          <p:nvPicPr>
            <p:cNvPr id="55" name="图形 54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640565" y="1566906"/>
              <a:ext cx="442301" cy="442301"/>
            </a:xfrm>
            <a:prstGeom prst="rect">
              <a:avLst/>
            </a:prstGeom>
          </p:spPr>
        </p:pic>
        <p:cxnSp>
          <p:nvCxnSpPr>
            <p:cNvPr id="56" name="直接连接符 55"/>
            <p:cNvCxnSpPr/>
            <p:nvPr/>
          </p:nvCxnSpPr>
          <p:spPr>
            <a:xfrm>
              <a:off x="2477772" y="1053785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3248370" y="1045622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>
              <a:off x="2468395" y="1042901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3238993" y="1034738"/>
              <a:ext cx="468492" cy="597758"/>
            </a:xfrm>
            <a:prstGeom prst="line">
              <a:avLst/>
            </a:prstGeom>
            <a:ln w="19050" cap="flat" cmpd="sng" algn="ctr">
              <a:solidFill>
                <a:srgbClr val="0547A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0" name="文本框 59"/>
          <p:cNvSpPr txBox="1"/>
          <p:nvPr/>
        </p:nvSpPr>
        <p:spPr>
          <a:xfrm>
            <a:off x="-2975242" y="-126024"/>
            <a:ext cx="2153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 Nodes</a:t>
            </a:r>
            <a:endParaRPr lang="zh-CN" altLang="en-US" sz="1400" b="1" i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-3182283" y="-496784"/>
            <a:ext cx="2700322" cy="338554"/>
            <a:chOff x="1343299" y="-163248"/>
            <a:chExt cx="2700322" cy="338554"/>
          </a:xfrm>
        </p:grpSpPr>
        <p:sp>
          <p:nvSpPr>
            <p:cNvPr id="118" name="文本框 117"/>
            <p:cNvSpPr txBox="1"/>
            <p:nvPr/>
          </p:nvSpPr>
          <p:spPr>
            <a:xfrm>
              <a:off x="1464057" y="-163248"/>
              <a:ext cx="25795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Dispatch to Oracle Network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流程图: 接点 118"/>
            <p:cNvSpPr/>
            <p:nvPr/>
          </p:nvSpPr>
          <p:spPr>
            <a:xfrm>
              <a:off x="1343299" y="-100874"/>
              <a:ext cx="213779" cy="201749"/>
            </a:xfrm>
            <a:prstGeom prst="flowChartConnector">
              <a:avLst/>
            </a:prstGeom>
            <a:solidFill>
              <a:srgbClr val="0547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2</a:t>
              </a:r>
              <a:endParaRPr lang="zh-CN" altLang="en-US" sz="1000" b="1" dirty="0"/>
            </a:p>
          </p:txBody>
        </p:sp>
      </p:grpSp>
      <p:sp>
        <p:nvSpPr>
          <p:cNvPr id="120" name="矩形: 圆角 119"/>
          <p:cNvSpPr/>
          <p:nvPr/>
        </p:nvSpPr>
        <p:spPr>
          <a:xfrm>
            <a:off x="-3246466" y="-577935"/>
            <a:ext cx="2709953" cy="2527897"/>
          </a:xfrm>
          <a:prstGeom prst="roundRect">
            <a:avLst>
              <a:gd name="adj" fmla="val 4853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75" name="组合 174"/>
          <p:cNvGrpSpPr/>
          <p:nvPr/>
        </p:nvGrpSpPr>
        <p:grpSpPr>
          <a:xfrm>
            <a:off x="1867265" y="-547407"/>
            <a:ext cx="2302770" cy="584775"/>
            <a:chOff x="7365557" y="-1708882"/>
            <a:chExt cx="2302770" cy="584775"/>
          </a:xfrm>
        </p:grpSpPr>
        <p:sp>
          <p:nvSpPr>
            <p:cNvPr id="130" name="文本框 129"/>
            <p:cNvSpPr txBox="1"/>
            <p:nvPr/>
          </p:nvSpPr>
          <p:spPr>
            <a:xfrm>
              <a:off x="7526519" y="-1708882"/>
              <a:ext cx="2141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Robust Trust Discovery</a:t>
              </a:r>
              <a:endParaRPr lang="en-US" altLang="zh-CN" sz="16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(Claim Aggregation)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流程图: 接点 130"/>
            <p:cNvSpPr/>
            <p:nvPr/>
          </p:nvSpPr>
          <p:spPr>
            <a:xfrm>
              <a:off x="7365557" y="-1517369"/>
              <a:ext cx="213779" cy="201749"/>
            </a:xfrm>
            <a:prstGeom prst="flowChartConnector">
              <a:avLst/>
            </a:prstGeom>
            <a:solidFill>
              <a:srgbClr val="0547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4</a:t>
              </a:r>
              <a:endParaRPr lang="zh-CN" altLang="en-US" sz="1000" b="1" dirty="0"/>
            </a:p>
          </p:txBody>
        </p:sp>
      </p:grpSp>
      <p:sp>
        <p:nvSpPr>
          <p:cNvPr id="169" name="矩形: 圆角 168"/>
          <p:cNvSpPr/>
          <p:nvPr/>
        </p:nvSpPr>
        <p:spPr>
          <a:xfrm>
            <a:off x="-451648" y="-578921"/>
            <a:ext cx="6956648" cy="7814092"/>
          </a:xfrm>
          <a:prstGeom prst="roundRect">
            <a:avLst>
              <a:gd name="adj" fmla="val 22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" name="矩形: 圆角 182"/>
          <p:cNvSpPr/>
          <p:nvPr/>
        </p:nvSpPr>
        <p:spPr>
          <a:xfrm>
            <a:off x="-6041280" y="-572071"/>
            <a:ext cx="2709949" cy="2527897"/>
          </a:xfrm>
          <a:prstGeom prst="roundRect">
            <a:avLst>
              <a:gd name="adj" fmla="val 4853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84" name="组合 183"/>
          <p:cNvGrpSpPr/>
          <p:nvPr/>
        </p:nvGrpSpPr>
        <p:grpSpPr>
          <a:xfrm>
            <a:off x="-5529827" y="-496784"/>
            <a:ext cx="1705346" cy="338554"/>
            <a:chOff x="1343299" y="-174815"/>
            <a:chExt cx="1705346" cy="338554"/>
          </a:xfrm>
        </p:grpSpPr>
        <p:sp>
          <p:nvSpPr>
            <p:cNvPr id="185" name="文本框 184"/>
            <p:cNvSpPr txBox="1"/>
            <p:nvPr/>
          </p:nvSpPr>
          <p:spPr>
            <a:xfrm>
              <a:off x="1493375" y="-174815"/>
              <a:ext cx="15552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On-Chain Query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6" name="流程图: 接点 185"/>
            <p:cNvSpPr/>
            <p:nvPr/>
          </p:nvSpPr>
          <p:spPr>
            <a:xfrm>
              <a:off x="1343299" y="-100874"/>
              <a:ext cx="213779" cy="201749"/>
            </a:xfrm>
            <a:prstGeom prst="flowChartConnector">
              <a:avLst/>
            </a:prstGeom>
            <a:solidFill>
              <a:srgbClr val="0547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1</a:t>
              </a:r>
              <a:endParaRPr lang="zh-CN" altLang="en-US" sz="1000" b="1" dirty="0"/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-6239682" y="163039"/>
            <a:ext cx="1756426" cy="1651402"/>
            <a:chOff x="-3249790" y="1622158"/>
            <a:chExt cx="1756426" cy="1651402"/>
          </a:xfrm>
        </p:grpSpPr>
        <p:sp>
          <p:nvSpPr>
            <p:cNvPr id="227" name="文本框 226"/>
            <p:cNvSpPr txBox="1"/>
            <p:nvPr/>
          </p:nvSpPr>
          <p:spPr>
            <a:xfrm>
              <a:off x="-3249790" y="1676688"/>
              <a:ext cx="1756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 Contract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3" name="组合 232"/>
            <p:cNvGrpSpPr/>
            <p:nvPr/>
          </p:nvGrpSpPr>
          <p:grpSpPr>
            <a:xfrm>
              <a:off x="-2988129" y="1622158"/>
              <a:ext cx="1257374" cy="1651402"/>
              <a:chOff x="-2988129" y="1622158"/>
              <a:chExt cx="1257374" cy="1651402"/>
            </a:xfrm>
          </p:grpSpPr>
          <p:pic>
            <p:nvPicPr>
              <p:cNvPr id="226" name="图形 225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2679977" y="1997628"/>
                <a:ext cx="616800" cy="74016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8" name="文本框 227"/>
                  <p:cNvSpPr txBox="1"/>
                  <p:nvPr/>
                </p:nvSpPr>
                <p:spPr>
                  <a:xfrm>
                    <a:off x="-2970907" y="2808566"/>
                    <a:ext cx="1198661" cy="40011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1400" i="1" dirty="0"/>
                  </a:p>
                  <a:p>
                    <a:pPr algn="ctr"/>
                    <a:r>
                      <a:rPr lang="en-US" altLang="zh-CN" sz="1200" i="1" dirty="0" err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object,type,params</a:t>
                    </a:r>
                    <a:endParaRPr lang="zh-CN" altLang="en-US" sz="1200" i="1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>
              <p:sp>
                <p:nvSpPr>
                  <p:cNvPr id="228" name="文本框 2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970907" y="2808566"/>
                    <a:ext cx="1198661" cy="400110"/>
                  </a:xfrm>
                  <a:prstGeom prst="rect">
                    <a:avLst/>
                  </a:prstGeom>
                  <a:blipFill rotWithShape="1">
                    <a:blip r:embed="rId2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2" name="矩形: 圆角 231"/>
              <p:cNvSpPr/>
              <p:nvPr/>
            </p:nvSpPr>
            <p:spPr>
              <a:xfrm>
                <a:off x="-2988129" y="1622158"/>
                <a:ext cx="1257374" cy="1651402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237" name="组合 236"/>
          <p:cNvGrpSpPr/>
          <p:nvPr/>
        </p:nvGrpSpPr>
        <p:grpSpPr>
          <a:xfrm>
            <a:off x="-4906690" y="155452"/>
            <a:ext cx="1756426" cy="1651402"/>
            <a:chOff x="-3249790" y="1622158"/>
            <a:chExt cx="1756426" cy="1651402"/>
          </a:xfrm>
        </p:grpSpPr>
        <p:sp>
          <p:nvSpPr>
            <p:cNvPr id="238" name="文本框 237"/>
            <p:cNvSpPr txBox="1"/>
            <p:nvPr/>
          </p:nvSpPr>
          <p:spPr>
            <a:xfrm>
              <a:off x="-3249790" y="1676688"/>
              <a:ext cx="1756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Oracle Contract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9" name="组合 238"/>
            <p:cNvGrpSpPr/>
            <p:nvPr/>
          </p:nvGrpSpPr>
          <p:grpSpPr>
            <a:xfrm>
              <a:off x="-2988129" y="1622158"/>
              <a:ext cx="1257374" cy="1651402"/>
              <a:chOff x="-2988129" y="1622158"/>
              <a:chExt cx="1257374" cy="1651402"/>
            </a:xfrm>
          </p:grpSpPr>
          <p:pic>
            <p:nvPicPr>
              <p:cNvPr id="240" name="图形 239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-2679977" y="1997628"/>
                <a:ext cx="616800" cy="74016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1" name="文本框 240"/>
                  <p:cNvSpPr txBox="1"/>
                  <p:nvPr/>
                </p:nvSpPr>
                <p:spPr>
                  <a:xfrm>
                    <a:off x="-2692659" y="2765424"/>
                    <a:ext cx="773097" cy="4616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1600" i="1" dirty="0"/>
                  </a:p>
                  <a:p>
                    <a:pPr algn="ctr"/>
                    <a:r>
                      <a:rPr lang="en-US" altLang="zh-CN" sz="1400" i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Emit event</a:t>
                    </a:r>
                    <a:endParaRPr lang="zh-CN" altLang="en-US" sz="1400" i="1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mc:Choice>
            <mc:Fallback>
              <p:sp>
                <p:nvSpPr>
                  <p:cNvPr id="241" name="文本框 2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692659" y="2765424"/>
                    <a:ext cx="773097" cy="461665"/>
                  </a:xfrm>
                  <a:prstGeom prst="rect">
                    <a:avLst/>
                  </a:prstGeom>
                  <a:blipFill rotWithShape="1">
                    <a:blip r:embed="rId2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2" name="矩形: 圆角 241"/>
              <p:cNvSpPr/>
              <p:nvPr/>
            </p:nvSpPr>
            <p:spPr>
              <a:xfrm>
                <a:off x="-2988129" y="1622158"/>
                <a:ext cx="1257374" cy="1651402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cxnSp>
        <p:nvCxnSpPr>
          <p:cNvPr id="62" name="直接箭头连接符 61"/>
          <p:cNvCxnSpPr/>
          <p:nvPr/>
        </p:nvCxnSpPr>
        <p:spPr>
          <a:xfrm rot="16200000">
            <a:off x="-4677154" y="846503"/>
            <a:ext cx="0" cy="3100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组合 246"/>
          <p:cNvGrpSpPr/>
          <p:nvPr/>
        </p:nvGrpSpPr>
        <p:grpSpPr>
          <a:xfrm>
            <a:off x="8901980" y="-547407"/>
            <a:ext cx="2302770" cy="584775"/>
            <a:chOff x="7365557" y="-1708882"/>
            <a:chExt cx="2302770" cy="584775"/>
          </a:xfrm>
        </p:grpSpPr>
        <p:sp>
          <p:nvSpPr>
            <p:cNvPr id="248" name="文本框 247"/>
            <p:cNvSpPr txBox="1"/>
            <p:nvPr/>
          </p:nvSpPr>
          <p:spPr>
            <a:xfrm>
              <a:off x="7526519" y="-1708882"/>
              <a:ext cx="2141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Robust Trust Discovery</a:t>
              </a:r>
              <a:endParaRPr lang="en-US" altLang="zh-CN" sz="16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(Claim Aggregation)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9" name="流程图: 接点 248"/>
            <p:cNvSpPr/>
            <p:nvPr/>
          </p:nvSpPr>
          <p:spPr>
            <a:xfrm>
              <a:off x="7365557" y="-1517369"/>
              <a:ext cx="213779" cy="201749"/>
            </a:xfrm>
            <a:prstGeom prst="flowChartConnector">
              <a:avLst/>
            </a:prstGeom>
            <a:solidFill>
              <a:srgbClr val="0547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5</a:t>
              </a:r>
              <a:endParaRPr lang="zh-CN" altLang="en-US" sz="1000" b="1" dirty="0"/>
            </a:p>
          </p:txBody>
        </p:sp>
      </p:grpSp>
      <p:pic>
        <p:nvPicPr>
          <p:cNvPr id="252" name="图形 251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1798" y="90522"/>
            <a:ext cx="320153" cy="3201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文本框 252"/>
              <p:cNvSpPr txBox="1"/>
              <p:nvPr/>
            </p:nvSpPr>
            <p:spPr>
              <a:xfrm>
                <a:off x="1005195" y="96710"/>
                <a:ext cx="29042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i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Source Trust Memory </a:t>
                </a:r>
                <a:r>
                  <a:rPr lang="en-US" altLang="zh-CN" sz="14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(per source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en-US" altLang="zh-CN" sz="14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zh-CN" altLang="en-US" sz="1400" i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53" name="文本框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195" y="96710"/>
                <a:ext cx="2904295" cy="307777"/>
              </a:xfrm>
              <a:prstGeom prst="rect">
                <a:avLst/>
              </a:prstGeom>
              <a:blipFill rotWithShape="1">
                <a:blip r:embed="rId25"/>
                <a:stretch>
                  <a:fillRect l="-22" t="-62" r="15" b="-65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文本框 254"/>
              <p:cNvSpPr txBox="1"/>
              <p:nvPr/>
            </p:nvSpPr>
            <p:spPr>
              <a:xfrm>
                <a:off x="3812734" y="1812"/>
                <a:ext cx="1191141" cy="497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5" name="文本框 2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734" y="1812"/>
                <a:ext cx="1191141" cy="497572"/>
              </a:xfrm>
              <a:prstGeom prst="rect">
                <a:avLst/>
              </a:prstGeom>
              <a:blipFill rotWithShape="1">
                <a:blip r:embed="rId26"/>
                <a:stretch>
                  <a:fillRect l="-16" t="-109" r="6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2" name="组合 271"/>
          <p:cNvGrpSpPr/>
          <p:nvPr/>
        </p:nvGrpSpPr>
        <p:grpSpPr>
          <a:xfrm>
            <a:off x="-265323" y="519452"/>
            <a:ext cx="6567947" cy="2176520"/>
            <a:chOff x="2517788" y="2072483"/>
            <a:chExt cx="6567947" cy="2176520"/>
          </a:xfrm>
        </p:grpSpPr>
        <p:sp>
          <p:nvSpPr>
            <p:cNvPr id="257" name="文本框 256"/>
            <p:cNvSpPr txBox="1"/>
            <p:nvPr/>
          </p:nvSpPr>
          <p:spPr>
            <a:xfrm>
              <a:off x="4004365" y="2072483"/>
              <a:ext cx="35947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Numerical Channel (Value Aggregation)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9" name="矩形: 圆角 258"/>
            <p:cNvSpPr/>
            <p:nvPr/>
          </p:nvSpPr>
          <p:spPr>
            <a:xfrm>
              <a:off x="2517788" y="2089771"/>
              <a:ext cx="6567947" cy="2159232"/>
            </a:xfrm>
            <a:prstGeom prst="roundRect">
              <a:avLst>
                <a:gd name="adj" fmla="val 485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5" name="组合 274"/>
          <p:cNvGrpSpPr/>
          <p:nvPr/>
        </p:nvGrpSpPr>
        <p:grpSpPr>
          <a:xfrm>
            <a:off x="-270187" y="2747332"/>
            <a:ext cx="6567947" cy="2176520"/>
            <a:chOff x="2517788" y="2072483"/>
            <a:chExt cx="6567947" cy="2176520"/>
          </a:xfrm>
        </p:grpSpPr>
        <p:sp>
          <p:nvSpPr>
            <p:cNvPr id="276" name="文本框 275"/>
            <p:cNvSpPr txBox="1"/>
            <p:nvPr/>
          </p:nvSpPr>
          <p:spPr>
            <a:xfrm>
              <a:off x="4004365" y="2072483"/>
              <a:ext cx="35947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Textual Channel (Claim Selection)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7" name="矩形: 圆角 276"/>
            <p:cNvSpPr/>
            <p:nvPr/>
          </p:nvSpPr>
          <p:spPr>
            <a:xfrm>
              <a:off x="2517788" y="2089771"/>
              <a:ext cx="6567947" cy="2159232"/>
            </a:xfrm>
            <a:prstGeom prst="roundRect">
              <a:avLst>
                <a:gd name="adj" fmla="val 485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-266107" y="4972549"/>
            <a:ext cx="6567947" cy="2176520"/>
            <a:chOff x="2517788" y="2072483"/>
            <a:chExt cx="6567947" cy="2176520"/>
          </a:xfrm>
        </p:grpSpPr>
        <p:sp>
          <p:nvSpPr>
            <p:cNvPr id="279" name="文本框 278"/>
            <p:cNvSpPr txBox="1"/>
            <p:nvPr/>
          </p:nvSpPr>
          <p:spPr>
            <a:xfrm>
              <a:off x="4004365" y="2072483"/>
              <a:ext cx="35947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Cross-Batch Reliability Update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0" name="矩形: 圆角 279"/>
            <p:cNvSpPr/>
            <p:nvPr/>
          </p:nvSpPr>
          <p:spPr>
            <a:xfrm>
              <a:off x="2517788" y="2089771"/>
              <a:ext cx="6567947" cy="2159232"/>
            </a:xfrm>
            <a:prstGeom prst="roundRect">
              <a:avLst>
                <a:gd name="adj" fmla="val 485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1" name="组合 540"/>
          <p:cNvGrpSpPr/>
          <p:nvPr/>
        </p:nvGrpSpPr>
        <p:grpSpPr>
          <a:xfrm>
            <a:off x="-138938" y="825076"/>
            <a:ext cx="1436910" cy="1809448"/>
            <a:chOff x="2651427" y="2291019"/>
            <a:chExt cx="1436910" cy="1809448"/>
          </a:xfrm>
        </p:grpSpPr>
        <p:grpSp>
          <p:nvGrpSpPr>
            <p:cNvPr id="295" name="组合 294"/>
            <p:cNvGrpSpPr/>
            <p:nvPr/>
          </p:nvGrpSpPr>
          <p:grpSpPr>
            <a:xfrm>
              <a:off x="2651427" y="2291019"/>
              <a:ext cx="1436910" cy="863115"/>
              <a:chOff x="2724155" y="2277517"/>
              <a:chExt cx="1436910" cy="863115"/>
            </a:xfrm>
          </p:grpSpPr>
          <p:sp>
            <p:nvSpPr>
              <p:cNvPr id="260" name="文本框 259"/>
              <p:cNvSpPr txBox="1"/>
              <p:nvPr/>
            </p:nvSpPr>
            <p:spPr>
              <a:xfrm>
                <a:off x="2796021" y="2278784"/>
                <a:ext cx="12931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Numerical reports</a:t>
                </a:r>
                <a:endParaRPr lang="zh-CN" altLang="en-US" sz="1200" b="1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5" name="文本框 264"/>
                  <p:cNvSpPr txBox="1"/>
                  <p:nvPr/>
                </p:nvSpPr>
                <p:spPr>
                  <a:xfrm>
                    <a:off x="2852121" y="2728690"/>
                    <a:ext cx="52258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{</m:t>
                              </m:r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𝑜</m:t>
                              </m:r>
                            </m:sup>
                          </m:sSubSup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265" name="文本框 2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2121" y="2728690"/>
                    <a:ext cx="522580" cy="307777"/>
                  </a:xfrm>
                  <a:prstGeom prst="rect">
                    <a:avLst/>
                  </a:prstGeom>
                  <a:blipFill rotWithShape="1">
                    <a:blip r:embed="rId2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1" name="矩形: 圆角 280"/>
              <p:cNvSpPr/>
              <p:nvPr/>
            </p:nvSpPr>
            <p:spPr>
              <a:xfrm>
                <a:off x="2724155" y="2277517"/>
                <a:ext cx="1436910" cy="863115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rgbClr val="21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289" name="图片 288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10007" y="2725471"/>
                <a:ext cx="768467" cy="366247"/>
              </a:xfrm>
              <a:prstGeom prst="rect">
                <a:avLst/>
              </a:prstGeom>
            </p:spPr>
          </p:pic>
        </p:grpSp>
        <p:sp>
          <p:nvSpPr>
            <p:cNvPr id="293" name="文本框 292"/>
            <p:cNvSpPr txBox="1"/>
            <p:nvPr/>
          </p:nvSpPr>
          <p:spPr>
            <a:xfrm>
              <a:off x="3042220" y="3645146"/>
              <a:ext cx="10046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Filter low-trust sources</a:t>
              </a:r>
              <a:endParaRPr lang="zh-CN" altLang="en-US" sz="10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08" name="组合 307"/>
            <p:cNvGrpSpPr/>
            <p:nvPr/>
          </p:nvGrpSpPr>
          <p:grpSpPr>
            <a:xfrm>
              <a:off x="2651427" y="3237352"/>
              <a:ext cx="1436910" cy="863115"/>
              <a:chOff x="2724155" y="2277517"/>
              <a:chExt cx="1436910" cy="863115"/>
            </a:xfrm>
          </p:grpSpPr>
          <p:sp>
            <p:nvSpPr>
              <p:cNvPr id="309" name="文本框 308"/>
              <p:cNvSpPr txBox="1"/>
              <p:nvPr/>
            </p:nvSpPr>
            <p:spPr>
              <a:xfrm>
                <a:off x="2796021" y="2278784"/>
                <a:ext cx="12931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Reliability</a:t>
                </a:r>
                <a:endPara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gating</a:t>
                </a:r>
                <a:endParaRPr lang="zh-CN" altLang="en-US" sz="1200" b="1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1" name="矩形: 圆角 310"/>
              <p:cNvSpPr/>
              <p:nvPr/>
            </p:nvSpPr>
            <p:spPr>
              <a:xfrm>
                <a:off x="2724155" y="2277517"/>
                <a:ext cx="1436910" cy="863115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rgbClr val="21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313" name="图形 312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795668" y="3674501"/>
              <a:ext cx="353873" cy="353873"/>
            </a:xfrm>
            <a:prstGeom prst="rect">
              <a:avLst/>
            </a:prstGeom>
          </p:spPr>
        </p:pic>
      </p:grpSp>
      <p:grpSp>
        <p:nvGrpSpPr>
          <p:cNvPr id="322" name="组合 321"/>
          <p:cNvGrpSpPr/>
          <p:nvPr/>
        </p:nvGrpSpPr>
        <p:grpSpPr>
          <a:xfrm>
            <a:off x="1348850" y="828420"/>
            <a:ext cx="1756088" cy="1809448"/>
            <a:chOff x="4223798" y="2291019"/>
            <a:chExt cx="1756088" cy="1809448"/>
          </a:xfrm>
        </p:grpSpPr>
        <p:sp>
          <p:nvSpPr>
            <p:cNvPr id="319" name="文本框 318"/>
            <p:cNvSpPr txBox="1"/>
            <p:nvPr/>
          </p:nvSpPr>
          <p:spPr>
            <a:xfrm>
              <a:off x="4455253" y="2292286"/>
              <a:ext cx="1293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Weighted median </a:t>
              </a:r>
              <a:r>
                <a:rPr lang="en-US" altLang="zh-CN" sz="1200" b="1" i="1" dirty="0" err="1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init</a:t>
              </a:r>
              <a:endParaRPr lang="zh-CN" altLang="en-US" sz="12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0" name="矩形: 圆角 319"/>
            <p:cNvSpPr/>
            <p:nvPr/>
          </p:nvSpPr>
          <p:spPr>
            <a:xfrm>
              <a:off x="4223798" y="2291019"/>
              <a:ext cx="1756088" cy="1809448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rgbClr val="215F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0" name="组合 339"/>
          <p:cNvGrpSpPr/>
          <p:nvPr/>
        </p:nvGrpSpPr>
        <p:grpSpPr>
          <a:xfrm>
            <a:off x="1572139" y="1342623"/>
            <a:ext cx="1426989" cy="802770"/>
            <a:chOff x="4455253" y="2808566"/>
            <a:chExt cx="1426989" cy="802770"/>
          </a:xfrm>
        </p:grpSpPr>
        <p:cxnSp>
          <p:nvCxnSpPr>
            <p:cNvPr id="327" name="直接连接符 326"/>
            <p:cNvCxnSpPr/>
            <p:nvPr/>
          </p:nvCxnSpPr>
          <p:spPr>
            <a:xfrm>
              <a:off x="4455253" y="3191177"/>
              <a:ext cx="14269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流程图: 接点 327"/>
            <p:cNvSpPr/>
            <p:nvPr/>
          </p:nvSpPr>
          <p:spPr>
            <a:xfrm>
              <a:off x="4532432" y="3122295"/>
              <a:ext cx="117250" cy="137764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流程图: 接点 329"/>
            <p:cNvSpPr/>
            <p:nvPr/>
          </p:nvSpPr>
          <p:spPr>
            <a:xfrm>
              <a:off x="4805530" y="3122295"/>
              <a:ext cx="117250" cy="137764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流程图: 接点 330"/>
            <p:cNvSpPr/>
            <p:nvPr/>
          </p:nvSpPr>
          <p:spPr>
            <a:xfrm>
              <a:off x="5013400" y="3122295"/>
              <a:ext cx="117250" cy="137764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流程图: 接点 331"/>
            <p:cNvSpPr/>
            <p:nvPr/>
          </p:nvSpPr>
          <p:spPr>
            <a:xfrm>
              <a:off x="5215515" y="3122295"/>
              <a:ext cx="117250" cy="137764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流程图: 接点 332"/>
            <p:cNvSpPr/>
            <p:nvPr/>
          </p:nvSpPr>
          <p:spPr>
            <a:xfrm>
              <a:off x="5446970" y="3122295"/>
              <a:ext cx="117250" cy="137764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流程图: 接点 333"/>
            <p:cNvSpPr/>
            <p:nvPr/>
          </p:nvSpPr>
          <p:spPr>
            <a:xfrm>
              <a:off x="5704907" y="3122295"/>
              <a:ext cx="117250" cy="137764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6" name="直接箭头连接符 335"/>
            <p:cNvCxnSpPr/>
            <p:nvPr/>
          </p:nvCxnSpPr>
          <p:spPr>
            <a:xfrm>
              <a:off x="5274140" y="2808566"/>
              <a:ext cx="0" cy="2118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箭头连接符 336"/>
            <p:cNvCxnSpPr/>
            <p:nvPr/>
          </p:nvCxnSpPr>
          <p:spPr>
            <a:xfrm>
              <a:off x="5274140" y="3258572"/>
              <a:ext cx="0" cy="3527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文本框 338"/>
          <p:cNvSpPr txBox="1"/>
          <p:nvPr/>
        </p:nvSpPr>
        <p:spPr>
          <a:xfrm>
            <a:off x="1616277" y="1838119"/>
            <a:ext cx="666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weight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2488191" y="1808448"/>
            <a:ext cx="666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weight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2057636" y="2170427"/>
            <a:ext cx="666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start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3" name="组合 322"/>
          <p:cNvGrpSpPr/>
          <p:nvPr/>
        </p:nvGrpSpPr>
        <p:grpSpPr>
          <a:xfrm>
            <a:off x="3155815" y="825076"/>
            <a:ext cx="1756088" cy="1809448"/>
            <a:chOff x="4223798" y="2291019"/>
            <a:chExt cx="1756088" cy="1809448"/>
          </a:xfrm>
        </p:grpSpPr>
        <p:sp>
          <p:nvSpPr>
            <p:cNvPr id="324" name="文本框 323"/>
            <p:cNvSpPr txBox="1"/>
            <p:nvPr/>
          </p:nvSpPr>
          <p:spPr>
            <a:xfrm>
              <a:off x="4455253" y="2292286"/>
              <a:ext cx="1293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IRLS with Tukey reweight</a:t>
              </a:r>
              <a:endParaRPr lang="zh-CN" altLang="en-US" sz="12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5" name="矩形: 圆角 324"/>
            <p:cNvSpPr/>
            <p:nvPr/>
          </p:nvSpPr>
          <p:spPr>
            <a:xfrm>
              <a:off x="4223798" y="2291019"/>
              <a:ext cx="1756088" cy="1809448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rgbClr val="215F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344" name="直接连接符 343"/>
          <p:cNvCxnSpPr/>
          <p:nvPr/>
        </p:nvCxnSpPr>
        <p:spPr>
          <a:xfrm>
            <a:off x="3283778" y="1758215"/>
            <a:ext cx="15904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组合 360"/>
          <p:cNvGrpSpPr/>
          <p:nvPr/>
        </p:nvGrpSpPr>
        <p:grpSpPr>
          <a:xfrm>
            <a:off x="3481908" y="1524251"/>
            <a:ext cx="117250" cy="539640"/>
            <a:chOff x="6430469" y="2990194"/>
            <a:chExt cx="117250" cy="539640"/>
          </a:xfrm>
        </p:grpSpPr>
        <p:sp>
          <p:nvSpPr>
            <p:cNvPr id="354" name="流程图: 接点 353"/>
            <p:cNvSpPr/>
            <p:nvPr/>
          </p:nvSpPr>
          <p:spPr>
            <a:xfrm>
              <a:off x="6430469" y="2990194"/>
              <a:ext cx="117250" cy="137764"/>
            </a:xfrm>
            <a:prstGeom prst="flowChartConnector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5" name="直接箭头连接符 354"/>
            <p:cNvCxnSpPr/>
            <p:nvPr/>
          </p:nvCxnSpPr>
          <p:spPr>
            <a:xfrm>
              <a:off x="6489099" y="3123441"/>
              <a:ext cx="0" cy="352764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6" name="流程图: 接点 355"/>
            <p:cNvSpPr/>
            <p:nvPr/>
          </p:nvSpPr>
          <p:spPr>
            <a:xfrm>
              <a:off x="6430469" y="3392070"/>
              <a:ext cx="117250" cy="137764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2" name="组合 361"/>
          <p:cNvGrpSpPr/>
          <p:nvPr/>
        </p:nvGrpSpPr>
        <p:grpSpPr>
          <a:xfrm>
            <a:off x="3698219" y="1689333"/>
            <a:ext cx="117250" cy="497311"/>
            <a:chOff x="6619708" y="3155276"/>
            <a:chExt cx="117250" cy="497311"/>
          </a:xfrm>
        </p:grpSpPr>
        <p:sp>
          <p:nvSpPr>
            <p:cNvPr id="347" name="流程图: 接点 346"/>
            <p:cNvSpPr/>
            <p:nvPr/>
          </p:nvSpPr>
          <p:spPr>
            <a:xfrm>
              <a:off x="6619708" y="3155276"/>
              <a:ext cx="117250" cy="137764"/>
            </a:xfrm>
            <a:prstGeom prst="flowChartConnector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7" name="直接箭头连接符 356"/>
            <p:cNvCxnSpPr/>
            <p:nvPr/>
          </p:nvCxnSpPr>
          <p:spPr>
            <a:xfrm>
              <a:off x="6678333" y="3299823"/>
              <a:ext cx="0" cy="352764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组合 362"/>
          <p:cNvGrpSpPr/>
          <p:nvPr/>
        </p:nvGrpSpPr>
        <p:grpSpPr>
          <a:xfrm>
            <a:off x="3914530" y="1578385"/>
            <a:ext cx="117250" cy="485506"/>
            <a:chOff x="6800413" y="3044328"/>
            <a:chExt cx="117250" cy="485506"/>
          </a:xfrm>
        </p:grpSpPr>
        <p:cxnSp>
          <p:nvCxnSpPr>
            <p:cNvPr id="359" name="直接箭头连接符 358"/>
            <p:cNvCxnSpPr/>
            <p:nvPr/>
          </p:nvCxnSpPr>
          <p:spPr>
            <a:xfrm>
              <a:off x="6859043" y="3123441"/>
              <a:ext cx="0" cy="352764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流程图: 接点 359"/>
            <p:cNvSpPr/>
            <p:nvPr/>
          </p:nvSpPr>
          <p:spPr>
            <a:xfrm>
              <a:off x="6800413" y="3392070"/>
              <a:ext cx="117250" cy="137764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" name="流程图: 接点 357"/>
            <p:cNvSpPr/>
            <p:nvPr/>
          </p:nvSpPr>
          <p:spPr>
            <a:xfrm>
              <a:off x="6800413" y="3044328"/>
              <a:ext cx="117250" cy="137764"/>
            </a:xfrm>
            <a:prstGeom prst="flowChartConnector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4130841" y="1429221"/>
            <a:ext cx="119971" cy="633824"/>
            <a:chOff x="6797692" y="2896010"/>
            <a:chExt cx="119971" cy="633824"/>
          </a:xfrm>
        </p:grpSpPr>
        <p:cxnSp>
          <p:nvCxnSpPr>
            <p:cNvPr id="365" name="直接箭头连接符 364"/>
            <p:cNvCxnSpPr>
              <a:stCxn id="367" idx="4"/>
            </p:cNvCxnSpPr>
            <p:nvPr/>
          </p:nvCxnSpPr>
          <p:spPr>
            <a:xfrm>
              <a:off x="6856317" y="3033774"/>
              <a:ext cx="2726" cy="442431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6" name="流程图: 接点 365"/>
            <p:cNvSpPr/>
            <p:nvPr/>
          </p:nvSpPr>
          <p:spPr>
            <a:xfrm>
              <a:off x="6800413" y="3392070"/>
              <a:ext cx="117250" cy="137764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流程图: 接点 366"/>
            <p:cNvSpPr/>
            <p:nvPr/>
          </p:nvSpPr>
          <p:spPr>
            <a:xfrm>
              <a:off x="6797692" y="2896010"/>
              <a:ext cx="117250" cy="137764"/>
            </a:xfrm>
            <a:prstGeom prst="flowChartConnector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3" name="组合 372"/>
          <p:cNvGrpSpPr/>
          <p:nvPr/>
        </p:nvGrpSpPr>
        <p:grpSpPr>
          <a:xfrm>
            <a:off x="4349873" y="1591994"/>
            <a:ext cx="117250" cy="473257"/>
            <a:chOff x="6800413" y="3056577"/>
            <a:chExt cx="117250" cy="473257"/>
          </a:xfrm>
        </p:grpSpPr>
        <p:cxnSp>
          <p:nvCxnSpPr>
            <p:cNvPr id="374" name="直接箭头连接符 373"/>
            <p:cNvCxnSpPr/>
            <p:nvPr/>
          </p:nvCxnSpPr>
          <p:spPr>
            <a:xfrm>
              <a:off x="6859043" y="3123441"/>
              <a:ext cx="0" cy="352764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流程图: 接点 374"/>
            <p:cNvSpPr/>
            <p:nvPr/>
          </p:nvSpPr>
          <p:spPr>
            <a:xfrm>
              <a:off x="6800413" y="3392070"/>
              <a:ext cx="117250" cy="137764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流程图: 接点 375"/>
            <p:cNvSpPr/>
            <p:nvPr/>
          </p:nvSpPr>
          <p:spPr>
            <a:xfrm>
              <a:off x="6800413" y="3056577"/>
              <a:ext cx="117250" cy="137764"/>
            </a:xfrm>
            <a:prstGeom prst="flowChartConnector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84" name="文本框 383"/>
          <p:cNvSpPr txBox="1"/>
          <p:nvPr/>
        </p:nvSpPr>
        <p:spPr>
          <a:xfrm>
            <a:off x="4301149" y="1339001"/>
            <a:ext cx="672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6" name="流程图: 接点 385"/>
          <p:cNvSpPr/>
          <p:nvPr/>
        </p:nvSpPr>
        <p:spPr>
          <a:xfrm>
            <a:off x="3332228" y="2225161"/>
            <a:ext cx="117250" cy="137764"/>
          </a:xfrm>
          <a:prstGeom prst="flowChartConnector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文本框 386"/>
          <p:cNvSpPr txBox="1"/>
          <p:nvPr/>
        </p:nvSpPr>
        <p:spPr>
          <a:xfrm>
            <a:off x="3340393" y="2170933"/>
            <a:ext cx="1327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inliers(high weight)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3340393" y="2351911"/>
            <a:ext cx="1642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(down-weighted)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0" name="流程图: 接点 389"/>
          <p:cNvSpPr/>
          <p:nvPr/>
        </p:nvSpPr>
        <p:spPr>
          <a:xfrm>
            <a:off x="3332228" y="2406139"/>
            <a:ext cx="117250" cy="137764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4" name="组合 393"/>
          <p:cNvGrpSpPr/>
          <p:nvPr/>
        </p:nvGrpSpPr>
        <p:grpSpPr>
          <a:xfrm>
            <a:off x="4964831" y="802757"/>
            <a:ext cx="1224373" cy="1831767"/>
            <a:chOff x="4223798" y="2268700"/>
            <a:chExt cx="1756088" cy="1831767"/>
          </a:xfrm>
        </p:grpSpPr>
        <p:sp>
          <p:nvSpPr>
            <p:cNvPr id="395" name="文本框 394"/>
            <p:cNvSpPr txBox="1"/>
            <p:nvPr/>
          </p:nvSpPr>
          <p:spPr>
            <a:xfrm>
              <a:off x="4281317" y="2268700"/>
              <a:ext cx="1657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Numerical</a:t>
              </a:r>
              <a:endPara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consistency</a:t>
              </a:r>
              <a:endParaRPr lang="zh-CN" altLang="en-US" sz="12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6" name="矩形: 圆角 395"/>
            <p:cNvSpPr/>
            <p:nvPr/>
          </p:nvSpPr>
          <p:spPr>
            <a:xfrm>
              <a:off x="4223798" y="2291019"/>
              <a:ext cx="1756088" cy="1809448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rgbClr val="215F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7" name="文本框 396"/>
              <p:cNvSpPr txBox="1"/>
              <p:nvPr/>
            </p:nvSpPr>
            <p:spPr>
              <a:xfrm>
                <a:off x="4977495" y="1295868"/>
                <a:ext cx="1215343" cy="313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</m:t>
                          </m:r>
                        </m:sub>
                        <m:sup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𝑛𝑢𝑚</m:t>
                          </m:r>
                        </m:sup>
                      </m:sSubSup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∈[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397" name="文本框 3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495" y="1295868"/>
                <a:ext cx="1215343" cy="313356"/>
              </a:xfrm>
              <a:prstGeom prst="rect">
                <a:avLst/>
              </a:prstGeom>
              <a:blipFill rotWithShape="1">
                <a:blip r:embed="rId31"/>
                <a:stretch>
                  <a:fillRect l="-30" t="-149" r="26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5" name="文本框 414"/>
          <p:cNvSpPr txBox="1"/>
          <p:nvPr/>
        </p:nvSpPr>
        <p:spPr>
          <a:xfrm>
            <a:off x="4951765" y="2076249"/>
            <a:ext cx="1256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deviation from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9" name="文本框 418"/>
              <p:cNvSpPr txBox="1"/>
              <p:nvPr/>
            </p:nvSpPr>
            <p:spPr>
              <a:xfrm>
                <a:off x="5434568" y="2269291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19" name="文本框 4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568" y="2269291"/>
                <a:ext cx="291042" cy="276999"/>
              </a:xfrm>
              <a:prstGeom prst="rect">
                <a:avLst/>
              </a:prstGeom>
              <a:blipFill rotWithShape="1">
                <a:blip r:embed="rId32"/>
                <a:stretch>
                  <a:fillRect l="-82" t="-157" r="-25809" b="-15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3" name="组合 442"/>
          <p:cNvGrpSpPr/>
          <p:nvPr/>
        </p:nvGrpSpPr>
        <p:grpSpPr>
          <a:xfrm>
            <a:off x="-14153" y="3047685"/>
            <a:ext cx="1803946" cy="568547"/>
            <a:chOff x="2662312" y="4627567"/>
            <a:chExt cx="1191231" cy="568547"/>
          </a:xfrm>
        </p:grpSpPr>
        <p:grpSp>
          <p:nvGrpSpPr>
            <p:cNvPr id="427" name="组合 426"/>
            <p:cNvGrpSpPr/>
            <p:nvPr/>
          </p:nvGrpSpPr>
          <p:grpSpPr>
            <a:xfrm>
              <a:off x="2662312" y="4627567"/>
              <a:ext cx="1191231" cy="568547"/>
              <a:chOff x="2724155" y="2277517"/>
              <a:chExt cx="1436910" cy="568547"/>
            </a:xfrm>
          </p:grpSpPr>
          <p:sp>
            <p:nvSpPr>
              <p:cNvPr id="428" name="文本框 427"/>
              <p:cNvSpPr txBox="1"/>
              <p:nvPr/>
            </p:nvSpPr>
            <p:spPr>
              <a:xfrm>
                <a:off x="2848412" y="2343658"/>
                <a:ext cx="5152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Textual</a:t>
                </a:r>
                <a:endPara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claims</a:t>
                </a:r>
                <a:endParaRPr lang="zh-CN" altLang="en-US" sz="1200" b="1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9" name="文本框 428"/>
                  <p:cNvSpPr txBox="1"/>
                  <p:nvPr/>
                </p:nvSpPr>
                <p:spPr>
                  <a:xfrm>
                    <a:off x="3269366" y="2407517"/>
                    <a:ext cx="522580" cy="30854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{</m:t>
                              </m:r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0" lang="en-US" altLang="zh-CN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429" name="文本框 4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9366" y="2407517"/>
                    <a:ext cx="522580" cy="308546"/>
                  </a:xfrm>
                  <a:prstGeom prst="rect">
                    <a:avLst/>
                  </a:prstGeom>
                  <a:blipFill rotWithShape="1">
                    <a:blip r:embed="rId3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0" name="矩形: 圆角 429"/>
              <p:cNvSpPr/>
              <p:nvPr/>
            </p:nvSpPr>
            <p:spPr>
              <a:xfrm>
                <a:off x="2724155" y="2277517"/>
                <a:ext cx="1436910" cy="568547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rgbClr val="21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438" name="图形 437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514281" y="4718600"/>
              <a:ext cx="222877" cy="386480"/>
            </a:xfrm>
            <a:prstGeom prst="rect">
              <a:avLst/>
            </a:prstGeom>
          </p:spPr>
        </p:pic>
      </p:grpSp>
      <p:grpSp>
        <p:nvGrpSpPr>
          <p:cNvPr id="469" name="组合 468"/>
          <p:cNvGrpSpPr/>
          <p:nvPr/>
        </p:nvGrpSpPr>
        <p:grpSpPr>
          <a:xfrm>
            <a:off x="-16234" y="3673977"/>
            <a:ext cx="1808108" cy="568547"/>
            <a:chOff x="2720841" y="2277517"/>
            <a:chExt cx="1440224" cy="568547"/>
          </a:xfrm>
        </p:grpSpPr>
        <p:sp>
          <p:nvSpPr>
            <p:cNvPr id="471" name="文本框 470"/>
            <p:cNvSpPr txBox="1"/>
            <p:nvPr/>
          </p:nvSpPr>
          <p:spPr>
            <a:xfrm>
              <a:off x="2720841" y="2347286"/>
              <a:ext cx="7818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SBERT</a:t>
              </a:r>
              <a:endPara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embeddings</a:t>
              </a:r>
              <a:endParaRPr lang="zh-CN" altLang="en-US" sz="12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3" name="矩形: 圆角 472"/>
            <p:cNvSpPr/>
            <p:nvPr/>
          </p:nvSpPr>
          <p:spPr>
            <a:xfrm>
              <a:off x="2724155" y="2277517"/>
              <a:ext cx="1436910" cy="568547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rgbClr val="215F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2" name="组合 491"/>
          <p:cNvGrpSpPr/>
          <p:nvPr/>
        </p:nvGrpSpPr>
        <p:grpSpPr>
          <a:xfrm>
            <a:off x="-26733" y="4300269"/>
            <a:ext cx="1829106" cy="624717"/>
            <a:chOff x="2647197" y="5796690"/>
            <a:chExt cx="1829106" cy="624717"/>
          </a:xfrm>
        </p:grpSpPr>
        <p:grpSp>
          <p:nvGrpSpPr>
            <p:cNvPr id="478" name="组合 477"/>
            <p:cNvGrpSpPr/>
            <p:nvPr/>
          </p:nvGrpSpPr>
          <p:grpSpPr>
            <a:xfrm>
              <a:off x="2647197" y="5796690"/>
              <a:ext cx="1829106" cy="568547"/>
              <a:chOff x="2704115" y="2277517"/>
              <a:chExt cx="1456950" cy="568547"/>
            </a:xfrm>
          </p:grpSpPr>
          <p:sp>
            <p:nvSpPr>
              <p:cNvPr id="480" name="文本框 479"/>
              <p:cNvSpPr txBox="1"/>
              <p:nvPr/>
            </p:nvSpPr>
            <p:spPr>
              <a:xfrm>
                <a:off x="2704115" y="2340030"/>
                <a:ext cx="800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Numeric</a:t>
                </a:r>
                <a:r>
                  <a:rPr lang="zh-CN" altLang="en-US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1200" b="1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extraction</a:t>
                </a:r>
                <a:endParaRPr lang="zh-CN" altLang="en-US" sz="1200" b="1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1" name="矩形: 圆角 480"/>
              <p:cNvSpPr/>
              <p:nvPr/>
            </p:nvSpPr>
            <p:spPr>
              <a:xfrm>
                <a:off x="2724155" y="2277517"/>
                <a:ext cx="1436910" cy="568547"/>
              </a:xfrm>
              <a:prstGeom prst="roundRect">
                <a:avLst>
                  <a:gd name="adj" fmla="val 8696"/>
                </a:avLst>
              </a:prstGeom>
              <a:noFill/>
              <a:ln>
                <a:solidFill>
                  <a:srgbClr val="215F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491" name="图片 490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3640950" y="5830111"/>
              <a:ext cx="666780" cy="591296"/>
            </a:xfrm>
            <a:prstGeom prst="rect">
              <a:avLst/>
            </a:prstGeom>
          </p:spPr>
        </p:pic>
      </p:grpSp>
      <p:sp>
        <p:nvSpPr>
          <p:cNvPr id="496" name="文本框 495"/>
          <p:cNvSpPr txBox="1"/>
          <p:nvPr/>
        </p:nvSpPr>
        <p:spPr>
          <a:xfrm>
            <a:off x="1865302" y="3065024"/>
            <a:ext cx="140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affinity</a:t>
            </a:r>
            <a:endParaRPr lang="en-US" altLang="zh-CN" sz="1200" b="1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</a:t>
            </a:r>
            <a:endParaRPr lang="zh-CN" altLang="en-US" sz="12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8" name="矩形: 圆角 497"/>
          <p:cNvSpPr/>
          <p:nvPr/>
        </p:nvSpPr>
        <p:spPr>
          <a:xfrm>
            <a:off x="1865302" y="3045648"/>
            <a:ext cx="1402442" cy="1816540"/>
          </a:xfrm>
          <a:prstGeom prst="roundRect">
            <a:avLst>
              <a:gd name="adj" fmla="val 4019"/>
            </a:avLst>
          </a:prstGeom>
          <a:noFill/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03" name="图形 502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991036" y="3546064"/>
            <a:ext cx="1150975" cy="690585"/>
          </a:xfrm>
          <a:prstGeom prst="rect">
            <a:avLst/>
          </a:prstGeom>
        </p:spPr>
      </p:pic>
      <p:pic>
        <p:nvPicPr>
          <p:cNvPr id="505" name="图形 504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51055" y="3737512"/>
            <a:ext cx="432812" cy="4328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06" name="文本框 505"/>
              <p:cNvSpPr txBox="1"/>
              <p:nvPr/>
            </p:nvSpPr>
            <p:spPr>
              <a:xfrm>
                <a:off x="1787289" y="4294926"/>
                <a:ext cx="1558468" cy="516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2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kumimoji="0" lang="en-US" altLang="zh-CN" sz="12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kumimoji="0" lang="en-US" altLang="zh-CN" sz="12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zh-CN" sz="12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en-US" altLang="zh-CN" sz="12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en-US" altLang="zh-CN" sz="12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altLang="zh-CN" sz="12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𝑗</m:t>
                          </m:r>
                          <m:r>
                            <a:rPr lang="en-US" altLang="zh-CN" sz="12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sup>
                      </m:sSubSup>
                      <m:r>
                        <a:rPr kumimoji="0" lang="en-US" altLang="zh-CN" sz="12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sz="1200" i="1" noProof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  <m:r>
                        <a:rPr lang="en-US" altLang="zh-CN" sz="1200" i="1" noProof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1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sim</m:t>
                      </m:r>
                      <m:r>
                        <a:rPr lang="en-US" altLang="zh-CN" sz="12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</m:oMath>
                  </m:oMathPara>
                </a14:m>
                <a:endParaRPr lang="en-US" altLang="zh-CN" sz="1200" b="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n-US" altLang="zh-CN" sz="12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US" altLang="zh-CN" sz="12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US" altLang="zh-CN" sz="1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𝛼</m:t>
                      </m:r>
                      <m:r>
                        <a:rPr lang="en-US" altLang="zh-CN" sz="12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  <m:r>
                        <a:rPr lang="en-US" altLang="zh-CN" sz="1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∙</m:t>
                      </m:r>
                      <m:r>
                        <a:rPr lang="en-US" altLang="zh-CN" sz="12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𝑛𝑢</m:t>
                      </m:r>
                      <m:r>
                        <m:rPr>
                          <m:sty m:val="p"/>
                        </m:rPr>
                        <a:rPr lang="en-US" altLang="zh-CN" sz="1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m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06" name="文本框 5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289" y="4294926"/>
                <a:ext cx="1558468" cy="516039"/>
              </a:xfrm>
              <a:prstGeom prst="rect">
                <a:avLst/>
              </a:prstGeom>
              <a:blipFill rotWithShape="1">
                <a:blip r:embed="rId39"/>
                <a:stretch>
                  <a:fillRect l="-26" t="-82" r="37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0" name="文本框 509"/>
          <p:cNvSpPr txBox="1"/>
          <p:nvPr/>
        </p:nvSpPr>
        <p:spPr>
          <a:xfrm>
            <a:off x="3331603" y="3065024"/>
            <a:ext cx="140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Trust-aware</a:t>
            </a:r>
            <a:endParaRPr lang="en-US" altLang="zh-CN" sz="1200" b="1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 voting</a:t>
            </a:r>
            <a:endParaRPr lang="zh-CN" altLang="en-US" sz="12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1" name="矩形: 圆角 510"/>
          <p:cNvSpPr/>
          <p:nvPr/>
        </p:nvSpPr>
        <p:spPr>
          <a:xfrm>
            <a:off x="3331603" y="3045648"/>
            <a:ext cx="1402442" cy="1816540"/>
          </a:xfrm>
          <a:prstGeom prst="roundRect">
            <a:avLst>
              <a:gd name="adj" fmla="val 4019"/>
            </a:avLst>
          </a:prstGeom>
          <a:noFill/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26" name="组合 525"/>
          <p:cNvGrpSpPr/>
          <p:nvPr/>
        </p:nvGrpSpPr>
        <p:grpSpPr>
          <a:xfrm>
            <a:off x="3364517" y="3657176"/>
            <a:ext cx="1336614" cy="527421"/>
            <a:chOff x="6019687" y="5123119"/>
            <a:chExt cx="1336614" cy="5274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3" name="文本框 512"/>
                <p:cNvSpPr txBox="1"/>
                <p:nvPr/>
              </p:nvSpPr>
              <p:spPr>
                <a:xfrm>
                  <a:off x="6019687" y="5235883"/>
                  <a:ext cx="4835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3" name="文本框 5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87" y="5235883"/>
                  <a:ext cx="483540" cy="369332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4" name="文本框 513"/>
                <p:cNvSpPr txBox="1"/>
                <p:nvPr/>
              </p:nvSpPr>
              <p:spPr>
                <a:xfrm>
                  <a:off x="6353016" y="5235883"/>
                  <a:ext cx="4835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4" name="文本框 5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3016" y="5235883"/>
                  <a:ext cx="483540" cy="369332"/>
                </a:xfrm>
                <a:prstGeom prst="rect">
                  <a:avLst/>
                </a:prstGeom>
                <a:blipFill rotWithShape="1">
                  <a:blip r:embed="rId4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5" name="文本框 514"/>
                <p:cNvSpPr txBox="1"/>
                <p:nvPr/>
              </p:nvSpPr>
              <p:spPr>
                <a:xfrm>
                  <a:off x="6872761" y="5235883"/>
                  <a:ext cx="4835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5" name="文本框 5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761" y="5235883"/>
                  <a:ext cx="483540" cy="369332"/>
                </a:xfrm>
                <a:prstGeom prst="rect">
                  <a:avLst/>
                </a:prstGeom>
                <a:blipFill rotWithShape="1">
                  <a:blip r:embed="rId4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6" name="文本框 515"/>
            <p:cNvSpPr txBox="1"/>
            <p:nvPr/>
          </p:nvSpPr>
          <p:spPr>
            <a:xfrm>
              <a:off x="6579496" y="5250430"/>
              <a:ext cx="5268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/>
                <a:t>…</a:t>
              </a:r>
              <a:endParaRPr lang="zh-CN" altLang="en-US" sz="2000" b="1" dirty="0"/>
            </a:p>
          </p:txBody>
        </p:sp>
        <p:pic>
          <p:nvPicPr>
            <p:cNvPr id="518" name="图形 517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6152106" y="5123119"/>
              <a:ext cx="190234" cy="190234"/>
            </a:xfrm>
            <a:prstGeom prst="rect">
              <a:avLst/>
            </a:prstGeom>
          </p:spPr>
        </p:pic>
        <p:pic>
          <p:nvPicPr>
            <p:cNvPr id="520" name="图形 519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6501483" y="5128413"/>
              <a:ext cx="186570" cy="186570"/>
            </a:xfrm>
            <a:prstGeom prst="rect">
              <a:avLst/>
            </a:prstGeom>
          </p:spPr>
        </p:pic>
        <p:pic>
          <p:nvPicPr>
            <p:cNvPr id="521" name="图形 520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7011248" y="5123119"/>
              <a:ext cx="190234" cy="190234"/>
            </a:xfrm>
            <a:prstGeom prst="rect">
              <a:avLst/>
            </a:prstGeom>
          </p:spPr>
        </p:pic>
        <p:cxnSp>
          <p:nvCxnSpPr>
            <p:cNvPr id="522" name="直接箭头连接符 521"/>
            <p:cNvCxnSpPr/>
            <p:nvPr/>
          </p:nvCxnSpPr>
          <p:spPr>
            <a:xfrm rot="16200000" flipH="1">
              <a:off x="6857284" y="5109185"/>
              <a:ext cx="0" cy="2118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5" name="文本框 524"/>
              <p:cNvSpPr txBox="1"/>
              <p:nvPr/>
            </p:nvSpPr>
            <p:spPr>
              <a:xfrm>
                <a:off x="3254470" y="4221093"/>
                <a:ext cx="15567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weights </a:t>
                </a:r>
                <a:endParaRPr lang="en-US" altLang="zh-CN" sz="1200" i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20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Proportional</a:t>
                </a:r>
                <a:r>
                  <a:rPr lang="en-US" altLang="zh-CN" sz="12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120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</m:oMath>
                </a14:m>
                <a:endParaRPr lang="zh-CN" altLang="en-US" sz="1200" b="1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25" name="文本框 5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470" y="4221093"/>
                <a:ext cx="1556709" cy="461665"/>
              </a:xfrm>
              <a:prstGeom prst="rect">
                <a:avLst/>
              </a:prstGeom>
              <a:blipFill rotWithShape="1">
                <a:blip r:embed="rId47"/>
                <a:stretch>
                  <a:fillRect l="-6" t="-54" r="27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7" name="组合 526"/>
          <p:cNvGrpSpPr/>
          <p:nvPr/>
        </p:nvGrpSpPr>
        <p:grpSpPr>
          <a:xfrm>
            <a:off x="4807550" y="3025159"/>
            <a:ext cx="1224373" cy="1831767"/>
            <a:chOff x="4223798" y="2268700"/>
            <a:chExt cx="1756088" cy="1831767"/>
          </a:xfrm>
        </p:grpSpPr>
        <p:sp>
          <p:nvSpPr>
            <p:cNvPr id="528" name="文本框 527"/>
            <p:cNvSpPr txBox="1"/>
            <p:nvPr/>
          </p:nvSpPr>
          <p:spPr>
            <a:xfrm>
              <a:off x="4281317" y="2268700"/>
              <a:ext cx="1657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Textual</a:t>
              </a:r>
              <a:endPara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2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consistency</a:t>
              </a:r>
              <a:endParaRPr lang="zh-CN" altLang="en-US" sz="12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9" name="矩形: 圆角 528"/>
            <p:cNvSpPr/>
            <p:nvPr/>
          </p:nvSpPr>
          <p:spPr>
            <a:xfrm>
              <a:off x="4223798" y="2291019"/>
              <a:ext cx="1756088" cy="1809448"/>
            </a:xfrm>
            <a:prstGeom prst="roundRect">
              <a:avLst>
                <a:gd name="adj" fmla="val 8696"/>
              </a:avLst>
            </a:prstGeom>
            <a:noFill/>
            <a:ln>
              <a:solidFill>
                <a:srgbClr val="215F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0" name="文本框 529"/>
              <p:cNvSpPr txBox="1"/>
              <p:nvPr/>
            </p:nvSpPr>
            <p:spPr>
              <a:xfrm>
                <a:off x="4818910" y="3442110"/>
                <a:ext cx="121534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zh-CN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𝑡𝑥𝑡</m:t>
                          </m:r>
                        </m:sup>
                      </m:sSubSup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∈[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US" altLang="zh-CN" sz="1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530" name="文本框 5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910" y="3442110"/>
                <a:ext cx="1215343" cy="307777"/>
              </a:xfrm>
              <a:prstGeom prst="rect">
                <a:avLst/>
              </a:prstGeom>
              <a:blipFill rotWithShape="1">
                <a:blip r:embed="rId48"/>
                <a:stretch>
                  <a:fillRect l="-44" t="-133" r="4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1" name="图片 56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904428" y="4256317"/>
            <a:ext cx="314159" cy="222624"/>
          </a:xfrm>
          <a:prstGeom prst="rect">
            <a:avLst/>
          </a:prstGeom>
        </p:spPr>
      </p:pic>
      <p:pic>
        <p:nvPicPr>
          <p:cNvPr id="564" name="图片 563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904428" y="4588743"/>
            <a:ext cx="314159" cy="222624"/>
          </a:xfrm>
          <a:prstGeom prst="rect">
            <a:avLst/>
          </a:prstGeom>
        </p:spPr>
      </p:pic>
      <p:sp>
        <p:nvSpPr>
          <p:cNvPr id="565" name="文本框 564"/>
          <p:cNvSpPr txBox="1"/>
          <p:nvPr/>
        </p:nvSpPr>
        <p:spPr>
          <a:xfrm>
            <a:off x="4745480" y="4070548"/>
            <a:ext cx="6320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claims</a:t>
            </a:r>
            <a:endParaRPr lang="zh-CN" altLang="en-US" sz="8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6" name="文本框 565"/>
          <p:cNvSpPr txBox="1"/>
          <p:nvPr/>
        </p:nvSpPr>
        <p:spPr>
          <a:xfrm>
            <a:off x="4794867" y="4406270"/>
            <a:ext cx="5268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…</a:t>
            </a:r>
            <a:endParaRPr lang="zh-CN" altLang="en-US" sz="1100" b="1" dirty="0"/>
          </a:p>
        </p:txBody>
      </p:sp>
      <p:cxnSp>
        <p:nvCxnSpPr>
          <p:cNvPr id="567" name="直接箭头连接符 566"/>
          <p:cNvCxnSpPr/>
          <p:nvPr/>
        </p:nvCxnSpPr>
        <p:spPr>
          <a:xfrm rot="16200000" flipH="1">
            <a:off x="5422795" y="4261681"/>
            <a:ext cx="0" cy="211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直接箭头连接符 567"/>
          <p:cNvCxnSpPr/>
          <p:nvPr/>
        </p:nvCxnSpPr>
        <p:spPr>
          <a:xfrm rot="16200000" flipH="1">
            <a:off x="5422795" y="4594107"/>
            <a:ext cx="0" cy="211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0" name="图片 569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583600" y="4297584"/>
            <a:ext cx="360411" cy="511047"/>
          </a:xfrm>
          <a:prstGeom prst="rect">
            <a:avLst/>
          </a:prstGeom>
        </p:spPr>
      </p:pic>
      <p:sp>
        <p:nvSpPr>
          <p:cNvPr id="571" name="文本框 570"/>
          <p:cNvSpPr txBox="1"/>
          <p:nvPr/>
        </p:nvSpPr>
        <p:spPr>
          <a:xfrm>
            <a:off x="5422795" y="4008993"/>
            <a:ext cx="632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Trusted output</a:t>
            </a:r>
            <a:endParaRPr lang="zh-CN" altLang="en-US" sz="8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72" name="组合 571"/>
          <p:cNvGrpSpPr/>
          <p:nvPr/>
        </p:nvGrpSpPr>
        <p:grpSpPr>
          <a:xfrm>
            <a:off x="4946021" y="3781096"/>
            <a:ext cx="980210" cy="119008"/>
            <a:chOff x="7966486" y="3274391"/>
            <a:chExt cx="980210" cy="119008"/>
          </a:xfrm>
        </p:grpSpPr>
        <p:cxnSp>
          <p:nvCxnSpPr>
            <p:cNvPr id="573" name="直接连接符 572"/>
            <p:cNvCxnSpPr/>
            <p:nvPr/>
          </p:nvCxnSpPr>
          <p:spPr>
            <a:xfrm>
              <a:off x="7966486" y="3333895"/>
              <a:ext cx="9802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连接符 573"/>
            <p:cNvCxnSpPr/>
            <p:nvPr/>
          </p:nvCxnSpPr>
          <p:spPr>
            <a:xfrm flipV="1">
              <a:off x="7970072" y="3274391"/>
              <a:ext cx="0" cy="119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/>
            <p:cNvCxnSpPr/>
            <p:nvPr/>
          </p:nvCxnSpPr>
          <p:spPr>
            <a:xfrm flipV="1">
              <a:off x="8456591" y="3274391"/>
              <a:ext cx="0" cy="119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接连接符 575"/>
            <p:cNvCxnSpPr/>
            <p:nvPr/>
          </p:nvCxnSpPr>
          <p:spPr>
            <a:xfrm flipV="1">
              <a:off x="8946696" y="3274391"/>
              <a:ext cx="0" cy="119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7" name="文本框 576"/>
              <p:cNvSpPr txBox="1"/>
              <p:nvPr/>
            </p:nvSpPr>
            <p:spPr>
              <a:xfrm>
                <a:off x="4848863" y="3837640"/>
                <a:ext cx="13081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0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577" name="文本框 5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863" y="3837640"/>
                <a:ext cx="130810" cy="261610"/>
              </a:xfrm>
              <a:prstGeom prst="rect">
                <a:avLst/>
              </a:prstGeom>
              <a:blipFill rotWithShape="1">
                <a:blip r:embed="rId51"/>
                <a:stretch>
                  <a:fillRect l="-2" t="-128" r="2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8" name="文本框 577"/>
              <p:cNvSpPr txBox="1"/>
              <p:nvPr/>
            </p:nvSpPr>
            <p:spPr>
              <a:xfrm>
                <a:off x="5278850" y="3837640"/>
                <a:ext cx="13081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5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578" name="文本框 5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850" y="3837640"/>
                <a:ext cx="130810" cy="261610"/>
              </a:xfrm>
              <a:prstGeom prst="rect">
                <a:avLst/>
              </a:prstGeom>
              <a:blipFill rotWithShape="1">
                <a:blip r:embed="rId52"/>
                <a:stretch>
                  <a:fillRect l="-20461" t="-128" r="-19830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9" name="文本框 578"/>
              <p:cNvSpPr txBox="1"/>
              <p:nvPr/>
            </p:nvSpPr>
            <p:spPr>
              <a:xfrm>
                <a:off x="5826674" y="3837640"/>
                <a:ext cx="13081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579" name="文本框 5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674" y="3837640"/>
                <a:ext cx="130810" cy="261610"/>
              </a:xfrm>
              <a:prstGeom prst="rect">
                <a:avLst/>
              </a:prstGeom>
              <a:blipFill rotWithShape="1">
                <a:blip r:embed="rId53"/>
                <a:stretch>
                  <a:fillRect l="-420" t="-128" r="420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0" name="流程图: 接点 579"/>
          <p:cNvSpPr/>
          <p:nvPr/>
        </p:nvSpPr>
        <p:spPr>
          <a:xfrm>
            <a:off x="5696044" y="3795101"/>
            <a:ext cx="65405" cy="80866"/>
          </a:xfrm>
          <a:prstGeom prst="flowChartConnector">
            <a:avLst/>
          </a:prstGeom>
          <a:solidFill>
            <a:srgbClr val="3B6E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81" name="组合 580"/>
          <p:cNvGrpSpPr/>
          <p:nvPr/>
        </p:nvGrpSpPr>
        <p:grpSpPr>
          <a:xfrm>
            <a:off x="5103135" y="1735478"/>
            <a:ext cx="980210" cy="119008"/>
            <a:chOff x="7966486" y="3274391"/>
            <a:chExt cx="980210" cy="119008"/>
          </a:xfrm>
        </p:grpSpPr>
        <p:cxnSp>
          <p:nvCxnSpPr>
            <p:cNvPr id="582" name="直接连接符 581"/>
            <p:cNvCxnSpPr/>
            <p:nvPr/>
          </p:nvCxnSpPr>
          <p:spPr>
            <a:xfrm>
              <a:off x="7966486" y="3333895"/>
              <a:ext cx="9802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直接连接符 582"/>
            <p:cNvCxnSpPr/>
            <p:nvPr/>
          </p:nvCxnSpPr>
          <p:spPr>
            <a:xfrm flipV="1">
              <a:off x="7970072" y="3274391"/>
              <a:ext cx="0" cy="119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直接连接符 583"/>
            <p:cNvCxnSpPr/>
            <p:nvPr/>
          </p:nvCxnSpPr>
          <p:spPr>
            <a:xfrm flipV="1">
              <a:off x="8456591" y="3274391"/>
              <a:ext cx="0" cy="119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直接连接符 584"/>
            <p:cNvCxnSpPr/>
            <p:nvPr/>
          </p:nvCxnSpPr>
          <p:spPr>
            <a:xfrm flipV="1">
              <a:off x="8946696" y="3274391"/>
              <a:ext cx="0" cy="119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6" name="文本框 585"/>
              <p:cNvSpPr txBox="1"/>
              <p:nvPr/>
            </p:nvSpPr>
            <p:spPr>
              <a:xfrm>
                <a:off x="5005977" y="1792022"/>
                <a:ext cx="13081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0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586" name="文本框 5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977" y="1792022"/>
                <a:ext cx="130810" cy="261610"/>
              </a:xfrm>
              <a:prstGeom prst="rect">
                <a:avLst/>
              </a:prstGeom>
              <a:blipFill rotWithShape="1">
                <a:blip r:embed="rId51"/>
                <a:stretch>
                  <a:fillRect l="-208" t="-20" r="208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7" name="文本框 586"/>
              <p:cNvSpPr txBox="1"/>
              <p:nvPr/>
            </p:nvSpPr>
            <p:spPr>
              <a:xfrm>
                <a:off x="5435964" y="1792022"/>
                <a:ext cx="13081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5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587" name="文本框 5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964" y="1792022"/>
                <a:ext cx="130810" cy="261610"/>
              </a:xfrm>
              <a:prstGeom prst="rect">
                <a:avLst/>
              </a:prstGeom>
              <a:blipFill rotWithShape="1">
                <a:blip r:embed="rId52"/>
                <a:stretch>
                  <a:fillRect l="-20667" t="-20" r="-1962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8" name="文本框 587"/>
              <p:cNvSpPr txBox="1"/>
              <p:nvPr/>
            </p:nvSpPr>
            <p:spPr>
              <a:xfrm>
                <a:off x="5983788" y="1792022"/>
                <a:ext cx="13081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588" name="文本框 5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788" y="1792022"/>
                <a:ext cx="130810" cy="261610"/>
              </a:xfrm>
              <a:prstGeom prst="rect">
                <a:avLst/>
              </a:prstGeom>
              <a:blipFill rotWithShape="1">
                <a:blip r:embed="rId53"/>
                <a:stretch>
                  <a:fillRect l="-140" t="-20" r="140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9" name="流程图: 接点 588"/>
          <p:cNvSpPr/>
          <p:nvPr/>
        </p:nvSpPr>
        <p:spPr>
          <a:xfrm>
            <a:off x="5853158" y="1749483"/>
            <a:ext cx="65405" cy="80866"/>
          </a:xfrm>
          <a:prstGeom prst="flowChartConnector">
            <a:avLst/>
          </a:prstGeom>
          <a:solidFill>
            <a:srgbClr val="215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2" name="箭头: 右 591"/>
          <p:cNvSpPr/>
          <p:nvPr/>
        </p:nvSpPr>
        <p:spPr>
          <a:xfrm>
            <a:off x="1769981" y="4504048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3" name="箭头: 右 592"/>
          <p:cNvSpPr/>
          <p:nvPr/>
        </p:nvSpPr>
        <p:spPr>
          <a:xfrm rot="5400000">
            <a:off x="835410" y="3588155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5" name="箭头: 右 594"/>
          <p:cNvSpPr/>
          <p:nvPr/>
        </p:nvSpPr>
        <p:spPr>
          <a:xfrm rot="5400000">
            <a:off x="830547" y="4207263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箭头: 右 596"/>
          <p:cNvSpPr/>
          <p:nvPr/>
        </p:nvSpPr>
        <p:spPr>
          <a:xfrm>
            <a:off x="3244996" y="3861600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箭头: 右 597"/>
          <p:cNvSpPr/>
          <p:nvPr/>
        </p:nvSpPr>
        <p:spPr>
          <a:xfrm>
            <a:off x="4711118" y="3861600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箭头: 右 598"/>
          <p:cNvSpPr/>
          <p:nvPr/>
        </p:nvSpPr>
        <p:spPr>
          <a:xfrm>
            <a:off x="1270779" y="2126967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0" name="箭头: 右 599"/>
          <p:cNvSpPr/>
          <p:nvPr/>
        </p:nvSpPr>
        <p:spPr>
          <a:xfrm>
            <a:off x="3066297" y="1652675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箭头: 右 600"/>
          <p:cNvSpPr/>
          <p:nvPr/>
        </p:nvSpPr>
        <p:spPr>
          <a:xfrm>
            <a:off x="4884439" y="1672359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2" name="箭头: 右 601"/>
          <p:cNvSpPr/>
          <p:nvPr/>
        </p:nvSpPr>
        <p:spPr>
          <a:xfrm rot="5400000">
            <a:off x="535323" y="1652675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8" name="连接符: 肘形 607"/>
          <p:cNvCxnSpPr>
            <a:stCxn id="665" idx="3"/>
            <a:endCxn id="255" idx="3"/>
          </p:cNvCxnSpPr>
          <p:nvPr/>
        </p:nvCxnSpPr>
        <p:spPr>
          <a:xfrm flipH="1" flipV="1">
            <a:off x="5003875" y="250598"/>
            <a:ext cx="1041693" cy="6537497"/>
          </a:xfrm>
          <a:prstGeom prst="bentConnector3">
            <a:avLst>
              <a:gd name="adj1" fmla="val -33788"/>
            </a:avLst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9" name="组合 618"/>
          <p:cNvGrpSpPr/>
          <p:nvPr/>
        </p:nvGrpSpPr>
        <p:grpSpPr>
          <a:xfrm>
            <a:off x="1347169" y="2598132"/>
            <a:ext cx="3453660" cy="237672"/>
            <a:chOff x="4255989" y="4064075"/>
            <a:chExt cx="3453660" cy="237672"/>
          </a:xfrm>
        </p:grpSpPr>
        <p:cxnSp>
          <p:nvCxnSpPr>
            <p:cNvPr id="611" name="直接箭头连接符 610"/>
            <p:cNvCxnSpPr/>
            <p:nvPr/>
          </p:nvCxnSpPr>
          <p:spPr>
            <a:xfrm>
              <a:off x="4255989" y="4064075"/>
              <a:ext cx="0" cy="23767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直接箭头连接符 615"/>
            <p:cNvCxnSpPr/>
            <p:nvPr/>
          </p:nvCxnSpPr>
          <p:spPr>
            <a:xfrm>
              <a:off x="7709649" y="4064075"/>
              <a:ext cx="0" cy="23767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0" name="组合 619"/>
          <p:cNvGrpSpPr/>
          <p:nvPr/>
        </p:nvGrpSpPr>
        <p:grpSpPr>
          <a:xfrm>
            <a:off x="1347169" y="4876641"/>
            <a:ext cx="3453660" cy="237672"/>
            <a:chOff x="4255989" y="4064075"/>
            <a:chExt cx="3453660" cy="237672"/>
          </a:xfrm>
        </p:grpSpPr>
        <p:cxnSp>
          <p:nvCxnSpPr>
            <p:cNvPr id="621" name="直接箭头连接符 620"/>
            <p:cNvCxnSpPr/>
            <p:nvPr/>
          </p:nvCxnSpPr>
          <p:spPr>
            <a:xfrm>
              <a:off x="4255989" y="4064075"/>
              <a:ext cx="0" cy="23767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直接箭头连接符 621"/>
            <p:cNvCxnSpPr/>
            <p:nvPr/>
          </p:nvCxnSpPr>
          <p:spPr>
            <a:xfrm>
              <a:off x="7709649" y="4064075"/>
              <a:ext cx="0" cy="23767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0" name="文本框 639"/>
          <p:cNvSpPr txBox="1"/>
          <p:nvPr/>
        </p:nvSpPr>
        <p:spPr>
          <a:xfrm>
            <a:off x="-240363" y="5291110"/>
            <a:ext cx="121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consistency</a:t>
            </a:r>
            <a:endParaRPr lang="zh-CN" altLang="en-US" sz="12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1" name="文本框 640"/>
              <p:cNvSpPr txBox="1"/>
              <p:nvPr/>
            </p:nvSpPr>
            <p:spPr>
              <a:xfrm>
                <a:off x="41534" y="5768984"/>
                <a:ext cx="6560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  <m:sup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𝑛𝑢𝑚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1" name="文本框 6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4" y="5768984"/>
                <a:ext cx="656065" cy="307777"/>
              </a:xfrm>
              <a:prstGeom prst="rect">
                <a:avLst/>
              </a:prstGeom>
              <a:blipFill rotWithShape="1">
                <a:blip r:embed="rId54"/>
                <a:stretch>
                  <a:fillRect l="-39" t="-3" r="56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2" name="矩形: 圆角 641"/>
          <p:cNvSpPr/>
          <p:nvPr/>
        </p:nvSpPr>
        <p:spPr>
          <a:xfrm>
            <a:off x="-208499" y="5284922"/>
            <a:ext cx="1156131" cy="1793605"/>
          </a:xfrm>
          <a:prstGeom prst="roundRect">
            <a:avLst>
              <a:gd name="adj" fmla="val 8696"/>
            </a:avLst>
          </a:prstGeom>
          <a:noFill/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3" name="文本框 652"/>
          <p:cNvSpPr txBox="1"/>
          <p:nvPr/>
        </p:nvSpPr>
        <p:spPr>
          <a:xfrm>
            <a:off x="980679" y="5291110"/>
            <a:ext cx="121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Textual consistency</a:t>
            </a:r>
            <a:endParaRPr lang="zh-CN" altLang="en-US" sz="12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4" name="文本框 653"/>
              <p:cNvSpPr txBox="1"/>
              <p:nvPr/>
            </p:nvSpPr>
            <p:spPr>
              <a:xfrm>
                <a:off x="1265148" y="5768984"/>
                <a:ext cx="6560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  <m:sup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𝑡𝑥𝑡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" name="文本框 6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148" y="5768984"/>
                <a:ext cx="656065" cy="307777"/>
              </a:xfrm>
              <a:prstGeom prst="rect">
                <a:avLst/>
              </a:prstGeom>
              <a:blipFill rotWithShape="1">
                <a:blip r:embed="rId55"/>
                <a:stretch>
                  <a:fillRect l="-35" t="-3" r="52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" name="矩形: 圆角 654"/>
          <p:cNvSpPr/>
          <p:nvPr/>
        </p:nvSpPr>
        <p:spPr>
          <a:xfrm>
            <a:off x="996947" y="5284922"/>
            <a:ext cx="1156131" cy="1793605"/>
          </a:xfrm>
          <a:prstGeom prst="roundRect">
            <a:avLst>
              <a:gd name="adj" fmla="val 8696"/>
            </a:avLst>
          </a:prstGeom>
          <a:noFill/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6" name="文本框 655"/>
          <p:cNvSpPr txBox="1"/>
          <p:nvPr/>
        </p:nvSpPr>
        <p:spPr>
          <a:xfrm>
            <a:off x="2192878" y="5289270"/>
            <a:ext cx="121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Object-level</a:t>
            </a:r>
            <a:endParaRPr lang="en-US" altLang="zh-CN" sz="1200" b="1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consistency</a:t>
            </a:r>
            <a:endParaRPr lang="zh-CN" altLang="en-US" sz="12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7" name="文本框 656"/>
              <p:cNvSpPr txBox="1"/>
              <p:nvPr/>
            </p:nvSpPr>
            <p:spPr>
              <a:xfrm>
                <a:off x="2474774" y="5749427"/>
                <a:ext cx="656065" cy="346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  <m:sup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𝑜𝑏𝑗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7" name="文本框 6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774" y="5749427"/>
                <a:ext cx="656065" cy="346890"/>
              </a:xfrm>
              <a:prstGeom prst="rect">
                <a:avLst/>
              </a:prstGeom>
              <a:blipFill rotWithShape="1">
                <a:blip r:embed="rId56"/>
                <a:stretch>
                  <a:fillRect l="-27" t="-39" r="44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8" name="矩形: 圆角 657"/>
          <p:cNvSpPr/>
          <p:nvPr/>
        </p:nvSpPr>
        <p:spPr>
          <a:xfrm>
            <a:off x="2209146" y="5283082"/>
            <a:ext cx="1156131" cy="1793605"/>
          </a:xfrm>
          <a:prstGeom prst="roundRect">
            <a:avLst>
              <a:gd name="adj" fmla="val 8696"/>
            </a:avLst>
          </a:prstGeom>
          <a:noFill/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9" name="文本框 658"/>
          <p:cNvSpPr txBox="1"/>
          <p:nvPr/>
        </p:nvSpPr>
        <p:spPr>
          <a:xfrm>
            <a:off x="3388809" y="5289270"/>
            <a:ext cx="121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Epoch-level consistency</a:t>
            </a:r>
            <a:endParaRPr lang="zh-CN" altLang="en-US" sz="12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本框 659"/>
              <p:cNvSpPr txBox="1"/>
              <p:nvPr/>
            </p:nvSpPr>
            <p:spPr>
              <a:xfrm>
                <a:off x="3670705" y="5768984"/>
                <a:ext cx="6560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0" name="文本框 6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705" y="5768984"/>
                <a:ext cx="656065" cy="307777"/>
              </a:xfrm>
              <a:prstGeom prst="rect">
                <a:avLst/>
              </a:prstGeom>
              <a:blipFill rotWithShape="1">
                <a:blip r:embed="rId57"/>
                <a:stretch>
                  <a:fillRect l="-62" t="-3" r="78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矩形: 圆角 660"/>
          <p:cNvSpPr/>
          <p:nvPr/>
        </p:nvSpPr>
        <p:spPr>
          <a:xfrm>
            <a:off x="3405077" y="5283082"/>
            <a:ext cx="1156131" cy="1793605"/>
          </a:xfrm>
          <a:prstGeom prst="roundRect">
            <a:avLst>
              <a:gd name="adj" fmla="val 8696"/>
            </a:avLst>
          </a:prstGeom>
          <a:noFill/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2" name="文本框 661"/>
          <p:cNvSpPr txBox="1"/>
          <p:nvPr/>
        </p:nvSpPr>
        <p:spPr>
          <a:xfrm>
            <a:off x="4840068" y="5246688"/>
            <a:ext cx="121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source reliability</a:t>
            </a:r>
            <a:endParaRPr lang="zh-CN" altLang="en-US" sz="12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4" name="矩形: 圆角 663"/>
          <p:cNvSpPr/>
          <p:nvPr/>
        </p:nvSpPr>
        <p:spPr>
          <a:xfrm>
            <a:off x="4638832" y="5269852"/>
            <a:ext cx="1622330" cy="1793605"/>
          </a:xfrm>
          <a:prstGeom prst="roundRect">
            <a:avLst>
              <a:gd name="adj" fmla="val 8696"/>
            </a:avLst>
          </a:prstGeom>
          <a:noFill/>
          <a:ln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" name="文本框 664"/>
              <p:cNvSpPr txBox="1"/>
              <p:nvPr/>
            </p:nvSpPr>
            <p:spPr>
              <a:xfrm>
                <a:off x="4854427" y="6539309"/>
                <a:ext cx="1191141" cy="497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5" name="文本框 6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427" y="6539309"/>
                <a:ext cx="1191141" cy="497572"/>
              </a:xfrm>
              <a:prstGeom prst="rect">
                <a:avLst/>
              </a:prstGeom>
              <a:blipFill rotWithShape="1">
                <a:blip r:embed="rId26"/>
                <a:stretch>
                  <a:fillRect l="-41" t="-16" r="31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6" name="文本框 665"/>
              <p:cNvSpPr txBox="1"/>
              <p:nvPr/>
            </p:nvSpPr>
            <p:spPr>
              <a:xfrm>
                <a:off x="4637092" y="5935378"/>
                <a:ext cx="16258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zh-CN" altLang="en-US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CN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zh-CN" altLang="en-US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zh-CN" altLang="en-US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𝜂</m:t>
                      </m:r>
                      <m:acc>
                        <m:accPr>
                          <m:chr m:val="̅"/>
                          <m:ctrlPr>
                            <a:rPr lang="zh-CN" altLang="en-US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6" name="文本框 6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092" y="5935378"/>
                <a:ext cx="1625810" cy="307777"/>
              </a:xfrm>
              <a:prstGeom prst="rect">
                <a:avLst/>
              </a:prstGeom>
              <a:blipFill rotWithShape="1">
                <a:blip r:embed="rId58"/>
                <a:stretch>
                  <a:fillRect l="-20" t="-11" r="33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" name="文本框 666"/>
              <p:cNvSpPr txBox="1"/>
              <p:nvPr/>
            </p:nvSpPr>
            <p:spPr>
              <a:xfrm>
                <a:off x="4495336" y="6163675"/>
                <a:ext cx="190932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zh-CN" altLang="en-US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zh-CN" altLang="en-US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zh-CN" altLang="en-US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𝜂</m:t>
                      </m:r>
                      <m:r>
                        <a:rPr lang="en-US" altLang="zh-CN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n-US" altLang="zh-CN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US" altLang="zh-CN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zh-CN" altLang="en-US" sz="1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7" name="文本框 6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336" y="6163675"/>
                <a:ext cx="1909322" cy="307777"/>
              </a:xfrm>
              <a:prstGeom prst="rect">
                <a:avLst/>
              </a:prstGeom>
              <a:blipFill rotWithShape="1">
                <a:blip r:embed="rId59"/>
                <a:stretch>
                  <a:fillRect l="-9" t="-119" r="3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8" name="文本框 667"/>
              <p:cNvSpPr txBox="1"/>
              <p:nvPr/>
            </p:nvSpPr>
            <p:spPr>
              <a:xfrm>
                <a:off x="4637092" y="5589477"/>
                <a:ext cx="16258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zh-CN" altLang="en-US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zh-CN" altLang="en-US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8" name="文本框 6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092" y="5589477"/>
                <a:ext cx="1625810" cy="307777"/>
              </a:xfrm>
              <a:prstGeom prst="rect">
                <a:avLst/>
              </a:prstGeom>
              <a:blipFill rotWithShape="1">
                <a:blip r:embed="rId60"/>
                <a:stretch>
                  <a:fillRect l="-20" t="-67" r="3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" name="箭头: 右 674"/>
          <p:cNvSpPr/>
          <p:nvPr/>
        </p:nvSpPr>
        <p:spPr>
          <a:xfrm rot="5400000">
            <a:off x="5405204" y="5870686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6" name="箭头: 右 675"/>
          <p:cNvSpPr/>
          <p:nvPr/>
        </p:nvSpPr>
        <p:spPr>
          <a:xfrm rot="5400000">
            <a:off x="5408682" y="6437184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82" name="图形 681"/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-194498" y="6107053"/>
            <a:ext cx="1128128" cy="839878"/>
          </a:xfrm>
          <a:prstGeom prst="rect">
            <a:avLst/>
          </a:prstGeom>
        </p:spPr>
      </p:pic>
      <p:sp>
        <p:nvSpPr>
          <p:cNvPr id="686" name="矩形: 圆角 685"/>
          <p:cNvSpPr/>
          <p:nvPr/>
        </p:nvSpPr>
        <p:spPr>
          <a:xfrm>
            <a:off x="6575041" y="-578921"/>
            <a:ext cx="6956648" cy="7814092"/>
          </a:xfrm>
          <a:prstGeom prst="roundRect">
            <a:avLst>
              <a:gd name="adj" fmla="val 22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88" name="图片 687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32038" y="6183789"/>
            <a:ext cx="1062341" cy="686407"/>
          </a:xfrm>
          <a:prstGeom prst="rect">
            <a:avLst/>
          </a:prstGeom>
        </p:spPr>
      </p:pic>
      <p:pic>
        <p:nvPicPr>
          <p:cNvPr id="690" name="图片 689"/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39" y="6189127"/>
            <a:ext cx="1041208" cy="675730"/>
          </a:xfrm>
          <a:prstGeom prst="rect">
            <a:avLst/>
          </a:prstGeom>
        </p:spPr>
      </p:pic>
      <p:pic>
        <p:nvPicPr>
          <p:cNvPr id="695" name="图片 694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462597" y="6116832"/>
            <a:ext cx="1066697" cy="844953"/>
          </a:xfrm>
          <a:prstGeom prst="rect">
            <a:avLst/>
          </a:prstGeom>
        </p:spPr>
      </p:pic>
      <p:sp>
        <p:nvSpPr>
          <p:cNvPr id="696" name="箭头: 右 695"/>
          <p:cNvSpPr/>
          <p:nvPr/>
        </p:nvSpPr>
        <p:spPr>
          <a:xfrm>
            <a:off x="906123" y="6034661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7" name="箭头: 右 696"/>
          <p:cNvSpPr/>
          <p:nvPr/>
        </p:nvSpPr>
        <p:spPr>
          <a:xfrm>
            <a:off x="2136182" y="6034661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8" name="箭头: 右 697"/>
          <p:cNvSpPr/>
          <p:nvPr/>
        </p:nvSpPr>
        <p:spPr>
          <a:xfrm>
            <a:off x="3326878" y="6027533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9" name="箭头: 右 698"/>
          <p:cNvSpPr/>
          <p:nvPr/>
        </p:nvSpPr>
        <p:spPr>
          <a:xfrm>
            <a:off x="4556937" y="6027533"/>
            <a:ext cx="135785" cy="144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728397" y="56044"/>
            <a:ext cx="6608942" cy="2159232"/>
            <a:chOff x="2476793" y="2089771"/>
            <a:chExt cx="6608942" cy="2159232"/>
          </a:xfrm>
        </p:grpSpPr>
        <p:sp>
          <p:nvSpPr>
            <p:cNvPr id="3" name="文本框 2"/>
            <p:cNvSpPr txBox="1"/>
            <p:nvPr/>
          </p:nvSpPr>
          <p:spPr>
            <a:xfrm>
              <a:off x="2476793" y="2099660"/>
              <a:ext cx="21575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Circuit Decomposition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2517788" y="2089771"/>
              <a:ext cx="6567947" cy="2159232"/>
            </a:xfrm>
            <a:prstGeom prst="roundRect">
              <a:avLst>
                <a:gd name="adj" fmla="val 485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8825410" y="84909"/>
            <a:ext cx="2455910" cy="566584"/>
            <a:chOff x="8766864" y="271354"/>
            <a:chExt cx="2455910" cy="5665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8766864" y="499384"/>
                  <a:ext cx="2455910" cy="338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prstDash val="sysDot"/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kumimoji="0" lang="en-US" altLang="zh-C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𝑁𝑈𝑀</m:t>
                            </m:r>
                          </m:sub>
                        </m:s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⋀</m:t>
                        </m:r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𝑇𝑋𝑇</m:t>
                            </m:r>
                          </m:sub>
                        </m:sSub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⋀</m:t>
                        </m:r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𝑅𝐸𝐿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864" y="499384"/>
                  <a:ext cx="2455910" cy="338554"/>
                </a:xfrm>
                <a:prstGeom prst="rect">
                  <a:avLst/>
                </a:prstGeom>
                <a:blipFill rotWithShape="1">
                  <a:blip r:embed="rId66"/>
                </a:blipFill>
                <a:ln>
                  <a:solidFill>
                    <a:schemeClr val="tx1"/>
                  </a:solidFill>
                  <a:prstDash val="sys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9119936" y="271354"/>
              <a:ext cx="174976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Overall </a:t>
              </a:r>
              <a:r>
                <a:rPr lang="en-US" altLang="zh-CN" sz="1400" i="1" dirty="0" err="1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Circom</a:t>
              </a:r>
              <a:r>
                <a:rPr lang="en-US" altLang="zh-CN" sz="14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Circuit</a:t>
              </a:r>
              <a:endParaRPr lang="zh-CN" altLang="en-US" sz="14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93" name="组合 492"/>
          <p:cNvGrpSpPr/>
          <p:nvPr/>
        </p:nvGrpSpPr>
        <p:grpSpPr>
          <a:xfrm>
            <a:off x="6857848" y="857465"/>
            <a:ext cx="2158425" cy="1320387"/>
            <a:chOff x="6875628" y="864889"/>
            <a:chExt cx="2158425" cy="1320387"/>
          </a:xfrm>
        </p:grpSpPr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8055236" y="1777118"/>
              <a:ext cx="291417" cy="291417"/>
            </a:xfrm>
            <a:prstGeom prst="rect">
              <a:avLst/>
            </a:prstGeom>
          </p:spPr>
        </p:pic>
        <p:grpSp>
          <p:nvGrpSpPr>
            <p:cNvPr id="454" name="组合 453"/>
            <p:cNvGrpSpPr/>
            <p:nvPr/>
          </p:nvGrpSpPr>
          <p:grpSpPr>
            <a:xfrm>
              <a:off x="6935992" y="1232700"/>
              <a:ext cx="1247369" cy="400110"/>
              <a:chOff x="6922232" y="1061673"/>
              <a:chExt cx="1247369" cy="400110"/>
            </a:xfrm>
          </p:grpSpPr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22232" y="1124841"/>
                <a:ext cx="555193" cy="264602"/>
              </a:xfrm>
              <a:prstGeom prst="rect">
                <a:avLst/>
              </a:prstGeom>
            </p:spPr>
          </p:pic>
          <p:sp>
            <p:nvSpPr>
              <p:cNvPr id="41" name="文本框 40"/>
              <p:cNvSpPr txBox="1"/>
              <p:nvPr/>
            </p:nvSpPr>
            <p:spPr>
              <a:xfrm>
                <a:off x="7321853" y="1061673"/>
                <a:ext cx="8477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Numerical</a:t>
                </a:r>
                <a:endPara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000" i="1" dirty="0">
                    <a:solidFill>
                      <a:srgbClr val="0547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reports</a:t>
                </a:r>
                <a:endParaRPr lang="zh-CN" altLang="en-US" sz="1000" i="1" dirty="0">
                  <a:solidFill>
                    <a:srgbClr val="0547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7994631" y="1235073"/>
              <a:ext cx="412627" cy="412627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8200296" y="1247590"/>
              <a:ext cx="7995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Reliability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gating</a:t>
              </a:r>
              <a:endParaRPr lang="zh-CN" altLang="en-US" sz="10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6" name="文本框 455"/>
            <p:cNvSpPr txBox="1"/>
            <p:nvPr/>
          </p:nvSpPr>
          <p:spPr>
            <a:xfrm>
              <a:off x="8234468" y="1708797"/>
              <a:ext cx="7995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Numerical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consistency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7" name="文本框 456"/>
            <p:cNvSpPr txBox="1"/>
            <p:nvPr/>
          </p:nvSpPr>
          <p:spPr>
            <a:xfrm>
              <a:off x="7337934" y="1609224"/>
              <a:ext cx="79958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Robust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numerical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estimation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62" name="图片 461"/>
            <p:cNvPicPr>
              <a:picLocks noChangeAspect="1"/>
            </p:cNvPicPr>
            <p:nvPr/>
          </p:nvPicPr>
          <p:blipFill>
            <a:blip r:embed="rId69"/>
            <a:srcRect t="-7756" r="10191"/>
            <a:stretch>
              <a:fillRect/>
            </a:stretch>
          </p:blipFill>
          <p:spPr>
            <a:xfrm>
              <a:off x="6922014" y="1714429"/>
              <a:ext cx="540143" cy="342523"/>
            </a:xfrm>
            <a:prstGeom prst="rect">
              <a:avLst/>
            </a:prstGeom>
          </p:spPr>
        </p:pic>
        <p:sp>
          <p:nvSpPr>
            <p:cNvPr id="464" name="流程图: 可选过程 463"/>
            <p:cNvSpPr/>
            <p:nvPr/>
          </p:nvSpPr>
          <p:spPr>
            <a:xfrm>
              <a:off x="6875628" y="1120074"/>
              <a:ext cx="2083315" cy="1065202"/>
            </a:xfrm>
            <a:prstGeom prst="flowChartAlternateProcess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0" name="文本框 489"/>
                <p:cNvSpPr txBox="1"/>
                <p:nvPr/>
              </p:nvSpPr>
              <p:spPr>
                <a:xfrm>
                  <a:off x="7514836" y="864889"/>
                  <a:ext cx="804899" cy="33855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547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547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547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𝑁𝑈𝑀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90" name="文本框 4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4836" y="864889"/>
                  <a:ext cx="804899" cy="338554"/>
                </a:xfrm>
                <a:prstGeom prst="rect">
                  <a:avLst/>
                </a:prstGeom>
                <a:blipFill rotWithShape="1">
                  <a:blip r:embed="rId7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文本框 63"/>
          <p:cNvSpPr txBox="1"/>
          <p:nvPr/>
        </p:nvSpPr>
        <p:spPr>
          <a:xfrm>
            <a:off x="9474200" y="1225550"/>
            <a:ext cx="847725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SBERT</a:t>
            </a:r>
            <a:endParaRPr lang="en-US" altLang="zh-CN" sz="10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embeddings</a:t>
            </a:r>
            <a:endParaRPr lang="en-US" altLang="zh-CN" sz="10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0" name="文本框 499"/>
          <p:cNvSpPr txBox="1"/>
          <p:nvPr/>
        </p:nvSpPr>
        <p:spPr>
          <a:xfrm>
            <a:off x="10314305" y="1148080"/>
            <a:ext cx="799465" cy="553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affinity</a:t>
            </a:r>
            <a:endParaRPr lang="en-US" altLang="zh-CN" sz="10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</a:t>
            </a:r>
            <a:endParaRPr lang="en-US" altLang="zh-CN" sz="10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1" name="文本框 500"/>
          <p:cNvSpPr txBox="1"/>
          <p:nvPr/>
        </p:nvSpPr>
        <p:spPr>
          <a:xfrm>
            <a:off x="10398125" y="1701165"/>
            <a:ext cx="799465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Textual</a:t>
            </a:r>
            <a:endParaRPr lang="en-US" altLang="zh-CN" sz="10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consistency</a:t>
            </a:r>
            <a:endParaRPr lang="en-US" altLang="zh-CN" sz="10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2" name="文本框 501"/>
          <p:cNvSpPr txBox="1"/>
          <p:nvPr/>
        </p:nvSpPr>
        <p:spPr>
          <a:xfrm>
            <a:off x="9501505" y="1579880"/>
            <a:ext cx="799465" cy="553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Trust-aware</a:t>
            </a:r>
            <a:endParaRPr lang="en-US" altLang="zh-CN" sz="10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voting</a:t>
            </a:r>
            <a:endParaRPr lang="zh-CN" altLang="en-US" sz="10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7" name="流程图: 可选过程 506"/>
          <p:cNvSpPr/>
          <p:nvPr/>
        </p:nvSpPr>
        <p:spPr>
          <a:xfrm>
            <a:off x="8998585" y="1122680"/>
            <a:ext cx="2083435" cy="1064895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8" name="文本框 507"/>
              <p:cNvSpPr txBox="1"/>
              <p:nvPr/>
            </p:nvSpPr>
            <p:spPr>
              <a:xfrm>
                <a:off x="9651365" y="857250"/>
                <a:ext cx="805180" cy="3384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547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547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547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𝑇𝑋𝑇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8" name="文本框 5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365" y="857250"/>
                <a:ext cx="805180" cy="338455"/>
              </a:xfrm>
              <a:prstGeom prst="rect">
                <a:avLst/>
              </a:prstGeom>
              <a:blipFill rotWithShape="1"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组合 64"/>
          <p:cNvGrpSpPr/>
          <p:nvPr/>
        </p:nvGrpSpPr>
        <p:grpSpPr>
          <a:xfrm>
            <a:off x="11156391" y="866990"/>
            <a:ext cx="2174754" cy="1320387"/>
            <a:chOff x="6875628" y="864889"/>
            <a:chExt cx="2174754" cy="1320387"/>
          </a:xfrm>
        </p:grpSpPr>
        <p:sp>
          <p:nvSpPr>
            <p:cNvPr id="512" name="文本框 511"/>
            <p:cNvSpPr txBox="1"/>
            <p:nvPr/>
          </p:nvSpPr>
          <p:spPr>
            <a:xfrm>
              <a:off x="7250624" y="1232866"/>
              <a:ext cx="8477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Numerical consistency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8243839" y="1234680"/>
              <a:ext cx="7995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Textual consistency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8250797" y="1679783"/>
              <a:ext cx="7995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Epoch-level consistency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7232977" y="1679783"/>
              <a:ext cx="7995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Object-level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0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consistency</a:t>
              </a:r>
              <a:endParaRPr lang="en-US" altLang="zh-CN" sz="10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5" name="流程图: 可选过程 124"/>
            <p:cNvSpPr/>
            <p:nvPr/>
          </p:nvSpPr>
          <p:spPr>
            <a:xfrm>
              <a:off x="6875628" y="1120074"/>
              <a:ext cx="2083315" cy="1065202"/>
            </a:xfrm>
            <a:prstGeom prst="flowChartAlternateProcess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/>
                <p:cNvSpPr txBox="1"/>
                <p:nvPr/>
              </p:nvSpPr>
              <p:spPr>
                <a:xfrm>
                  <a:off x="7514836" y="864889"/>
                  <a:ext cx="804899" cy="33855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547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547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547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𝑅𝐸𝐿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6" name="文本框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4836" y="864889"/>
                  <a:ext cx="804899" cy="338554"/>
                </a:xfrm>
                <a:prstGeom prst="rect">
                  <a:avLst/>
                </a:prstGeom>
                <a:blipFill rotWithShape="1">
                  <a:blip r:embed="rId7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17" name="图形 516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224822" y="1292685"/>
            <a:ext cx="319721" cy="319721"/>
          </a:xfrm>
          <a:prstGeom prst="rect">
            <a:avLst/>
          </a:prstGeom>
        </p:spPr>
      </p:pic>
      <p:pic>
        <p:nvPicPr>
          <p:cNvPr id="519" name="图形 518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5400000">
            <a:off x="10168015" y="1320557"/>
            <a:ext cx="360834" cy="216500"/>
          </a:xfrm>
          <a:prstGeom prst="rect">
            <a:avLst/>
          </a:prstGeom>
        </p:spPr>
      </p:pic>
      <p:pic>
        <p:nvPicPr>
          <p:cNvPr id="523" name="图片 52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242906" y="1744751"/>
            <a:ext cx="232841" cy="330158"/>
          </a:xfrm>
          <a:prstGeom prst="rect">
            <a:avLst/>
          </a:prstGeom>
        </p:spPr>
      </p:pic>
      <p:pic>
        <p:nvPicPr>
          <p:cNvPr id="531" name="图片 530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9164441" y="1785628"/>
            <a:ext cx="440484" cy="215498"/>
          </a:xfrm>
          <a:prstGeom prst="rect">
            <a:avLst/>
          </a:prstGeom>
        </p:spPr>
      </p:pic>
      <p:pic>
        <p:nvPicPr>
          <p:cNvPr id="532" name="图形 531"/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1281619" y="1295868"/>
            <a:ext cx="400568" cy="298218"/>
          </a:xfrm>
          <a:prstGeom prst="rect">
            <a:avLst/>
          </a:prstGeom>
        </p:spPr>
      </p:pic>
      <p:pic>
        <p:nvPicPr>
          <p:cNvPr id="533" name="图片 532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2323306" y="1320858"/>
            <a:ext cx="343855" cy="222174"/>
          </a:xfrm>
          <a:prstGeom prst="rect">
            <a:avLst/>
          </a:prstGeom>
        </p:spPr>
      </p:pic>
      <p:pic>
        <p:nvPicPr>
          <p:cNvPr id="534" name="图片 533"/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2989" y="1751692"/>
            <a:ext cx="316203" cy="205211"/>
          </a:xfrm>
          <a:prstGeom prst="rect">
            <a:avLst/>
          </a:prstGeom>
        </p:spPr>
      </p:pic>
      <p:pic>
        <p:nvPicPr>
          <p:cNvPr id="535" name="图片 534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2338474" y="1749483"/>
            <a:ext cx="315124" cy="249616"/>
          </a:xfrm>
          <a:prstGeom prst="rect">
            <a:avLst/>
          </a:prstGeom>
        </p:spPr>
      </p:pic>
      <p:cxnSp>
        <p:nvCxnSpPr>
          <p:cNvPr id="537" name="连接符: 肘形 536"/>
          <p:cNvCxnSpPr>
            <a:stCxn id="6" idx="2"/>
            <a:endCxn id="490" idx="0"/>
          </p:cNvCxnSpPr>
          <p:nvPr/>
        </p:nvCxnSpPr>
        <p:spPr>
          <a:xfrm rot="5400000">
            <a:off x="8873490" y="-322580"/>
            <a:ext cx="205740" cy="21539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连接符: 肘形 537"/>
          <p:cNvCxnSpPr>
            <a:stCxn id="6" idx="2"/>
            <a:endCxn id="126" idx="0"/>
          </p:cNvCxnSpPr>
          <p:nvPr/>
        </p:nvCxnSpPr>
        <p:spPr>
          <a:xfrm rot="5400000" flipV="1">
            <a:off x="11018203" y="-313372"/>
            <a:ext cx="215265" cy="21450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直接箭头连接符 543"/>
          <p:cNvCxnSpPr>
            <a:stCxn id="6" idx="2"/>
            <a:endCxn id="508" idx="0"/>
          </p:cNvCxnSpPr>
          <p:nvPr/>
        </p:nvCxnSpPr>
        <p:spPr>
          <a:xfrm>
            <a:off x="10053365" y="651493"/>
            <a:ext cx="635" cy="205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5" name="组合 544"/>
          <p:cNvGrpSpPr/>
          <p:nvPr/>
        </p:nvGrpSpPr>
        <p:grpSpPr>
          <a:xfrm>
            <a:off x="6582949" y="2269290"/>
            <a:ext cx="6756814" cy="2430763"/>
            <a:chOff x="2328921" y="2066369"/>
            <a:chExt cx="6756814" cy="2319452"/>
          </a:xfrm>
        </p:grpSpPr>
        <p:sp>
          <p:nvSpPr>
            <p:cNvPr id="546" name="文本框 545"/>
            <p:cNvSpPr txBox="1"/>
            <p:nvPr/>
          </p:nvSpPr>
          <p:spPr>
            <a:xfrm>
              <a:off x="2328921" y="2066369"/>
              <a:ext cx="2646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Public Input and Witness</a:t>
              </a:r>
              <a:endParaRPr lang="zh-CN" altLang="en-US" sz="1600" b="1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7" name="矩形: 圆角 546"/>
            <p:cNvSpPr/>
            <p:nvPr/>
          </p:nvSpPr>
          <p:spPr>
            <a:xfrm>
              <a:off x="2517788" y="2089771"/>
              <a:ext cx="6567947" cy="2296050"/>
            </a:xfrm>
            <a:prstGeom prst="roundRect">
              <a:avLst>
                <a:gd name="adj" fmla="val 485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文本框 547"/>
              <p:cNvSpPr txBox="1"/>
              <p:nvPr/>
            </p:nvSpPr>
            <p:spPr>
              <a:xfrm>
                <a:off x="7205098" y="2752278"/>
                <a:ext cx="2294403" cy="278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𝑝𝑢𝑏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=({</m:t>
                      </m:r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CN" sz="11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,{</m:t>
                      </m:r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1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548" name="文本框 5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098" y="2752278"/>
                <a:ext cx="2294403" cy="278602"/>
              </a:xfrm>
              <a:prstGeom prst="rect">
                <a:avLst/>
              </a:prstGeom>
              <a:blipFill rotWithShape="1">
                <a:blip r:embed="rId74"/>
                <a:stretch>
                  <a:fillRect l="-17" t="-67" r="23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0" name="文本框 549"/>
          <p:cNvSpPr txBox="1"/>
          <p:nvPr/>
        </p:nvSpPr>
        <p:spPr>
          <a:xfrm>
            <a:off x="6728882" y="3141321"/>
            <a:ext cx="1293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Trusted outputs</a:t>
            </a:r>
            <a:endParaRPr lang="zh-CN" altLang="en-US" sz="11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1" name="矩形: 圆角 550"/>
          <p:cNvSpPr/>
          <p:nvPr/>
        </p:nvSpPr>
        <p:spPr>
          <a:xfrm>
            <a:off x="6859663" y="3101660"/>
            <a:ext cx="1447130" cy="1245887"/>
          </a:xfrm>
          <a:prstGeom prst="roundRect">
            <a:avLst>
              <a:gd name="adj" fmla="val 8696"/>
            </a:avLst>
          </a:prstGeom>
          <a:noFill/>
          <a:ln w="9525">
            <a:solidFill>
              <a:srgbClr val="215F9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3" name="文本框 552"/>
              <p:cNvSpPr txBox="1"/>
              <p:nvPr/>
            </p:nvSpPr>
            <p:spPr>
              <a:xfrm>
                <a:off x="7739661" y="3118238"/>
                <a:ext cx="6568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kumimoji="0" lang="en-US" altLang="zh-CN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</m:t>
                          </m:r>
                        </m:sub>
                      </m:sSub>
                      <m:r>
                        <a:rPr kumimoji="0" lang="en-US" altLang="zh-CN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US" altLang="zh-CN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kumimoji="0" lang="en-US" altLang="zh-CN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53" name="文本框 5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1" y="3118238"/>
                <a:ext cx="656840" cy="307777"/>
              </a:xfrm>
              <a:prstGeom prst="rect">
                <a:avLst/>
              </a:prstGeom>
              <a:blipFill rotWithShape="1">
                <a:blip r:embed="rId75"/>
                <a:stretch>
                  <a:fillRect l="-43" t="-126" r="8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9" name="组合 558"/>
          <p:cNvGrpSpPr/>
          <p:nvPr/>
        </p:nvGrpSpPr>
        <p:grpSpPr>
          <a:xfrm>
            <a:off x="6982144" y="3584524"/>
            <a:ext cx="731286" cy="612339"/>
            <a:chOff x="7343405" y="3596708"/>
            <a:chExt cx="731286" cy="612339"/>
          </a:xfrm>
        </p:grpSpPr>
        <p:pic>
          <p:nvPicPr>
            <p:cNvPr id="555" name="图片 55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371686" y="3596708"/>
              <a:ext cx="674724" cy="321570"/>
            </a:xfrm>
            <a:prstGeom prst="rect">
              <a:avLst/>
            </a:prstGeom>
          </p:spPr>
        </p:pic>
        <p:sp>
          <p:nvSpPr>
            <p:cNvPr id="557" name="文本框 556"/>
            <p:cNvSpPr txBox="1"/>
            <p:nvPr/>
          </p:nvSpPr>
          <p:spPr>
            <a:xfrm>
              <a:off x="7343405" y="3932048"/>
              <a:ext cx="731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numeric</a:t>
              </a:r>
              <a:endParaRPr lang="zh-CN" altLang="en-US" sz="12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60" name="组合 559"/>
          <p:cNvGrpSpPr/>
          <p:nvPr/>
        </p:nvGrpSpPr>
        <p:grpSpPr>
          <a:xfrm>
            <a:off x="7589030" y="3507162"/>
            <a:ext cx="731286" cy="689701"/>
            <a:chOff x="8045534" y="3519346"/>
            <a:chExt cx="731286" cy="689701"/>
          </a:xfrm>
        </p:grpSpPr>
        <p:pic>
          <p:nvPicPr>
            <p:cNvPr id="556" name="图片 555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244729" y="3519346"/>
              <a:ext cx="332897" cy="443023"/>
            </a:xfrm>
            <a:prstGeom prst="rect">
              <a:avLst/>
            </a:prstGeom>
          </p:spPr>
        </p:pic>
        <p:sp>
          <p:nvSpPr>
            <p:cNvPr id="558" name="文本框 557"/>
            <p:cNvSpPr txBox="1"/>
            <p:nvPr/>
          </p:nvSpPr>
          <p:spPr>
            <a:xfrm>
              <a:off x="8045534" y="3932048"/>
              <a:ext cx="731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textual</a:t>
              </a:r>
              <a:endParaRPr lang="zh-CN" altLang="en-US" sz="12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3" name="矩形: 圆角 562"/>
          <p:cNvSpPr/>
          <p:nvPr/>
        </p:nvSpPr>
        <p:spPr>
          <a:xfrm>
            <a:off x="8342843" y="3101660"/>
            <a:ext cx="1102330" cy="1245887"/>
          </a:xfrm>
          <a:prstGeom prst="roundRect">
            <a:avLst>
              <a:gd name="adj" fmla="val 8696"/>
            </a:avLst>
          </a:prstGeom>
          <a:noFill/>
          <a:ln w="9525">
            <a:solidFill>
              <a:srgbClr val="215F9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9" name="组合 148"/>
          <p:cNvGrpSpPr/>
          <p:nvPr/>
        </p:nvGrpSpPr>
        <p:grpSpPr>
          <a:xfrm>
            <a:off x="8139486" y="3118238"/>
            <a:ext cx="1293179" cy="307777"/>
            <a:chOff x="8499621" y="3095598"/>
            <a:chExt cx="1293179" cy="307777"/>
          </a:xfrm>
        </p:grpSpPr>
        <p:sp>
          <p:nvSpPr>
            <p:cNvPr id="562" name="文本框 561"/>
            <p:cNvSpPr txBox="1"/>
            <p:nvPr/>
          </p:nvSpPr>
          <p:spPr>
            <a:xfrm>
              <a:off x="8499621" y="3128677"/>
              <a:ext cx="12931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Reliabilities</a:t>
              </a:r>
              <a:endParaRPr lang="zh-CN" altLang="en-US" sz="11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9" name="文本框 568"/>
                <p:cNvSpPr txBox="1"/>
                <p:nvPr/>
              </p:nvSpPr>
              <p:spPr>
                <a:xfrm>
                  <a:off x="9461866" y="3095598"/>
                  <a:ext cx="28901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69" name="文本框 5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1866" y="3095598"/>
                  <a:ext cx="289013" cy="307777"/>
                </a:xfrm>
                <a:prstGeom prst="rect">
                  <a:avLst/>
                </a:prstGeom>
                <a:blipFill rotWithShape="1">
                  <a:blip r:embed="rId7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28" name="图片 127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8759693" y="3486168"/>
            <a:ext cx="319808" cy="403586"/>
          </a:xfrm>
          <a:prstGeom prst="rect">
            <a:avLst/>
          </a:prstGeom>
        </p:spPr>
      </p:pic>
      <p:sp>
        <p:nvSpPr>
          <p:cNvPr id="132" name="文本框 131"/>
          <p:cNvSpPr txBox="1"/>
          <p:nvPr/>
        </p:nvSpPr>
        <p:spPr>
          <a:xfrm>
            <a:off x="7389488" y="2484640"/>
            <a:ext cx="174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input</a:t>
            </a:r>
            <a:endParaRPr lang="zh-CN" altLang="en-US" sz="14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0790175" y="2484640"/>
            <a:ext cx="174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Witness</a:t>
            </a:r>
            <a:endParaRPr lang="zh-CN" altLang="en-US" sz="14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本框 133"/>
              <p:cNvSpPr txBox="1"/>
              <p:nvPr/>
            </p:nvSpPr>
            <p:spPr>
              <a:xfrm>
                <a:off x="9417611" y="2684247"/>
                <a:ext cx="396364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𝑤𝑖𝑡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=(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𝑎𝑔𝑒𝑛𝑡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𝑟𝑒𝑝𝑜𝑟𝑡𝑠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 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𝑖𝑛𝑡𝑒𝑟𝑚𝑒𝑑𝑖𝑎𝑡𝑒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𝑠𝑡𝑎𝑡𝑒𝑠</m:t>
                      </m:r>
                      <m:r>
                        <a:rPr lang="en-US" altLang="zh-CN" sz="11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</m:oMath>
                  </m:oMathPara>
                </a14:m>
                <a:endParaRPr lang="en-US" altLang="zh-CN" sz="1100" i="1" dirty="0">
                  <a:solidFill>
                    <a:prstClr val="black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𝑐𝑜𝑛𝑠𝑖𝑠𝑡𝑒𝑛𝑐𝑦</m:t>
                      </m:r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𝑠𝑐𝑜𝑟𝑒𝑠</m:t>
                      </m:r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𝐵𝑒𝑡𝑎</m:t>
                      </m:r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𝐵𝑒𝑟𝑛𝑜𝑢𝑙𝑙𝑖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sz="1100" i="1" dirty="0">
                  <a:solidFill>
                    <a:prstClr val="black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34" name="文本框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611" y="2684247"/>
                <a:ext cx="3963645" cy="430887"/>
              </a:xfrm>
              <a:prstGeom prst="rect">
                <a:avLst/>
              </a:prstGeom>
              <a:blipFill rotWithShape="1">
                <a:blip r:embed="rId78"/>
                <a:stretch>
                  <a:fillRect l="-14" t="-24" r="14" b="-1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组合 134"/>
          <p:cNvGrpSpPr/>
          <p:nvPr/>
        </p:nvGrpSpPr>
        <p:grpSpPr>
          <a:xfrm>
            <a:off x="9522926" y="3514199"/>
            <a:ext cx="1089400" cy="556349"/>
            <a:chOff x="9464895" y="5260475"/>
            <a:chExt cx="2170906" cy="955495"/>
          </a:xfrm>
        </p:grpSpPr>
        <p:pic>
          <p:nvPicPr>
            <p:cNvPr id="136" name="图形 13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4895" y="5260476"/>
              <a:ext cx="525270" cy="495090"/>
            </a:xfrm>
            <a:prstGeom prst="rect">
              <a:avLst/>
            </a:prstGeom>
          </p:spPr>
        </p:pic>
        <p:pic>
          <p:nvPicPr>
            <p:cNvPr id="137" name="图形 13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13441" y="5260476"/>
              <a:ext cx="525270" cy="495090"/>
            </a:xfrm>
            <a:prstGeom prst="rect">
              <a:avLst/>
            </a:prstGeom>
          </p:spPr>
        </p:pic>
        <p:pic>
          <p:nvPicPr>
            <p:cNvPr id="138" name="图形 13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10531" y="5260476"/>
              <a:ext cx="525270" cy="495090"/>
            </a:xfrm>
            <a:prstGeom prst="rect">
              <a:avLst/>
            </a:prstGeom>
          </p:spPr>
        </p:pic>
        <p:pic>
          <p:nvPicPr>
            <p:cNvPr id="139" name="图形 13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561988" y="5260475"/>
              <a:ext cx="525268" cy="495088"/>
            </a:xfrm>
            <a:prstGeom prst="rect">
              <a:avLst/>
            </a:prstGeom>
          </p:spPr>
        </p:pic>
        <p:sp>
          <p:nvSpPr>
            <p:cNvPr id="140" name="流程图: 接点 139"/>
            <p:cNvSpPr/>
            <p:nvPr/>
          </p:nvSpPr>
          <p:spPr>
            <a:xfrm>
              <a:off x="9596943" y="5970305"/>
              <a:ext cx="259296" cy="245659"/>
            </a:xfrm>
            <a:prstGeom prst="flowChartConnector">
              <a:avLst/>
            </a:prstGeom>
            <a:solidFill>
              <a:srgbClr val="537BC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 140"/>
            <p:cNvSpPr/>
            <p:nvPr/>
          </p:nvSpPr>
          <p:spPr>
            <a:xfrm>
              <a:off x="10146429" y="5970305"/>
              <a:ext cx="259296" cy="245659"/>
            </a:xfrm>
            <a:prstGeom prst="rect">
              <a:avLst/>
            </a:prstGeom>
            <a:solidFill>
              <a:srgbClr val="5DAE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等腰三角形 141"/>
            <p:cNvSpPr/>
            <p:nvPr/>
          </p:nvSpPr>
          <p:spPr>
            <a:xfrm>
              <a:off x="10682269" y="5970311"/>
              <a:ext cx="285909" cy="245659"/>
            </a:xfrm>
            <a:prstGeom prst="triangle">
              <a:avLst/>
            </a:prstGeom>
            <a:solidFill>
              <a:srgbClr val="FF842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菱形 142"/>
            <p:cNvSpPr/>
            <p:nvPr/>
          </p:nvSpPr>
          <p:spPr>
            <a:xfrm>
              <a:off x="11231595" y="5970305"/>
              <a:ext cx="285909" cy="245659"/>
            </a:xfrm>
            <a:prstGeom prst="diamond">
              <a:avLst/>
            </a:prstGeom>
            <a:solidFill>
              <a:srgbClr val="7D55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4" name="直接箭头连接符 143"/>
            <p:cNvCxnSpPr>
              <a:stCxn id="136" idx="2"/>
              <a:endCxn id="140" idx="0"/>
            </p:cNvCxnSpPr>
            <p:nvPr/>
          </p:nvCxnSpPr>
          <p:spPr>
            <a:xfrm flipH="1">
              <a:off x="9726591" y="5755566"/>
              <a:ext cx="941" cy="21473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>
              <a:stCxn id="137" idx="2"/>
              <a:endCxn id="141" idx="0"/>
            </p:cNvCxnSpPr>
            <p:nvPr/>
          </p:nvCxnSpPr>
          <p:spPr>
            <a:xfrm>
              <a:off x="10276075" y="5755576"/>
              <a:ext cx="0" cy="21473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>
              <a:stCxn id="139" idx="2"/>
              <a:endCxn id="142" idx="0"/>
            </p:cNvCxnSpPr>
            <p:nvPr/>
          </p:nvCxnSpPr>
          <p:spPr>
            <a:xfrm>
              <a:off x="10824626" y="5755563"/>
              <a:ext cx="602" cy="21474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>
              <a:stCxn id="138" idx="2"/>
              <a:endCxn id="143" idx="0"/>
            </p:cNvCxnSpPr>
            <p:nvPr/>
          </p:nvCxnSpPr>
          <p:spPr>
            <a:xfrm>
              <a:off x="11373685" y="5755564"/>
              <a:ext cx="1382" cy="21473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文本框 147"/>
          <p:cNvSpPr txBox="1"/>
          <p:nvPr/>
        </p:nvSpPr>
        <p:spPr>
          <a:xfrm>
            <a:off x="9329765" y="3141321"/>
            <a:ext cx="1293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reports</a:t>
            </a:r>
            <a:endParaRPr lang="zh-CN" altLang="en-US" sz="11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8259171" y="3868417"/>
            <a:ext cx="128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per-source </a:t>
            </a:r>
            <a:endParaRPr lang="en-US" altLang="zh-CN" sz="12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2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 scores</a:t>
            </a:r>
            <a:endParaRPr lang="zh-CN" altLang="en-US" sz="12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/>
              <p:cNvSpPr txBox="1"/>
              <p:nvPr/>
            </p:nvSpPr>
            <p:spPr>
              <a:xfrm>
                <a:off x="10313963" y="3121223"/>
                <a:ext cx="2841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ℎ</m:t>
                          </m:r>
                        </m:e>
                        <m:sub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</m:t>
                          </m:r>
                        </m:sub>
                        <m:sup>
                          <m:r>
                            <a:rPr kumimoji="0" lang="en-US" altLang="zh-CN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6" name="文本框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963" y="3121223"/>
                <a:ext cx="284160" cy="307777"/>
              </a:xfrm>
              <a:prstGeom prst="rect">
                <a:avLst/>
              </a:prstGeom>
              <a:blipFill rotWithShape="1">
                <a:blip r:embed="rId79"/>
                <a:stretch>
                  <a:fillRect l="-103" t="-64" r="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文本框 158"/>
          <p:cNvSpPr txBox="1"/>
          <p:nvPr/>
        </p:nvSpPr>
        <p:spPr>
          <a:xfrm>
            <a:off x="10534147" y="3066131"/>
            <a:ext cx="13947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</a:t>
            </a:r>
            <a:endParaRPr lang="en-US" altLang="zh-CN" sz="11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computation trace</a:t>
            </a:r>
            <a:endParaRPr lang="zh-CN" altLang="en-US" sz="11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11878711" y="3054140"/>
            <a:ext cx="13947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Consistency</a:t>
            </a:r>
            <a:endParaRPr lang="en-US" altLang="zh-CN" sz="11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Scores &amp; others</a:t>
            </a:r>
            <a:endParaRPr lang="zh-CN" altLang="en-US" sz="11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矩形: 圆角 166"/>
          <p:cNvSpPr/>
          <p:nvPr/>
        </p:nvSpPr>
        <p:spPr>
          <a:xfrm>
            <a:off x="9501263" y="3105496"/>
            <a:ext cx="1123198" cy="1245887"/>
          </a:xfrm>
          <a:prstGeom prst="roundRect">
            <a:avLst>
              <a:gd name="adj" fmla="val 8696"/>
            </a:avLst>
          </a:prstGeom>
          <a:noFill/>
          <a:ln w="9525">
            <a:solidFill>
              <a:srgbClr val="215F9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8" name="矩形: 圆角 167"/>
          <p:cNvSpPr/>
          <p:nvPr/>
        </p:nvSpPr>
        <p:spPr>
          <a:xfrm>
            <a:off x="10651520" y="3105496"/>
            <a:ext cx="1167646" cy="1245887"/>
          </a:xfrm>
          <a:prstGeom prst="roundRect">
            <a:avLst>
              <a:gd name="adj" fmla="val 8696"/>
            </a:avLst>
          </a:prstGeom>
          <a:noFill/>
          <a:ln w="9525">
            <a:solidFill>
              <a:srgbClr val="215F9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0" name="图形 708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0992833" y="3610412"/>
            <a:ext cx="660327" cy="643150"/>
          </a:xfrm>
          <a:prstGeom prst="rect">
            <a:avLst/>
          </a:prstGeom>
        </p:spPr>
      </p:pic>
      <p:sp>
        <p:nvSpPr>
          <p:cNvPr id="171" name="矩形: 圆角 170"/>
          <p:cNvSpPr/>
          <p:nvPr/>
        </p:nvSpPr>
        <p:spPr>
          <a:xfrm>
            <a:off x="11846229" y="3105496"/>
            <a:ext cx="1459742" cy="1245887"/>
          </a:xfrm>
          <a:prstGeom prst="roundRect">
            <a:avLst>
              <a:gd name="adj" fmla="val 8696"/>
            </a:avLst>
          </a:prstGeom>
          <a:noFill/>
          <a:ln w="9525">
            <a:solidFill>
              <a:srgbClr val="215F9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6" name="文本框 175"/>
          <p:cNvSpPr txBox="1"/>
          <p:nvPr/>
        </p:nvSpPr>
        <p:spPr>
          <a:xfrm>
            <a:off x="6272538" y="4700054"/>
            <a:ext cx="2646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Generation</a:t>
            </a:r>
            <a:endParaRPr lang="zh-CN" altLang="en-US" sz="16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7" name="矩形: 圆角 176"/>
          <p:cNvSpPr/>
          <p:nvPr/>
        </p:nvSpPr>
        <p:spPr>
          <a:xfrm>
            <a:off x="6780020" y="4759234"/>
            <a:ext cx="3245741" cy="2392679"/>
          </a:xfrm>
          <a:prstGeom prst="roundRect">
            <a:avLst>
              <a:gd name="adj" fmla="val 4853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9" name="图片 178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1946830" y="3889493"/>
            <a:ext cx="1258541" cy="419514"/>
          </a:xfrm>
          <a:prstGeom prst="rect">
            <a:avLst/>
          </a:prstGeom>
        </p:spPr>
      </p:pic>
      <p:sp>
        <p:nvSpPr>
          <p:cNvPr id="180" name="文本框 179"/>
          <p:cNvSpPr txBox="1"/>
          <p:nvPr/>
        </p:nvSpPr>
        <p:spPr>
          <a:xfrm>
            <a:off x="9587792" y="4700054"/>
            <a:ext cx="2646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Verification</a:t>
            </a:r>
            <a:endParaRPr lang="zh-CN" altLang="en-US" sz="1600" b="1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矩形: 圆角 180"/>
          <p:cNvSpPr/>
          <p:nvPr/>
        </p:nvSpPr>
        <p:spPr>
          <a:xfrm>
            <a:off x="10073503" y="4759234"/>
            <a:ext cx="3245741" cy="2392680"/>
          </a:xfrm>
          <a:prstGeom prst="roundRect">
            <a:avLst>
              <a:gd name="adj" fmla="val 4853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7" name="图片 186"/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21"/>
          <a:stretch>
            <a:fillRect/>
          </a:stretch>
        </p:blipFill>
        <p:spPr>
          <a:xfrm>
            <a:off x="12156881" y="3464379"/>
            <a:ext cx="838439" cy="397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本框 188"/>
              <p:cNvSpPr txBox="1"/>
              <p:nvPr/>
            </p:nvSpPr>
            <p:spPr>
              <a:xfrm>
                <a:off x="8814155" y="4386955"/>
                <a:ext cx="2294403" cy="261610"/>
              </a:xfrm>
              <a:prstGeom prst="rect">
                <a:avLst/>
              </a:prstGeom>
              <a:solidFill>
                <a:srgbClr val="E5F0E0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∃ 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𝑤𝑖𝑡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    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𝑠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𝑡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.  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  <m:d>
                        <m:dPr>
                          <m:ctrlPr>
                            <a:rPr kumimoji="0" lang="en-US" altLang="zh-CN" sz="11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0" lang="en-US" altLang="zh-CN" sz="11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𝑝𝑢𝑏</m:t>
                          </m:r>
                          <m:r>
                            <a:rPr kumimoji="0" lang="en-US" altLang="zh-CN" sz="11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kumimoji="0" lang="en-US" altLang="zh-CN" sz="11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𝑤𝑖𝑡</m:t>
                          </m:r>
                        </m:e>
                      </m:d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kumimoji="0" lang="en-US" altLang="zh-CN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9" name="文本框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155" y="4386955"/>
                <a:ext cx="2294403" cy="261610"/>
              </a:xfrm>
              <a:prstGeom prst="rect">
                <a:avLst/>
              </a:prstGeom>
              <a:blipFill rotWithShape="1">
                <a:blip r:embed="rId85"/>
                <a:stretch>
                  <a:fillRect l="-15" t="-143" r="22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1" name="直接连接符 590"/>
          <p:cNvCxnSpPr>
            <a:stCxn id="551" idx="2"/>
            <a:endCxn id="189" idx="1"/>
          </p:cNvCxnSpPr>
          <p:nvPr/>
        </p:nvCxnSpPr>
        <p:spPr>
          <a:xfrm>
            <a:off x="7583228" y="4347547"/>
            <a:ext cx="1230927" cy="170213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直接连接符 595"/>
          <p:cNvCxnSpPr>
            <a:stCxn id="171" idx="2"/>
            <a:endCxn id="189" idx="3"/>
          </p:cNvCxnSpPr>
          <p:nvPr/>
        </p:nvCxnSpPr>
        <p:spPr>
          <a:xfrm flipH="1">
            <a:off x="11108558" y="4351383"/>
            <a:ext cx="1467542" cy="166377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5" name="组合 624"/>
          <p:cNvGrpSpPr/>
          <p:nvPr/>
        </p:nvGrpSpPr>
        <p:grpSpPr>
          <a:xfrm>
            <a:off x="6876469" y="4950606"/>
            <a:ext cx="1447130" cy="1009322"/>
            <a:chOff x="6822039" y="4956049"/>
            <a:chExt cx="1447130" cy="1009322"/>
          </a:xfrm>
        </p:grpSpPr>
        <p:sp>
          <p:nvSpPr>
            <p:cNvPr id="605" name="文本框 604"/>
            <p:cNvSpPr txBox="1"/>
            <p:nvPr/>
          </p:nvSpPr>
          <p:spPr>
            <a:xfrm>
              <a:off x="6899015" y="4956049"/>
              <a:ext cx="129317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Setup/Backend</a:t>
              </a:r>
              <a:endPara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1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(Circom+Groth16)</a:t>
              </a:r>
              <a:endParaRPr lang="zh-CN" altLang="en-US" sz="11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6" name="矩形: 圆角 605"/>
            <p:cNvSpPr/>
            <p:nvPr/>
          </p:nvSpPr>
          <p:spPr>
            <a:xfrm>
              <a:off x="6822039" y="4997268"/>
              <a:ext cx="1447130" cy="968103"/>
            </a:xfrm>
            <a:prstGeom prst="roundRect">
              <a:avLst>
                <a:gd name="adj" fmla="val 8696"/>
              </a:avLst>
            </a:prstGeom>
            <a:noFill/>
            <a:ln w="9525">
              <a:solidFill>
                <a:srgbClr val="215F9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23" name="组合 622"/>
          <p:cNvGrpSpPr/>
          <p:nvPr/>
        </p:nvGrpSpPr>
        <p:grpSpPr>
          <a:xfrm>
            <a:off x="6870044" y="6107262"/>
            <a:ext cx="3003674" cy="968103"/>
            <a:chOff x="6820751" y="6107262"/>
            <a:chExt cx="1450232" cy="968103"/>
          </a:xfrm>
        </p:grpSpPr>
        <p:sp>
          <p:nvSpPr>
            <p:cNvPr id="607" name="文本框 606"/>
            <p:cNvSpPr txBox="1"/>
            <p:nvPr/>
          </p:nvSpPr>
          <p:spPr>
            <a:xfrm>
              <a:off x="6820751" y="6277387"/>
              <a:ext cx="38056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Generate Proof</a:t>
              </a:r>
              <a:endPara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altLang="zh-CN" sz="11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(Prover)</a:t>
              </a:r>
              <a:endParaRPr lang="zh-CN" altLang="en-US" sz="11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9" name="矩形: 圆角 608"/>
            <p:cNvSpPr/>
            <p:nvPr/>
          </p:nvSpPr>
          <p:spPr>
            <a:xfrm>
              <a:off x="6823853" y="6107262"/>
              <a:ext cx="1447130" cy="968103"/>
            </a:xfrm>
            <a:prstGeom prst="roundRect">
              <a:avLst>
                <a:gd name="adj" fmla="val 8696"/>
              </a:avLst>
            </a:prstGeom>
            <a:noFill/>
            <a:ln w="9525">
              <a:solidFill>
                <a:srgbClr val="215F9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24" name="组合 623"/>
          <p:cNvGrpSpPr/>
          <p:nvPr/>
        </p:nvGrpSpPr>
        <p:grpSpPr>
          <a:xfrm>
            <a:off x="8442197" y="4950606"/>
            <a:ext cx="1447130" cy="1009322"/>
            <a:chOff x="8387767" y="4950606"/>
            <a:chExt cx="1447130" cy="1009322"/>
          </a:xfrm>
        </p:grpSpPr>
        <p:sp>
          <p:nvSpPr>
            <p:cNvPr id="613" name="文本框 612"/>
            <p:cNvSpPr txBox="1"/>
            <p:nvPr/>
          </p:nvSpPr>
          <p:spPr>
            <a:xfrm>
              <a:off x="8464743" y="4950606"/>
              <a:ext cx="12931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i="1" dirty="0">
                  <a:solidFill>
                    <a:srgbClr val="0547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Construct Witness</a:t>
              </a:r>
              <a:endParaRPr lang="zh-CN" altLang="en-US" sz="1100" i="1" dirty="0">
                <a:solidFill>
                  <a:srgbClr val="0547A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4" name="矩形: 圆角 613"/>
            <p:cNvSpPr/>
            <p:nvPr/>
          </p:nvSpPr>
          <p:spPr>
            <a:xfrm>
              <a:off x="8387767" y="4991825"/>
              <a:ext cx="1447130" cy="968103"/>
            </a:xfrm>
            <a:prstGeom prst="roundRect">
              <a:avLst>
                <a:gd name="adj" fmla="val 8696"/>
              </a:avLst>
            </a:prstGeom>
            <a:noFill/>
            <a:ln w="9525">
              <a:solidFill>
                <a:srgbClr val="215F9A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627" name="图片 626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7130177" y="5360602"/>
            <a:ext cx="938415" cy="347751"/>
          </a:xfrm>
          <a:prstGeom prst="rect">
            <a:avLst/>
          </a:prstGeom>
        </p:spPr>
      </p:pic>
      <p:sp>
        <p:nvSpPr>
          <p:cNvPr id="628" name="文本框 627"/>
          <p:cNvSpPr txBox="1"/>
          <p:nvPr/>
        </p:nvSpPr>
        <p:spPr>
          <a:xfrm>
            <a:off x="6974825" y="5708353"/>
            <a:ext cx="1293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Trusted setup(CRS)</a:t>
            </a:r>
            <a:endParaRPr lang="zh-CN" altLang="en-US" sz="11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文本框 628"/>
              <p:cNvSpPr txBox="1"/>
              <p:nvPr/>
            </p:nvSpPr>
            <p:spPr>
              <a:xfrm>
                <a:off x="10569483" y="5152277"/>
                <a:ext cx="2294403" cy="261610"/>
              </a:xfrm>
              <a:prstGeom prst="rect">
                <a:avLst/>
              </a:prstGeom>
              <a:solidFill>
                <a:srgbClr val="E5F0E0"/>
              </a:solidFill>
              <a:ln>
                <a:solidFill>
                  <a:schemeClr val="tx1"/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𝑏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1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𝐸𝑅𝐼𝐹𝑌</m:t>
                          </m:r>
                        </m:sub>
                      </m:sSub>
                      <m:sSub>
                        <m:sSubPr>
                          <m:ctrlPr>
                            <a:rPr lang="en-US" altLang="zh-CN" sz="11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1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1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𝑅𝑂𝑂𝐹</m:t>
                          </m:r>
                        </m:sub>
                      </m:sSub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1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vk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𝑝𝑢𝑏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zh-CN" altLang="en-US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𝜋</m:t>
                      </m:r>
                      <m:r>
                        <a:rPr lang="en-US" altLang="zh-CN" sz="11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1100" dirty="0">
                  <a:solidFill>
                    <a:prstClr val="black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29" name="文本框 6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483" y="5152277"/>
                <a:ext cx="2294403" cy="261610"/>
              </a:xfrm>
              <a:prstGeom prst="rect">
                <a:avLst/>
              </a:prstGeom>
              <a:blipFill rotWithShape="1">
                <a:blip r:embed="rId87"/>
                <a:stretch>
                  <a:fillRect l="-300" t="-2627" r="-274" b="-2232"/>
                </a:stretch>
              </a:blipFill>
              <a:ln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3" name="图片 632"/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037" y="5182776"/>
            <a:ext cx="1106926" cy="714478"/>
          </a:xfrm>
          <a:prstGeom prst="rect">
            <a:avLst/>
          </a:prstGeom>
        </p:spPr>
      </p:pic>
      <p:cxnSp>
        <p:nvCxnSpPr>
          <p:cNvPr id="639" name="直接箭头连接符 638"/>
          <p:cNvCxnSpPr/>
          <p:nvPr/>
        </p:nvCxnSpPr>
        <p:spPr>
          <a:xfrm>
            <a:off x="8244568" y="5475877"/>
            <a:ext cx="2639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>
            <a:endCxn id="609" idx="0"/>
          </p:cNvCxnSpPr>
          <p:nvPr/>
        </p:nvCxnSpPr>
        <p:spPr>
          <a:xfrm flipH="1">
            <a:off x="8375094" y="5935378"/>
            <a:ext cx="80663" cy="171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文本框 204"/>
          <p:cNvSpPr txBox="1"/>
          <p:nvPr/>
        </p:nvSpPr>
        <p:spPr>
          <a:xfrm>
            <a:off x="10439151" y="5739107"/>
            <a:ext cx="1293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</a:t>
            </a:r>
            <a:endParaRPr lang="zh-CN" altLang="en-US" sz="1400" b="1" i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矩形: 圆角 205"/>
          <p:cNvSpPr/>
          <p:nvPr/>
        </p:nvSpPr>
        <p:spPr>
          <a:xfrm>
            <a:off x="10249244" y="5708353"/>
            <a:ext cx="1447130" cy="1368334"/>
          </a:xfrm>
          <a:prstGeom prst="roundRect">
            <a:avLst>
              <a:gd name="adj" fmla="val 8696"/>
            </a:avLst>
          </a:prstGeom>
          <a:noFill/>
          <a:ln w="952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8" name="文本框 207"/>
          <p:cNvSpPr txBox="1"/>
          <p:nvPr/>
        </p:nvSpPr>
        <p:spPr>
          <a:xfrm>
            <a:off x="12170235" y="5739107"/>
            <a:ext cx="91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Invalid</a:t>
            </a:r>
            <a:endParaRPr lang="zh-CN" altLang="en-US" sz="1400" b="1" i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11796716" y="5700233"/>
            <a:ext cx="1447130" cy="1376454"/>
          </a:xfrm>
          <a:prstGeom prst="roundRect">
            <a:avLst>
              <a:gd name="adj" fmla="val 8696"/>
            </a:avLst>
          </a:prstGeom>
          <a:noFill/>
          <a:ln w="952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1" name="图形 210"/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10651116" y="5786826"/>
            <a:ext cx="212339" cy="212339"/>
          </a:xfrm>
          <a:prstGeom prst="rect">
            <a:avLst/>
          </a:prstGeom>
        </p:spPr>
      </p:pic>
      <p:pic>
        <p:nvPicPr>
          <p:cNvPr id="213" name="图形 212"/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12138679" y="5779603"/>
            <a:ext cx="226785" cy="226785"/>
          </a:xfrm>
          <a:prstGeom prst="rect">
            <a:avLst/>
          </a:prstGeom>
        </p:spPr>
      </p:pic>
      <p:sp>
        <p:nvSpPr>
          <p:cNvPr id="230" name="文本框 229"/>
          <p:cNvSpPr txBox="1"/>
          <p:nvPr/>
        </p:nvSpPr>
        <p:spPr>
          <a:xfrm>
            <a:off x="10196200" y="6010971"/>
            <a:ext cx="1587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final </a:t>
            </a:r>
            <a:endParaRPr lang="en-US" altLang="zh-CN" sz="1100" i="1" dirty="0">
              <a:solidFill>
                <a:srgbClr val="0547A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1100" i="1" dirty="0">
                <a:solidFill>
                  <a:srgbClr val="0547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trusted result</a:t>
            </a:r>
            <a:endParaRPr lang="zh-CN" altLang="en-US" sz="1100" i="1" dirty="0">
              <a:solidFill>
                <a:srgbClr val="0547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1" name="连接符: 肘形 230"/>
          <p:cNvCxnSpPr>
            <a:stCxn id="629" idx="2"/>
            <a:endCxn id="206" idx="0"/>
          </p:cNvCxnSpPr>
          <p:nvPr/>
        </p:nvCxnSpPr>
        <p:spPr>
          <a:xfrm rot="5400000">
            <a:off x="11197514" y="5189182"/>
            <a:ext cx="294466" cy="7438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连接符: 肘形 242"/>
          <p:cNvCxnSpPr>
            <a:stCxn id="629" idx="2"/>
            <a:endCxn id="209" idx="0"/>
          </p:cNvCxnSpPr>
          <p:nvPr/>
        </p:nvCxnSpPr>
        <p:spPr>
          <a:xfrm rot="16200000" flipH="1">
            <a:off x="11975310" y="5155262"/>
            <a:ext cx="286346" cy="8035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3" name="图片 642"/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" b="5935"/>
          <a:stretch>
            <a:fillRect/>
          </a:stretch>
        </p:blipFill>
        <p:spPr>
          <a:xfrm>
            <a:off x="7693544" y="6162844"/>
            <a:ext cx="2045802" cy="874037"/>
          </a:xfrm>
          <a:prstGeom prst="rect">
            <a:avLst/>
          </a:prstGeom>
        </p:spPr>
      </p:pic>
      <p:pic>
        <p:nvPicPr>
          <p:cNvPr id="644" name="图形 643"/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0226136" y="6513608"/>
            <a:ext cx="425536" cy="4255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45" name="文本框 644"/>
              <p:cNvSpPr txBox="1"/>
              <p:nvPr/>
            </p:nvSpPr>
            <p:spPr>
              <a:xfrm>
                <a:off x="10685407" y="6441683"/>
                <a:ext cx="940915" cy="569387"/>
              </a:xfrm>
              <a:prstGeom prst="rect">
                <a:avLst/>
              </a:prstGeom>
              <a:solidFill>
                <a:srgbClr val="E5F0E0"/>
              </a:solidFill>
              <a:ln>
                <a:solidFill>
                  <a:schemeClr val="tx1"/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  <m:sub>
                          <m:r>
                            <a:rPr lang="en-US" altLang="zh-CN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100" dirty="0">
                  <a:solidFill>
                    <a:schemeClr val="tx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zh-CN" sz="100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Update source reliability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zh-CN" sz="1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00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zh-CN" altLang="en-US" sz="10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45" name="文本框 6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5407" y="6441683"/>
                <a:ext cx="940915" cy="569387"/>
              </a:xfrm>
              <a:prstGeom prst="rect">
                <a:avLst/>
              </a:prstGeom>
              <a:blipFill rotWithShape="1">
                <a:blip r:embed="rId96"/>
                <a:stretch>
                  <a:fillRect l="-703" t="-1158" r="-664" b="-27206"/>
                </a:stretch>
              </a:blipFill>
              <a:ln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0" name="图片 649"/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8580" y="6084457"/>
            <a:ext cx="1058791" cy="95242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3177</Words>
  <Application>WPS 演示</Application>
  <PresentationFormat>宽屏</PresentationFormat>
  <Paragraphs>419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1" baseType="lpstr">
      <vt:lpstr>Arial</vt:lpstr>
      <vt:lpstr>宋体</vt:lpstr>
      <vt:lpstr>Wingdings</vt:lpstr>
      <vt:lpstr>ADLaM Display</vt:lpstr>
      <vt:lpstr>苹方-简</vt:lpstr>
      <vt:lpstr>Calibri</vt:lpstr>
      <vt:lpstr>Helvetica Neue</vt:lpstr>
      <vt:lpstr>Cambria Math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汉仪书宋二KW</vt:lpstr>
      <vt:lpstr>Kingsoft Math</vt:lpstr>
      <vt:lpstr>DejaVu Math TeX Gyre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zhiqiang xie</dc:creator>
  <cp:lastModifiedBy>WPS_hh0424</cp:lastModifiedBy>
  <cp:revision>160</cp:revision>
  <dcterms:created xsi:type="dcterms:W3CDTF">2026-05-11T07:29:02Z</dcterms:created>
  <dcterms:modified xsi:type="dcterms:W3CDTF">2026-05-11T07:29:02Z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2EB3871E35BCAF593E85016AF5614125_43</vt:lpwstr>
  </property>
  <property fmtid="{D5CDD505-2E9C-101B-9397-08002B2CF9AE}" pid="3" name="KSOProductBuildVer">
    <vt:lpwstr>2052-12.1.25867.25867</vt:lpwstr>
  </property>
</Properties>
</file>