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66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9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F72A"/>
    <a:srgbClr val="F3E92B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97B7428-5FDC-4A5C-B158-09836A44480C}" styleName="三线式标题行镶边行表格样式_1 2 2">
    <a:wholeTbl>
      <a:tcTxStyle>
        <a:fontRef idx="none">
          <a:srgbClr val="08090C"/>
        </a:fontRef>
      </a:tcTxStyle>
      <a:tcStyle>
        <a:tcBdr/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F2F2F2"/>
          </a:solidFill>
        </a:fill>
      </a:tcStyle>
    </a:band2H>
    <a:band1V>
      <a:tcStyle>
        <a:tcBdr/>
        <a:fill>
          <a:solidFill>
            <a:srgbClr val="F2F2F2"/>
          </a:solidFill>
        </a:fill>
      </a:tcStyle>
    </a:band1V>
    <a:lastCol>
      <a:tcTxStyle b="on">
        <a:fontRef idx="none">
          <a:schemeClr val="accent2"/>
        </a:fontRef>
      </a:tcTxStyle>
      <a:tcStyle>
        <a:tcBdr/>
        <a:fill>
          <a:solidFill>
            <a:schemeClr val="bg1">
              <a:lumMod val="90002"/>
            </a:schemeClr>
          </a:solidFill>
        </a:fill>
      </a:tcStyle>
    </a:lastCol>
    <a:firstCol>
      <a:tcTxStyle b="on">
        <a:fontRef idx="none">
          <a:schemeClr val="accent2"/>
        </a:fontRef>
      </a:tcTxStyle>
      <a:tcStyle>
        <a:tcBdr/>
        <a:fill>
          <a:solidFill>
            <a:schemeClr val="bg1">
              <a:lumMod val="90002"/>
            </a:schemeClr>
          </a:solidFill>
        </a:fill>
      </a:tcStyle>
    </a:firstCol>
    <a:lastRow>
      <a:tcTxStyle b="on">
        <a:fontRef idx="none">
          <a:schemeClr val="accent2"/>
        </a:fontRef>
      </a:tcTxStyle>
      <a:tcStyle>
        <a:tcBdr/>
        <a:fill>
          <a:solidFill>
            <a:schemeClr val="accent2">
              <a:lumMod val="20000"/>
              <a:lumOff val="80000"/>
            </a:schemeClr>
          </a:solidFill>
        </a:fill>
      </a:tcStyle>
    </a:lastRow>
    <a:firstRow>
      <a:tcTxStyle b="on">
        <a:fontRef idx="none">
          <a:schemeClr val="accent2"/>
        </a:fontRef>
      </a:tcTxStyle>
      <a:tcStyle>
        <a:tcBdr/>
        <a:fill>
          <a:solidFill>
            <a:schemeClr val="accent2">
              <a:lumMod val="20000"/>
              <a:lumOff val="8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49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1.xml"/><Relationship Id="rId10" Type="http://schemas.openxmlformats.org/officeDocument/2006/relationships/customXmlProps" Target="../customXml/itemProps6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3" Type="http://schemas.openxmlformats.org/officeDocument/2006/relationships/slideLayout" Target="../slideLayouts/slideLayout2.xml"/><Relationship Id="rId52" Type="http://schemas.openxmlformats.org/officeDocument/2006/relationships/tags" Target="../tags/tag63.xml"/><Relationship Id="rId51" Type="http://schemas.openxmlformats.org/officeDocument/2006/relationships/image" Target="../media/image51.svg"/><Relationship Id="rId50" Type="http://schemas.openxmlformats.org/officeDocument/2006/relationships/image" Target="../media/image50.png"/><Relationship Id="rId5" Type="http://schemas.openxmlformats.org/officeDocument/2006/relationships/image" Target="../media/image5.png"/><Relationship Id="rId49" Type="http://schemas.openxmlformats.org/officeDocument/2006/relationships/image" Target="../media/image49.svg"/><Relationship Id="rId48" Type="http://schemas.openxmlformats.org/officeDocument/2006/relationships/image" Target="../media/image48.png"/><Relationship Id="rId47" Type="http://schemas.openxmlformats.org/officeDocument/2006/relationships/image" Target="../media/image47.svg"/><Relationship Id="rId46" Type="http://schemas.openxmlformats.org/officeDocument/2006/relationships/image" Target="../media/image46.png"/><Relationship Id="rId45" Type="http://schemas.openxmlformats.org/officeDocument/2006/relationships/image" Target="../media/image45.svg"/><Relationship Id="rId44" Type="http://schemas.openxmlformats.org/officeDocument/2006/relationships/image" Target="../media/image44.png"/><Relationship Id="rId43" Type="http://schemas.openxmlformats.org/officeDocument/2006/relationships/image" Target="../media/image43.svg"/><Relationship Id="rId42" Type="http://schemas.openxmlformats.org/officeDocument/2006/relationships/image" Target="../media/image42.png"/><Relationship Id="rId41" Type="http://schemas.openxmlformats.org/officeDocument/2006/relationships/image" Target="../media/image41.svg"/><Relationship Id="rId40" Type="http://schemas.openxmlformats.org/officeDocument/2006/relationships/image" Target="../media/image40.png"/><Relationship Id="rId4" Type="http://schemas.openxmlformats.org/officeDocument/2006/relationships/image" Target="../media/image4.svg"/><Relationship Id="rId39" Type="http://schemas.openxmlformats.org/officeDocument/2006/relationships/image" Target="../media/image39.svg"/><Relationship Id="rId38" Type="http://schemas.openxmlformats.org/officeDocument/2006/relationships/image" Target="../media/image38.png"/><Relationship Id="rId37" Type="http://schemas.openxmlformats.org/officeDocument/2006/relationships/image" Target="../media/image37.svg"/><Relationship Id="rId36" Type="http://schemas.openxmlformats.org/officeDocument/2006/relationships/image" Target="../media/image36.png"/><Relationship Id="rId35" Type="http://schemas.openxmlformats.org/officeDocument/2006/relationships/image" Target="../media/image35.svg"/><Relationship Id="rId34" Type="http://schemas.openxmlformats.org/officeDocument/2006/relationships/image" Target="../media/image34.png"/><Relationship Id="rId33" Type="http://schemas.openxmlformats.org/officeDocument/2006/relationships/image" Target="../media/image33.svg"/><Relationship Id="rId32" Type="http://schemas.openxmlformats.org/officeDocument/2006/relationships/image" Target="../media/image32.png"/><Relationship Id="rId31" Type="http://schemas.openxmlformats.org/officeDocument/2006/relationships/image" Target="../media/image31.sv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svg"/><Relationship Id="rId28" Type="http://schemas.openxmlformats.org/officeDocument/2006/relationships/image" Target="../media/image28.png"/><Relationship Id="rId27" Type="http://schemas.openxmlformats.org/officeDocument/2006/relationships/image" Target="../media/image27.svg"/><Relationship Id="rId26" Type="http://schemas.openxmlformats.org/officeDocument/2006/relationships/image" Target="../media/image26.png"/><Relationship Id="rId25" Type="http://schemas.openxmlformats.org/officeDocument/2006/relationships/image" Target="../media/image25.svg"/><Relationship Id="rId24" Type="http://schemas.openxmlformats.org/officeDocument/2006/relationships/image" Target="../media/image24.svg"/><Relationship Id="rId23" Type="http://schemas.openxmlformats.org/officeDocument/2006/relationships/image" Target="../media/image23.sv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svg"/><Relationship Id="rId7" Type="http://schemas.openxmlformats.org/officeDocument/2006/relationships/image" Target="../media/image58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5" Type="http://schemas.openxmlformats.org/officeDocument/2006/relationships/slideLayout" Target="../slideLayouts/slideLayout2.xml"/><Relationship Id="rId44" Type="http://schemas.openxmlformats.org/officeDocument/2006/relationships/tags" Target="../tags/tag65.xml"/><Relationship Id="rId43" Type="http://schemas.openxmlformats.org/officeDocument/2006/relationships/image" Target="../media/image93.svg"/><Relationship Id="rId42" Type="http://schemas.openxmlformats.org/officeDocument/2006/relationships/image" Target="../media/image92.png"/><Relationship Id="rId41" Type="http://schemas.openxmlformats.org/officeDocument/2006/relationships/image" Target="../media/image91.svg"/><Relationship Id="rId40" Type="http://schemas.openxmlformats.org/officeDocument/2006/relationships/image" Target="../media/image90.png"/><Relationship Id="rId4" Type="http://schemas.openxmlformats.org/officeDocument/2006/relationships/image" Target="../media/image55.svg"/><Relationship Id="rId39" Type="http://schemas.openxmlformats.org/officeDocument/2006/relationships/image" Target="../media/image89.svg"/><Relationship Id="rId38" Type="http://schemas.openxmlformats.org/officeDocument/2006/relationships/image" Target="../media/image88.png"/><Relationship Id="rId37" Type="http://schemas.openxmlformats.org/officeDocument/2006/relationships/image" Target="../media/image87.svg"/><Relationship Id="rId36" Type="http://schemas.openxmlformats.org/officeDocument/2006/relationships/image" Target="../media/image86.png"/><Relationship Id="rId35" Type="http://schemas.openxmlformats.org/officeDocument/2006/relationships/image" Target="../media/image85.svg"/><Relationship Id="rId34" Type="http://schemas.openxmlformats.org/officeDocument/2006/relationships/image" Target="../media/image84.png"/><Relationship Id="rId33" Type="http://schemas.openxmlformats.org/officeDocument/2006/relationships/image" Target="../media/image83.svg"/><Relationship Id="rId32" Type="http://schemas.openxmlformats.org/officeDocument/2006/relationships/image" Target="../media/image82.png"/><Relationship Id="rId31" Type="http://schemas.openxmlformats.org/officeDocument/2006/relationships/tags" Target="../tags/tag64.xml"/><Relationship Id="rId30" Type="http://schemas.openxmlformats.org/officeDocument/2006/relationships/image" Target="../media/image81.svg"/><Relationship Id="rId3" Type="http://schemas.openxmlformats.org/officeDocument/2006/relationships/image" Target="../media/image54.png"/><Relationship Id="rId29" Type="http://schemas.openxmlformats.org/officeDocument/2006/relationships/image" Target="../media/image80.png"/><Relationship Id="rId28" Type="http://schemas.openxmlformats.org/officeDocument/2006/relationships/image" Target="../media/image79.svg"/><Relationship Id="rId27" Type="http://schemas.openxmlformats.org/officeDocument/2006/relationships/image" Target="../media/image78.png"/><Relationship Id="rId26" Type="http://schemas.openxmlformats.org/officeDocument/2006/relationships/image" Target="../media/image77.svg"/><Relationship Id="rId25" Type="http://schemas.openxmlformats.org/officeDocument/2006/relationships/image" Target="../media/image76.png"/><Relationship Id="rId24" Type="http://schemas.openxmlformats.org/officeDocument/2006/relationships/image" Target="../media/image75.svg"/><Relationship Id="rId23" Type="http://schemas.openxmlformats.org/officeDocument/2006/relationships/image" Target="../media/image74.png"/><Relationship Id="rId22" Type="http://schemas.openxmlformats.org/officeDocument/2006/relationships/image" Target="../media/image73.svg"/><Relationship Id="rId21" Type="http://schemas.openxmlformats.org/officeDocument/2006/relationships/image" Target="../media/image72.png"/><Relationship Id="rId20" Type="http://schemas.openxmlformats.org/officeDocument/2006/relationships/image" Target="../media/image71.svg"/><Relationship Id="rId2" Type="http://schemas.openxmlformats.org/officeDocument/2006/relationships/image" Target="../media/image53.svg"/><Relationship Id="rId19" Type="http://schemas.openxmlformats.org/officeDocument/2006/relationships/image" Target="../media/image70.png"/><Relationship Id="rId18" Type="http://schemas.openxmlformats.org/officeDocument/2006/relationships/image" Target="../media/image69.svg"/><Relationship Id="rId17" Type="http://schemas.openxmlformats.org/officeDocument/2006/relationships/image" Target="../media/image68.png"/><Relationship Id="rId16" Type="http://schemas.openxmlformats.org/officeDocument/2006/relationships/image" Target="../media/image67.svg"/><Relationship Id="rId15" Type="http://schemas.openxmlformats.org/officeDocument/2006/relationships/image" Target="../media/image66.png"/><Relationship Id="rId14" Type="http://schemas.openxmlformats.org/officeDocument/2006/relationships/image" Target="../media/image65.svg"/><Relationship Id="rId13" Type="http://schemas.openxmlformats.org/officeDocument/2006/relationships/image" Target="../media/image64.png"/><Relationship Id="rId12" Type="http://schemas.openxmlformats.org/officeDocument/2006/relationships/image" Target="../media/image63.svg"/><Relationship Id="rId11" Type="http://schemas.openxmlformats.org/officeDocument/2006/relationships/image" Target="../media/image62.png"/><Relationship Id="rId10" Type="http://schemas.openxmlformats.org/officeDocument/2006/relationships/image" Target="../media/image61.svg"/><Relationship Id="rId1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9" name="图片 168" descr="管道附属物-管道保护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3865245" y="2748280"/>
            <a:ext cx="4053840" cy="785495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10084435" y="438150"/>
            <a:ext cx="1553210" cy="3054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sz="1400"/>
              <a:t>ZK Proof(</a:t>
            </a:r>
            <a:r>
              <a:rPr lang="en-US" altLang="zh-CN" sz="1400">
                <a:latin typeface="PingFang SC" panose="020B0400000000000000" charset="-122"/>
                <a:ea typeface="PingFang SC" panose="020B0400000000000000" charset="-122"/>
              </a:rPr>
              <a:t>π</a:t>
            </a:r>
            <a:r>
              <a:rPr lang="en-US" altLang="zh-CN" sz="1400"/>
              <a:t>)</a:t>
            </a:r>
            <a:endParaRPr lang="en-US" altLang="zh-CN" sz="1400"/>
          </a:p>
        </p:txBody>
      </p:sp>
      <p:sp>
        <p:nvSpPr>
          <p:cNvPr id="51" name="圆角矩形 50"/>
          <p:cNvSpPr/>
          <p:nvPr/>
        </p:nvSpPr>
        <p:spPr>
          <a:xfrm>
            <a:off x="518160" y="1100455"/>
            <a:ext cx="1990090" cy="18376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8599170" y="1100455"/>
            <a:ext cx="0" cy="45923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417830" y="5894705"/>
            <a:ext cx="2398143" cy="306705"/>
            <a:chOff x="750" y="7478"/>
            <a:chExt cx="3739" cy="483"/>
          </a:xfrm>
        </p:grpSpPr>
        <p:sp>
          <p:nvSpPr>
            <p:cNvPr id="7" name="圆角矩形 6"/>
            <p:cNvSpPr/>
            <p:nvPr/>
          </p:nvSpPr>
          <p:spPr>
            <a:xfrm>
              <a:off x="750" y="7478"/>
              <a:ext cx="3636" cy="483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45" y="7478"/>
              <a:ext cx="364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Stage 1</a:t>
              </a:r>
              <a:r>
                <a:rPr lang="zh-CN" altLang="en-US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：</a:t>
              </a:r>
              <a:r>
                <a:rPr lang="en-US" altLang="zh-CN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Data Extraction</a:t>
              </a:r>
              <a:endParaRPr lang="en-US" altLang="zh-CN" sz="14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534535" y="5894705"/>
            <a:ext cx="3010667" cy="368935"/>
            <a:chOff x="750" y="7478"/>
            <a:chExt cx="4694" cy="581"/>
          </a:xfrm>
        </p:grpSpPr>
        <p:sp>
          <p:nvSpPr>
            <p:cNvPr id="13" name="圆角矩形 12"/>
            <p:cNvSpPr/>
            <p:nvPr/>
          </p:nvSpPr>
          <p:spPr>
            <a:xfrm>
              <a:off x="750" y="7478"/>
              <a:ext cx="4599" cy="483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45" y="7478"/>
              <a:ext cx="4599" cy="58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Stage 2</a:t>
              </a:r>
              <a:r>
                <a:rPr lang="zh-CN" altLang="en-US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：</a:t>
              </a:r>
              <a:r>
                <a:rPr lang="en-US" altLang="zh-CN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Deviation </a:t>
              </a:r>
              <a:r>
                <a:rPr lang="en-US" altLang="zh-CN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Assessment</a:t>
              </a:r>
              <a:endParaRPr lang="en-US" altLang="zh-CN" sz="14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  <a:p>
              <a:endParaRPr lang="en-US" altLang="zh-CN" sz="14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076690" y="5894705"/>
            <a:ext cx="2673985" cy="306705"/>
            <a:chOff x="750" y="7478"/>
            <a:chExt cx="3636" cy="483"/>
          </a:xfrm>
        </p:grpSpPr>
        <p:sp>
          <p:nvSpPr>
            <p:cNvPr id="16" name="圆角矩形 15"/>
            <p:cNvSpPr/>
            <p:nvPr/>
          </p:nvSpPr>
          <p:spPr>
            <a:xfrm>
              <a:off x="750" y="7478"/>
              <a:ext cx="3636" cy="483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45" y="7478"/>
              <a:ext cx="354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Stage 3</a:t>
              </a:r>
              <a:r>
                <a:rPr lang="zh-CN" altLang="en-US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：</a:t>
              </a:r>
              <a:r>
                <a:rPr lang="en-US" altLang="zh-CN" sz="1400" b="1"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Update Reliability</a:t>
              </a:r>
              <a:endParaRPr lang="en-US" altLang="zh-CN" sz="1400" b="1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</p:txBody>
        </p:sp>
      </p:grpSp>
      <p:sp>
        <p:nvSpPr>
          <p:cNvPr id="18" name="圆角矩形 17"/>
          <p:cNvSpPr/>
          <p:nvPr/>
        </p:nvSpPr>
        <p:spPr>
          <a:xfrm>
            <a:off x="290830" y="4646930"/>
            <a:ext cx="2209800" cy="7061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17830" y="4773930"/>
            <a:ext cx="2209800" cy="7061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544830" y="4900930"/>
            <a:ext cx="2209800" cy="7061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671830" y="5027930"/>
            <a:ext cx="2209800" cy="7061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98195" y="5198110"/>
            <a:ext cx="1033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</a:rPr>
              <a:t>Agent i</a:t>
            </a:r>
            <a:endParaRPr lang="en-US" altLang="zh-CN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934210" y="5167630"/>
            <a:ext cx="598170" cy="44005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26" name="图片 25" descr="文本编辑_填充 (1)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91055" y="5236210"/>
            <a:ext cx="306705" cy="306705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439420" y="3051175"/>
            <a:ext cx="22713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Extract text &amp; numerical data from agent replies</a:t>
            </a:r>
            <a:endParaRPr lang="en-US" altLang="zh-CN" sz="1600"/>
          </a:p>
        </p:txBody>
      </p:sp>
      <p:pic>
        <p:nvPicPr>
          <p:cNvPr id="40" name="图片 39" descr="数据抽取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87855" y="3994150"/>
            <a:ext cx="486410" cy="486410"/>
          </a:xfrm>
          <a:prstGeom prst="rect">
            <a:avLst/>
          </a:prstGeom>
        </p:spPr>
      </p:pic>
      <p:pic>
        <p:nvPicPr>
          <p:cNvPr id="41" name="图片 40" descr="kgpie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8165" y="4048125"/>
            <a:ext cx="447040" cy="447040"/>
          </a:xfrm>
          <a:prstGeom prst="rect">
            <a:avLst/>
          </a:prstGeom>
        </p:spPr>
      </p:pic>
      <p:sp>
        <p:nvSpPr>
          <p:cNvPr id="42" name="上箭头 41"/>
          <p:cNvSpPr/>
          <p:nvPr/>
        </p:nvSpPr>
        <p:spPr>
          <a:xfrm rot="5400000">
            <a:off x="1390650" y="4029710"/>
            <a:ext cx="240665" cy="440055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842010" y="1601470"/>
            <a:ext cx="1318260" cy="1092200"/>
            <a:chOff x="1855" y="1263"/>
            <a:chExt cx="2076" cy="1720"/>
          </a:xfrm>
        </p:grpSpPr>
        <p:sp>
          <p:nvSpPr>
            <p:cNvPr id="43" name="圆角矩形 42"/>
            <p:cNvSpPr/>
            <p:nvPr/>
          </p:nvSpPr>
          <p:spPr>
            <a:xfrm>
              <a:off x="1855" y="2279"/>
              <a:ext cx="2050" cy="70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>
                  <a:solidFill>
                    <a:schemeClr val="tx1"/>
                  </a:solidFill>
                </a:rPr>
                <a:t> Numeric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1857" y="1263"/>
              <a:ext cx="2074" cy="70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>
                  <a:solidFill>
                    <a:schemeClr val="tx1"/>
                  </a:solidFill>
                </a:rPr>
                <a:t>   Text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739775" y="1198245"/>
            <a:ext cx="1172210" cy="330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sz="1400"/>
              <a:t>output data </a:t>
            </a:r>
            <a:endParaRPr lang="en-US" altLang="zh-CN" sz="1400"/>
          </a:p>
        </p:txBody>
      </p:sp>
      <p:sp>
        <p:nvSpPr>
          <p:cNvPr id="62" name="上箭头 61"/>
          <p:cNvSpPr/>
          <p:nvPr/>
        </p:nvSpPr>
        <p:spPr>
          <a:xfrm rot="5400000">
            <a:off x="2863850" y="1561465"/>
            <a:ext cx="240030" cy="713105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6391910" y="1121410"/>
            <a:ext cx="1634490" cy="3302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accent3"/>
            </a:solidFill>
            <a:prstDash val="solid"/>
          </a:ln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solidFill>
                  <a:schemeClr val="bg1"/>
                </a:solidFill>
              </a:rPr>
              <a:t>Numeric Channel  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4902200" y="5565140"/>
            <a:ext cx="23374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400" b="1">
                <a:latin typeface="PingFang SC Semibold" panose="020B0400000000000000" charset="-122"/>
                <a:ea typeface="PingFang SC Semibold" panose="020B0400000000000000" charset="-122"/>
              </a:rPr>
              <a:t>Cross-Channel Merge</a:t>
            </a:r>
            <a:endParaRPr lang="en-US" altLang="zh-CN" sz="14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8575040" y="4974590"/>
            <a:ext cx="15093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chemeClr val="accent6"/>
                </a:solidFill>
              </a:rPr>
              <a:t>Cross-Channel Consistency Input</a:t>
            </a:r>
            <a:endParaRPr lang="en-US" altLang="zh-CN" sz="1200">
              <a:solidFill>
                <a:schemeClr val="accent6"/>
              </a:solidFill>
            </a:endParaRPr>
          </a:p>
        </p:txBody>
      </p:sp>
      <p:pic>
        <p:nvPicPr>
          <p:cNvPr id="115" name="图片 114" descr="更新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6905" y="3881120"/>
            <a:ext cx="1695450" cy="1231265"/>
          </a:xfrm>
          <a:prstGeom prst="rect">
            <a:avLst/>
          </a:prstGeom>
        </p:spPr>
      </p:pic>
      <p:cxnSp>
        <p:nvCxnSpPr>
          <p:cNvPr id="117" name="直接箭头连接符 116"/>
          <p:cNvCxnSpPr>
            <a:stCxn id="111" idx="3"/>
            <a:endCxn id="118" idx="1"/>
          </p:cNvCxnSpPr>
          <p:nvPr/>
        </p:nvCxnSpPr>
        <p:spPr>
          <a:xfrm>
            <a:off x="10084435" y="5205095"/>
            <a:ext cx="716280" cy="27940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文本框 117"/>
          <p:cNvSpPr txBox="1"/>
          <p:nvPr/>
        </p:nvSpPr>
        <p:spPr>
          <a:xfrm>
            <a:off x="10800715" y="5043805"/>
            <a:ext cx="1124585" cy="378460"/>
          </a:xfrm>
          <a:prstGeom prst="rect">
            <a:avLst/>
          </a:prstGeom>
          <a:solidFill>
            <a:schemeClr val="accent6"/>
          </a:solidFill>
          <a:ln w="19050" cap="flat" cmpd="sng">
            <a:solidFill>
              <a:schemeClr val="accent6"/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 sz="1400">
                <a:solidFill>
                  <a:schemeClr val="bg1"/>
                </a:solidFill>
              </a:rPr>
              <a:t>Credibility  </a:t>
            </a:r>
            <a:endParaRPr lang="en-US" altLang="zh-CN" sz="1400">
              <a:solidFill>
                <a:schemeClr val="bg1"/>
              </a:solidFill>
            </a:endParaRPr>
          </a:p>
        </p:txBody>
      </p:sp>
      <p:cxnSp>
        <p:nvCxnSpPr>
          <p:cNvPr id="119" name="直接箭头连接符 118"/>
          <p:cNvCxnSpPr>
            <a:stCxn id="118" idx="0"/>
            <a:endCxn id="122" idx="2"/>
          </p:cNvCxnSpPr>
          <p:nvPr/>
        </p:nvCxnSpPr>
        <p:spPr>
          <a:xfrm flipH="1" flipV="1">
            <a:off x="10306050" y="2532380"/>
            <a:ext cx="1057275" cy="2511425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0" name="文本框 119"/>
          <p:cNvSpPr txBox="1"/>
          <p:nvPr/>
        </p:nvSpPr>
        <p:spPr>
          <a:xfrm>
            <a:off x="10006965" y="5267325"/>
            <a:ext cx="7131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accent6"/>
                </a:solidFill>
              </a:rPr>
              <a:t>update</a:t>
            </a:r>
            <a:endParaRPr lang="en-US" altLang="zh-CN" sz="1200">
              <a:solidFill>
                <a:schemeClr val="accent6"/>
              </a:solidFill>
            </a:endParaRPr>
          </a:p>
        </p:txBody>
      </p:sp>
      <p:pic>
        <p:nvPicPr>
          <p:cNvPr id="122" name="图片 121" descr="invoice-truth-icon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06965" y="1934845"/>
            <a:ext cx="597535" cy="597535"/>
          </a:xfrm>
          <a:prstGeom prst="rect">
            <a:avLst/>
          </a:prstGeom>
        </p:spPr>
      </p:pic>
      <p:sp>
        <p:nvSpPr>
          <p:cNvPr id="125" name="文本框 124"/>
          <p:cNvSpPr txBox="1"/>
          <p:nvPr/>
        </p:nvSpPr>
        <p:spPr>
          <a:xfrm>
            <a:off x="10842625" y="3472180"/>
            <a:ext cx="9080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accent6"/>
                </a:solidFill>
              </a:rPr>
              <a:t>calculate</a:t>
            </a:r>
            <a:endParaRPr lang="en-US" altLang="zh-CN" sz="1200">
              <a:solidFill>
                <a:schemeClr val="accent6"/>
              </a:solidFill>
            </a:endParaRPr>
          </a:p>
        </p:txBody>
      </p:sp>
      <p:cxnSp>
        <p:nvCxnSpPr>
          <p:cNvPr id="129" name="直接箭头连接符 128"/>
          <p:cNvCxnSpPr>
            <a:stCxn id="122" idx="2"/>
            <a:endCxn id="111" idx="0"/>
          </p:cNvCxnSpPr>
          <p:nvPr/>
        </p:nvCxnSpPr>
        <p:spPr>
          <a:xfrm flipH="1">
            <a:off x="9330055" y="2532380"/>
            <a:ext cx="975995" cy="2442210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0" name="文本框 129"/>
          <p:cNvSpPr txBox="1"/>
          <p:nvPr/>
        </p:nvSpPr>
        <p:spPr>
          <a:xfrm>
            <a:off x="9652000" y="4276090"/>
            <a:ext cx="1553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solidFill>
                  <a:schemeClr val="accent6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Beta-Bernoulli</a:t>
            </a:r>
            <a:endParaRPr lang="en-US" altLang="zh-CN" sz="1200" b="1">
              <a:solidFill>
                <a:schemeClr val="accent6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algn="ctr"/>
            <a:r>
              <a:rPr lang="en-US" altLang="zh-CN" sz="1200" b="1">
                <a:solidFill>
                  <a:schemeClr val="accent6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 Update</a:t>
            </a:r>
            <a:endParaRPr lang="en-US" altLang="zh-CN" sz="1200" b="1">
              <a:solidFill>
                <a:schemeClr val="accent6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grpSp>
        <p:nvGrpSpPr>
          <p:cNvPr id="138" name="组合 137"/>
          <p:cNvGrpSpPr/>
          <p:nvPr/>
        </p:nvGrpSpPr>
        <p:grpSpPr>
          <a:xfrm>
            <a:off x="8982075" y="1254125"/>
            <a:ext cx="572135" cy="1535430"/>
            <a:chOff x="13845" y="1292"/>
            <a:chExt cx="901" cy="2418"/>
          </a:xfrm>
        </p:grpSpPr>
        <p:cxnSp>
          <p:nvCxnSpPr>
            <p:cNvPr id="136" name="曲线连接符 135"/>
            <p:cNvCxnSpPr>
              <a:stCxn id="132" idx="1"/>
              <a:endCxn id="134" idx="1"/>
            </p:cNvCxnSpPr>
            <p:nvPr/>
          </p:nvCxnSpPr>
          <p:spPr>
            <a:xfrm rot="10800000" flipH="1" flipV="1">
              <a:off x="13845" y="1292"/>
              <a:ext cx="81" cy="2418"/>
            </a:xfrm>
            <a:prstGeom prst="curvedConnector3">
              <a:avLst>
                <a:gd name="adj1" fmla="val -462963"/>
              </a:avLst>
            </a:prstGeom>
            <a:ln w="25400">
              <a:solidFill>
                <a:schemeClr val="accent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7" name="曲线连接符 136"/>
            <p:cNvCxnSpPr>
              <a:stCxn id="134" idx="3"/>
              <a:endCxn id="132" idx="3"/>
            </p:cNvCxnSpPr>
            <p:nvPr/>
          </p:nvCxnSpPr>
          <p:spPr>
            <a:xfrm flipH="1" flipV="1">
              <a:off x="14652" y="1292"/>
              <a:ext cx="94" cy="2418"/>
            </a:xfrm>
            <a:prstGeom prst="curvedConnector3">
              <a:avLst>
                <a:gd name="adj1" fmla="val -398936"/>
              </a:avLst>
            </a:prstGeom>
            <a:ln w="25400">
              <a:solidFill>
                <a:schemeClr val="accent6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39" name="文本框 138"/>
          <p:cNvSpPr txBox="1"/>
          <p:nvPr/>
        </p:nvSpPr>
        <p:spPr>
          <a:xfrm>
            <a:off x="8731885" y="1798320"/>
            <a:ext cx="786130" cy="2578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1000"/>
              <a:t>iteration t  </a:t>
            </a:r>
            <a:endParaRPr lang="en-US" altLang="zh-CN" sz="1000"/>
          </a:p>
        </p:txBody>
      </p:sp>
      <p:sp>
        <p:nvSpPr>
          <p:cNvPr id="140" name="文本框 139"/>
          <p:cNvSpPr txBox="1"/>
          <p:nvPr/>
        </p:nvSpPr>
        <p:spPr>
          <a:xfrm>
            <a:off x="9750425" y="1469390"/>
            <a:ext cx="941070" cy="2578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en-US" altLang="zh-CN" sz="1000">
                <a:sym typeface="+mn-ea"/>
              </a:rPr>
              <a:t>iteration t+1  </a:t>
            </a:r>
            <a:endParaRPr lang="en-US" altLang="zh-CN" sz="1000"/>
          </a:p>
          <a:p>
            <a:r>
              <a:rPr lang="en-US" altLang="zh-CN" sz="1000"/>
              <a:t>  </a:t>
            </a:r>
            <a:endParaRPr lang="en-US" altLang="zh-CN" sz="1000"/>
          </a:p>
        </p:txBody>
      </p:sp>
      <p:sp>
        <p:nvSpPr>
          <p:cNvPr id="141" name="圆角矩形 140"/>
          <p:cNvSpPr/>
          <p:nvPr/>
        </p:nvSpPr>
        <p:spPr>
          <a:xfrm>
            <a:off x="8717280" y="1791335"/>
            <a:ext cx="734060" cy="275590"/>
          </a:xfrm>
          <a:prstGeom prst="roundRect">
            <a:avLst/>
          </a:prstGeom>
          <a:noFill/>
          <a:ln>
            <a:solidFill>
              <a:schemeClr val="accent3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3" name="圆角矩形 142"/>
          <p:cNvSpPr/>
          <p:nvPr/>
        </p:nvSpPr>
        <p:spPr>
          <a:xfrm>
            <a:off x="9779000" y="1451610"/>
            <a:ext cx="941070" cy="275590"/>
          </a:xfrm>
          <a:prstGeom prst="roundRect">
            <a:avLst/>
          </a:prstGeom>
          <a:noFill/>
          <a:ln>
            <a:solidFill>
              <a:schemeClr val="accent3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72110" y="141605"/>
            <a:ext cx="2190115" cy="3067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400" b="1" i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ZKP Verification Layer</a:t>
            </a:r>
            <a:endParaRPr lang="en-US" altLang="zh-CN" sz="1400" b="1" i="0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13360" y="126365"/>
            <a:ext cx="11711940" cy="706755"/>
          </a:xfrm>
          <a:prstGeom prst="roundRect">
            <a:avLst/>
          </a:prstGeom>
          <a:noFill/>
          <a:ln>
            <a:solidFill>
              <a:schemeClr val="accent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锁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41195" y="448310"/>
            <a:ext cx="310515" cy="31051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429260" y="525145"/>
            <a:ext cx="1402080" cy="2336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sz="1000"/>
              <a:t>Input Commitment</a:t>
            </a:r>
            <a:endParaRPr lang="en-US" altLang="zh-CN" sz="1000"/>
          </a:p>
        </p:txBody>
      </p:sp>
      <p:cxnSp>
        <p:nvCxnSpPr>
          <p:cNvPr id="37" name="直接箭头连接符 36"/>
          <p:cNvCxnSpPr>
            <a:stCxn id="44" idx="0"/>
            <a:endCxn id="11" idx="2"/>
          </p:cNvCxnSpPr>
          <p:nvPr/>
        </p:nvCxnSpPr>
        <p:spPr>
          <a:xfrm flipV="1">
            <a:off x="1501775" y="758825"/>
            <a:ext cx="594995" cy="842645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43" idx="0"/>
            <a:endCxn id="11" idx="2"/>
          </p:cNvCxnSpPr>
          <p:nvPr/>
        </p:nvCxnSpPr>
        <p:spPr>
          <a:xfrm flipV="1">
            <a:off x="1492885" y="758825"/>
            <a:ext cx="603885" cy="1487805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8" name="组合 47"/>
          <p:cNvGrpSpPr/>
          <p:nvPr/>
        </p:nvGrpSpPr>
        <p:grpSpPr>
          <a:xfrm>
            <a:off x="4902200" y="438150"/>
            <a:ext cx="2444750" cy="340360"/>
            <a:chOff x="5515" y="479"/>
            <a:chExt cx="3850" cy="536"/>
          </a:xfrm>
        </p:grpSpPr>
        <p:sp>
          <p:nvSpPr>
            <p:cNvPr id="45" name="文本框 44"/>
            <p:cNvSpPr txBox="1"/>
            <p:nvPr/>
          </p:nvSpPr>
          <p:spPr>
            <a:xfrm>
              <a:off x="5515" y="495"/>
              <a:ext cx="3851" cy="5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p>
              <a:r>
                <a:rPr lang="en-US" altLang="zh-CN" sz="1400"/>
                <a:t>Truth Discovery Circuit</a:t>
              </a:r>
              <a:endParaRPr lang="en-US" altLang="zh-CN" sz="1400"/>
            </a:p>
          </p:txBody>
        </p:sp>
        <p:pic>
          <p:nvPicPr>
            <p:cNvPr id="46" name="图片 45" descr="抽象电路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761" y="479"/>
              <a:ext cx="536" cy="536"/>
            </a:xfrm>
            <a:prstGeom prst="rect">
              <a:avLst/>
            </a:prstGeom>
          </p:spPr>
        </p:pic>
      </p:grpSp>
      <p:sp>
        <p:nvSpPr>
          <p:cNvPr id="53" name="上箭头 52"/>
          <p:cNvSpPr/>
          <p:nvPr/>
        </p:nvSpPr>
        <p:spPr>
          <a:xfrm rot="5400000">
            <a:off x="3524250" y="-497205"/>
            <a:ext cx="240030" cy="2272030"/>
          </a:xfrm>
          <a:prstGeom prst="up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3704590" y="207010"/>
            <a:ext cx="1890395" cy="2311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sz="1000"/>
              <a:t>Dual-Channel Processing </a:t>
            </a:r>
            <a:endParaRPr lang="en-US" altLang="zh-CN" sz="1000"/>
          </a:p>
        </p:txBody>
      </p:sp>
      <p:sp>
        <p:nvSpPr>
          <p:cNvPr id="55" name="文本框 54"/>
          <p:cNvSpPr txBox="1"/>
          <p:nvPr/>
        </p:nvSpPr>
        <p:spPr>
          <a:xfrm>
            <a:off x="6595745" y="207010"/>
            <a:ext cx="1233805" cy="2311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en-US" altLang="zh-CN" sz="1000"/>
              <a:t>Reliability </a:t>
            </a:r>
            <a:r>
              <a:rPr lang="en-US" altLang="zh-CN" sz="1000"/>
              <a:t>update</a:t>
            </a:r>
            <a:endParaRPr lang="en-US" altLang="zh-CN" sz="1000"/>
          </a:p>
        </p:txBody>
      </p:sp>
      <p:sp>
        <p:nvSpPr>
          <p:cNvPr id="56" name="下箭头标注 55"/>
          <p:cNvSpPr/>
          <p:nvPr/>
        </p:nvSpPr>
        <p:spPr>
          <a:xfrm>
            <a:off x="5654040" y="254635"/>
            <a:ext cx="880745" cy="183515"/>
          </a:xfrm>
          <a:prstGeom prst="downArrowCallout">
            <a:avLst>
              <a:gd name="adj1" fmla="val 0"/>
              <a:gd name="adj2" fmla="val 25086"/>
              <a:gd name="adj3" fmla="val 25000"/>
              <a:gd name="adj4" fmla="val 24913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8" name="图片 57" descr="算法库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22955" y="141605"/>
            <a:ext cx="320040" cy="320040"/>
          </a:xfrm>
          <a:prstGeom prst="rect">
            <a:avLst/>
          </a:prstGeom>
        </p:spPr>
      </p:pic>
      <p:pic>
        <p:nvPicPr>
          <p:cNvPr id="63" name="图片 62" descr="算法库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851775" y="141605"/>
            <a:ext cx="320040" cy="320040"/>
          </a:xfrm>
          <a:prstGeom prst="rect">
            <a:avLst/>
          </a:prstGeom>
        </p:spPr>
      </p:pic>
      <p:pic>
        <p:nvPicPr>
          <p:cNvPr id="69" name="图片 68" descr="证书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222355" y="448310"/>
            <a:ext cx="275590" cy="275590"/>
          </a:xfrm>
          <a:prstGeom prst="rect">
            <a:avLst/>
          </a:prstGeom>
        </p:spPr>
      </p:pic>
      <p:sp>
        <p:nvSpPr>
          <p:cNvPr id="70" name="上箭头 69"/>
          <p:cNvSpPr/>
          <p:nvPr/>
        </p:nvSpPr>
        <p:spPr>
          <a:xfrm rot="5400000">
            <a:off x="8634095" y="-512445"/>
            <a:ext cx="240030" cy="2272030"/>
          </a:xfrm>
          <a:prstGeom prst="up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8" name="334E55B0-647D-440b-865C-3EC943EB4CBC-12" descr="/Users/huabowen/Library/Containers/com.kingsoft.wpsoffice.mac/Data/tmp/wpsoffice.SyBxODwpsoffic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61145" y="207010"/>
            <a:ext cx="2582545" cy="230505"/>
          </a:xfrm>
          <a:prstGeom prst="rect">
            <a:avLst/>
          </a:prstGeom>
        </p:spPr>
      </p:pic>
      <p:pic>
        <p:nvPicPr>
          <p:cNvPr id="150" name="Picture 149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830000" y="850000"/>
            <a:ext cx="220000" cy="220000"/>
          </a:xfrm>
          <a:prstGeom prst="rect">
            <a:avLst/>
          </a:prstGeom>
        </p:spPr>
      </p:pic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450000" y="2690000"/>
            <a:ext cx="220000" cy="220000"/>
          </a:xfrm>
          <a:prstGeom prst="rect">
            <a:avLst/>
          </a:prstGeom>
        </p:spPr>
      </p:pic>
      <p:pic>
        <p:nvPicPr>
          <p:cNvPr id="156" name="Picture 155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380000" y="5330000"/>
            <a:ext cx="220000" cy="220000"/>
          </a:xfrm>
          <a:prstGeom prst="rect">
            <a:avLst/>
          </a:prstGeom>
        </p:spPr>
      </p:pic>
      <p:pic>
        <p:nvPicPr>
          <p:cNvPr id="28" name="图片 27" descr="高速通道ECR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184650" y="1548765"/>
            <a:ext cx="595630" cy="595630"/>
          </a:xfrm>
          <a:prstGeom prst="rect">
            <a:avLst/>
          </a:prstGeom>
        </p:spPr>
      </p:pic>
      <p:pic>
        <p:nvPicPr>
          <p:cNvPr id="83" name="图片 82" descr="高速通道ECR (1)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949440" y="1528445"/>
            <a:ext cx="595630" cy="595630"/>
          </a:xfrm>
          <a:prstGeom prst="rect">
            <a:avLst/>
          </a:prstGeom>
        </p:spPr>
      </p:pic>
      <p:sp>
        <p:nvSpPr>
          <p:cNvPr id="90" name="文本框 89"/>
          <p:cNvSpPr txBox="1"/>
          <p:nvPr/>
        </p:nvSpPr>
        <p:spPr>
          <a:xfrm>
            <a:off x="3704590" y="1121410"/>
            <a:ext cx="1553210" cy="3302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accent4"/>
            </a:solidFill>
            <a:prstDash val="solid"/>
          </a:ln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solidFill>
                  <a:schemeClr val="bg1"/>
                </a:solidFill>
              </a:rPr>
              <a:t>Text C</a:t>
            </a:r>
            <a:r>
              <a:rPr lang="en-US" altLang="zh-CN" sz="1400">
                <a:solidFill>
                  <a:schemeClr val="bg1"/>
                </a:solidFill>
              </a:rPr>
              <a:t>hannel  </a:t>
            </a:r>
            <a:endParaRPr lang="en-US" altLang="zh-CN" sz="1400">
              <a:solidFill>
                <a:schemeClr val="bg1"/>
              </a:solidFill>
            </a:endParaRPr>
          </a:p>
        </p:txBody>
      </p:sp>
      <p:pic>
        <p:nvPicPr>
          <p:cNvPr id="91" name="图片 90" descr="人工智能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528060" y="2213610"/>
            <a:ext cx="656590" cy="656590"/>
          </a:xfrm>
          <a:prstGeom prst="rect">
            <a:avLst/>
          </a:prstGeom>
        </p:spPr>
      </p:pic>
      <p:pic>
        <p:nvPicPr>
          <p:cNvPr id="96" name="图片 95" descr="投票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902200" y="4454525"/>
            <a:ext cx="597535" cy="597535"/>
          </a:xfrm>
          <a:prstGeom prst="rect">
            <a:avLst/>
          </a:prstGeom>
        </p:spPr>
      </p:pic>
      <p:pic>
        <p:nvPicPr>
          <p:cNvPr id="97" name="图片 96" descr="网格开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642995" y="3643630"/>
            <a:ext cx="597535" cy="597535"/>
          </a:xfrm>
          <a:prstGeom prst="rect">
            <a:avLst/>
          </a:prstGeom>
        </p:spPr>
      </p:pic>
      <p:pic>
        <p:nvPicPr>
          <p:cNvPr id="99" name="图片 98" descr="qr-scan-2-fill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902200" y="2938145"/>
            <a:ext cx="597535" cy="597535"/>
          </a:xfrm>
          <a:prstGeom prst="rect">
            <a:avLst/>
          </a:prstGeom>
        </p:spPr>
      </p:pic>
      <p:sp>
        <p:nvSpPr>
          <p:cNvPr id="107" name="文本框 106"/>
          <p:cNvSpPr txBox="1"/>
          <p:nvPr/>
        </p:nvSpPr>
        <p:spPr>
          <a:xfrm>
            <a:off x="4184650" y="2383155"/>
            <a:ext cx="16338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1BF72A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SBERT Encoding</a:t>
            </a:r>
            <a:endParaRPr lang="en-US" altLang="zh-CN" sz="1400" b="1">
              <a:solidFill>
                <a:srgbClr val="1BF72A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3168015" y="3051175"/>
            <a:ext cx="16732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1BF72A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Data Extraction</a:t>
            </a:r>
            <a:endParaRPr lang="en-US" altLang="zh-CN" sz="1400" b="1">
              <a:solidFill>
                <a:srgbClr val="1BF72A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4251960" y="3776345"/>
            <a:ext cx="14020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1BF72A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Affinity </a:t>
            </a:r>
            <a:r>
              <a:rPr lang="en-US" altLang="zh-CN" sz="1400" b="1">
                <a:solidFill>
                  <a:srgbClr val="1BF72A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Matrix</a:t>
            </a:r>
            <a:endParaRPr lang="en-US" altLang="zh-CN" sz="1400" b="1">
              <a:solidFill>
                <a:srgbClr val="1BF72A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3357880" y="4650105"/>
            <a:ext cx="12122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rgbClr val="1BF72A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Soft Voting</a:t>
            </a:r>
            <a:endParaRPr lang="en-US" altLang="zh-CN" sz="1400" b="1">
              <a:solidFill>
                <a:srgbClr val="1BF72A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114" name="图片 113" descr="漏斗 (1)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545070" y="2214245"/>
            <a:ext cx="594995" cy="575310"/>
          </a:xfrm>
          <a:prstGeom prst="rect">
            <a:avLst/>
          </a:prstGeom>
        </p:spPr>
      </p:pic>
      <p:pic>
        <p:nvPicPr>
          <p:cNvPr id="116" name="图片 115" descr="天平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281420" y="2938145"/>
            <a:ext cx="575310" cy="575310"/>
          </a:xfrm>
          <a:prstGeom prst="rect">
            <a:avLst/>
          </a:prstGeom>
        </p:spPr>
      </p:pic>
      <p:pic>
        <p:nvPicPr>
          <p:cNvPr id="121" name="图片 120" descr="服务循环管理_o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7564755" y="3643630"/>
            <a:ext cx="575310" cy="575310"/>
          </a:xfrm>
          <a:prstGeom prst="rect">
            <a:avLst/>
          </a:prstGeom>
        </p:spPr>
      </p:pic>
      <p:pic>
        <p:nvPicPr>
          <p:cNvPr id="123" name="图片 122" descr="calculation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6281420" y="4495165"/>
            <a:ext cx="575310" cy="575310"/>
          </a:xfrm>
          <a:prstGeom prst="rect">
            <a:avLst/>
          </a:prstGeom>
        </p:spPr>
      </p:pic>
      <p:sp>
        <p:nvSpPr>
          <p:cNvPr id="124" name="文本框 123"/>
          <p:cNvSpPr txBox="1"/>
          <p:nvPr/>
        </p:nvSpPr>
        <p:spPr>
          <a:xfrm>
            <a:off x="6175375" y="2352675"/>
            <a:ext cx="11722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accent3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Gate Filter</a:t>
            </a:r>
            <a:endParaRPr lang="en-US" altLang="zh-CN" sz="1400" b="1">
              <a:solidFill>
                <a:schemeClr val="accent3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6856730" y="3051175"/>
            <a:ext cx="18605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accent3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Weighted Median</a:t>
            </a:r>
            <a:endParaRPr lang="en-US" altLang="zh-CN" sz="1400" b="1">
              <a:solidFill>
                <a:schemeClr val="accent3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6094730" y="3803650"/>
            <a:ext cx="13176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accent3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Irls Iteration</a:t>
            </a:r>
            <a:endParaRPr lang="en-US" altLang="zh-CN" sz="1400" b="1">
              <a:solidFill>
                <a:schemeClr val="accent3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7122795" y="4521835"/>
            <a:ext cx="1317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accent3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Gaussian Consistency</a:t>
            </a:r>
            <a:endParaRPr lang="en-US" altLang="zh-CN" sz="1400" b="1">
              <a:solidFill>
                <a:schemeClr val="accent3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133" name="下箭头 132"/>
          <p:cNvSpPr/>
          <p:nvPr/>
        </p:nvSpPr>
        <p:spPr>
          <a:xfrm>
            <a:off x="4185920" y="2703830"/>
            <a:ext cx="591820" cy="357505"/>
          </a:xfrm>
          <a:prstGeom prst="downArrow">
            <a:avLst/>
          </a:prstGeom>
          <a:solidFill>
            <a:srgbClr val="1BF72A"/>
          </a:solidFill>
          <a:ln>
            <a:solidFill>
              <a:srgbClr val="1BF7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5" name="下箭头 134"/>
          <p:cNvSpPr/>
          <p:nvPr/>
        </p:nvSpPr>
        <p:spPr>
          <a:xfrm>
            <a:off x="4184650" y="3390265"/>
            <a:ext cx="591820" cy="357505"/>
          </a:xfrm>
          <a:prstGeom prst="downArrow">
            <a:avLst/>
          </a:prstGeom>
          <a:solidFill>
            <a:srgbClr val="1BF72A"/>
          </a:solidFill>
          <a:ln>
            <a:solidFill>
              <a:srgbClr val="1BF7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2" name="下箭头 141"/>
          <p:cNvSpPr/>
          <p:nvPr/>
        </p:nvSpPr>
        <p:spPr>
          <a:xfrm>
            <a:off x="4184650" y="4218940"/>
            <a:ext cx="591820" cy="357505"/>
          </a:xfrm>
          <a:prstGeom prst="downArrow">
            <a:avLst/>
          </a:prstGeom>
          <a:solidFill>
            <a:srgbClr val="1BF72A"/>
          </a:solidFill>
          <a:ln>
            <a:solidFill>
              <a:srgbClr val="1BF7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0" name="下箭头 159"/>
          <p:cNvSpPr/>
          <p:nvPr/>
        </p:nvSpPr>
        <p:spPr>
          <a:xfrm>
            <a:off x="6974205" y="2671445"/>
            <a:ext cx="591820" cy="357505"/>
          </a:xfrm>
          <a:prstGeom prst="downArrow">
            <a:avLst/>
          </a:prstGeom>
          <a:solidFill>
            <a:schemeClr val="accent3"/>
          </a:solidFill>
          <a:ln>
            <a:solidFill>
              <a:srgbClr val="F3E92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3"/>
              </a:solidFill>
            </a:endParaRPr>
          </a:p>
        </p:txBody>
      </p:sp>
      <p:sp>
        <p:nvSpPr>
          <p:cNvPr id="161" name="下箭头 160"/>
          <p:cNvSpPr/>
          <p:nvPr/>
        </p:nvSpPr>
        <p:spPr>
          <a:xfrm>
            <a:off x="6972935" y="3418840"/>
            <a:ext cx="591820" cy="357505"/>
          </a:xfrm>
          <a:prstGeom prst="downArrow">
            <a:avLst/>
          </a:prstGeom>
          <a:solidFill>
            <a:schemeClr val="accent3"/>
          </a:solidFill>
          <a:ln>
            <a:solidFill>
              <a:srgbClr val="F3E92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3"/>
              </a:solidFill>
            </a:endParaRPr>
          </a:p>
        </p:txBody>
      </p:sp>
      <p:sp>
        <p:nvSpPr>
          <p:cNvPr id="162" name="下箭头 161"/>
          <p:cNvSpPr/>
          <p:nvPr/>
        </p:nvSpPr>
        <p:spPr>
          <a:xfrm>
            <a:off x="6972935" y="4186555"/>
            <a:ext cx="591820" cy="357505"/>
          </a:xfrm>
          <a:prstGeom prst="downArrow">
            <a:avLst/>
          </a:prstGeom>
          <a:solidFill>
            <a:schemeClr val="accent3"/>
          </a:solidFill>
          <a:ln>
            <a:solidFill>
              <a:srgbClr val="F3E92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3"/>
              </a:solidFill>
            </a:endParaRPr>
          </a:p>
        </p:txBody>
      </p:sp>
      <p:sp>
        <p:nvSpPr>
          <p:cNvPr id="163" name="上箭头 162"/>
          <p:cNvSpPr/>
          <p:nvPr/>
        </p:nvSpPr>
        <p:spPr>
          <a:xfrm rot="12060000">
            <a:off x="5775960" y="1517650"/>
            <a:ext cx="278765" cy="2251075"/>
          </a:xfrm>
          <a:prstGeom prst="upArrow">
            <a:avLst/>
          </a:prstGeom>
          <a:noFill/>
          <a:ln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4" name="下箭头 163"/>
          <p:cNvSpPr/>
          <p:nvPr/>
        </p:nvSpPr>
        <p:spPr>
          <a:xfrm rot="18900000">
            <a:off x="4261485" y="5093970"/>
            <a:ext cx="591820" cy="357505"/>
          </a:xfrm>
          <a:prstGeom prst="downArrow">
            <a:avLst/>
          </a:prstGeom>
          <a:solidFill>
            <a:srgbClr val="1BF72A"/>
          </a:solidFill>
          <a:ln>
            <a:solidFill>
              <a:srgbClr val="1BF72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5" name="下箭头 164"/>
          <p:cNvSpPr/>
          <p:nvPr/>
        </p:nvSpPr>
        <p:spPr>
          <a:xfrm rot="3120000">
            <a:off x="6793865" y="5043170"/>
            <a:ext cx="591820" cy="357505"/>
          </a:xfrm>
          <a:prstGeom prst="downArrow">
            <a:avLst/>
          </a:prstGeom>
          <a:solidFill>
            <a:schemeClr val="accent3"/>
          </a:solidFill>
          <a:ln>
            <a:solidFill>
              <a:srgbClr val="F3E92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3"/>
              </a:solidFill>
            </a:endParaRPr>
          </a:p>
        </p:txBody>
      </p:sp>
      <p:pic>
        <p:nvPicPr>
          <p:cNvPr id="168" name="图片 167" descr="合并单元格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5741670" y="5189855"/>
            <a:ext cx="353060" cy="353060"/>
          </a:xfrm>
          <a:prstGeom prst="rect">
            <a:avLst/>
          </a:prstGeom>
        </p:spPr>
      </p:pic>
      <p:sp>
        <p:nvSpPr>
          <p:cNvPr id="171" name="文本框 170"/>
          <p:cNvSpPr txBox="1"/>
          <p:nvPr/>
        </p:nvSpPr>
        <p:spPr>
          <a:xfrm>
            <a:off x="10633710" y="1670050"/>
            <a:ext cx="941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50"/>
                </a:solidFill>
              </a:rPr>
              <a:t>Good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10720070" y="2383155"/>
            <a:ext cx="716915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Bad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173" name="图片 172" descr="下降"/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1407775" y="2246630"/>
            <a:ext cx="597535" cy="597535"/>
          </a:xfrm>
          <a:prstGeom prst="rect">
            <a:avLst/>
          </a:prstGeom>
        </p:spPr>
      </p:pic>
      <p:pic>
        <p:nvPicPr>
          <p:cNvPr id="174" name="图片 173" descr="提升"/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1478260" y="1670050"/>
            <a:ext cx="447040" cy="447040"/>
          </a:xfrm>
          <a:prstGeom prst="rect">
            <a:avLst/>
          </a:prstGeom>
        </p:spPr>
      </p:pic>
      <p:sp>
        <p:nvSpPr>
          <p:cNvPr id="175" name="文本框 174"/>
          <p:cNvSpPr txBox="1"/>
          <p:nvPr/>
        </p:nvSpPr>
        <p:spPr>
          <a:xfrm>
            <a:off x="8930640" y="2789555"/>
            <a:ext cx="7131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accent6"/>
                </a:solidFill>
              </a:rPr>
              <a:t>source </a:t>
            </a:r>
            <a:r>
              <a:rPr lang="en-US" altLang="zh-CN" sz="1200">
                <a:solidFill>
                  <a:schemeClr val="accent6"/>
                </a:solidFill>
              </a:rPr>
              <a:t>history</a:t>
            </a:r>
            <a:endParaRPr lang="en-US" altLang="zh-CN" sz="1200">
              <a:solidFill>
                <a:schemeClr val="accent6"/>
              </a:solidFill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8930640" y="991235"/>
            <a:ext cx="7131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accent6"/>
                </a:solidFill>
              </a:rPr>
              <a:t>source </a:t>
            </a:r>
            <a:r>
              <a:rPr lang="en-US" altLang="zh-CN" sz="1200">
                <a:solidFill>
                  <a:schemeClr val="accent6"/>
                </a:solidFill>
              </a:rPr>
              <a:t>history</a:t>
            </a:r>
            <a:endParaRPr lang="en-US" altLang="zh-CN" sz="1200">
              <a:solidFill>
                <a:schemeClr val="accent6"/>
              </a:solidFill>
            </a:endParaRPr>
          </a:p>
        </p:txBody>
      </p:sp>
      <p:cxnSp>
        <p:nvCxnSpPr>
          <p:cNvPr id="177" name="直接连接符 176"/>
          <p:cNvCxnSpPr/>
          <p:nvPr/>
        </p:nvCxnSpPr>
        <p:spPr>
          <a:xfrm>
            <a:off x="3083560" y="1121410"/>
            <a:ext cx="0" cy="45923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8" name="上箭头 177"/>
          <p:cNvSpPr/>
          <p:nvPr/>
        </p:nvSpPr>
        <p:spPr>
          <a:xfrm rot="5400000">
            <a:off x="8453755" y="5131435"/>
            <a:ext cx="240030" cy="713105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477520" y="2686685"/>
            <a:ext cx="4163060" cy="264096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3609975" y="2773045"/>
            <a:ext cx="783590" cy="2440305"/>
            <a:chOff x="14862" y="10040"/>
            <a:chExt cx="1234" cy="3843"/>
          </a:xfrm>
        </p:grpSpPr>
        <p:grpSp>
          <p:nvGrpSpPr>
            <p:cNvPr id="24" name="组合 23"/>
            <p:cNvGrpSpPr/>
            <p:nvPr/>
          </p:nvGrpSpPr>
          <p:grpSpPr>
            <a:xfrm rot="5400000">
              <a:off x="13883" y="11670"/>
              <a:ext cx="3843" cy="583"/>
              <a:chOff x="1135" y="7298"/>
              <a:chExt cx="3843" cy="583"/>
            </a:xfrm>
          </p:grpSpPr>
          <p:pic>
            <p:nvPicPr>
              <p:cNvPr id="16" name="图片 15" descr="区块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135" y="7298"/>
                <a:ext cx="576" cy="576"/>
              </a:xfrm>
              <a:prstGeom prst="rect">
                <a:avLst/>
              </a:prstGeom>
            </p:spPr>
          </p:pic>
          <p:pic>
            <p:nvPicPr>
              <p:cNvPr id="17" name="图片 16" descr="区块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962" y="7305"/>
                <a:ext cx="576" cy="576"/>
              </a:xfrm>
              <a:prstGeom prst="rect">
                <a:avLst/>
              </a:prstGeom>
            </p:spPr>
          </p:pic>
          <p:pic>
            <p:nvPicPr>
              <p:cNvPr id="18" name="图片 17" descr="区块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789" y="7305"/>
                <a:ext cx="576" cy="576"/>
              </a:xfrm>
              <a:prstGeom prst="rect">
                <a:avLst/>
              </a:prstGeom>
            </p:spPr>
          </p:pic>
          <p:pic>
            <p:nvPicPr>
              <p:cNvPr id="19" name="图片 18" descr="区块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402" y="7305"/>
                <a:ext cx="576" cy="576"/>
              </a:xfrm>
              <a:prstGeom prst="rect">
                <a:avLst/>
              </a:prstGeom>
            </p:spPr>
          </p:pic>
          <p:cxnSp>
            <p:nvCxnSpPr>
              <p:cNvPr id="20" name="直接箭头连接符 19"/>
              <p:cNvCxnSpPr>
                <a:stCxn id="16" idx="3"/>
                <a:endCxn id="17" idx="1"/>
              </p:cNvCxnSpPr>
              <p:nvPr/>
            </p:nvCxnSpPr>
            <p:spPr>
              <a:xfrm>
                <a:off x="1711" y="7586"/>
                <a:ext cx="251" cy="7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>
                <a:stCxn id="17" idx="3"/>
                <a:endCxn id="18" idx="1"/>
              </p:cNvCxnSpPr>
              <p:nvPr/>
            </p:nvCxnSpPr>
            <p:spPr>
              <a:xfrm>
                <a:off x="2538" y="7593"/>
                <a:ext cx="251" cy="0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22" name="图片 21" descr="24gf-ellipsis-copy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425" y="7383"/>
                <a:ext cx="484" cy="484"/>
              </a:xfrm>
              <a:prstGeom prst="rect">
                <a:avLst/>
              </a:prstGeom>
            </p:spPr>
          </p:pic>
          <p:cxnSp>
            <p:nvCxnSpPr>
              <p:cNvPr id="23" name="直接箭头连接符 22"/>
              <p:cNvCxnSpPr>
                <a:stCxn id="22" idx="3"/>
                <a:endCxn id="19" idx="1"/>
              </p:cNvCxnSpPr>
              <p:nvPr/>
            </p:nvCxnSpPr>
            <p:spPr>
              <a:xfrm flipV="1">
                <a:off x="3909" y="7593"/>
                <a:ext cx="493" cy="32"/>
              </a:xfrm>
              <a:prstGeom prst="straightConnector1">
                <a:avLst/>
              </a:prstGeom>
              <a:ln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5" name="文本框 24"/>
            <p:cNvSpPr txBox="1"/>
            <p:nvPr/>
          </p:nvSpPr>
          <p:spPr>
            <a:xfrm>
              <a:off x="14862" y="10171"/>
              <a:ext cx="750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>
                  <a:latin typeface="Calibri" panose="020F0502020204030204" pitchFamily="34" charset="0"/>
                  <a:cs typeface="Calibri" panose="020F0502020204030204" pitchFamily="34" charset="0"/>
                </a:rPr>
                <a:t>Block</a:t>
              </a:r>
              <a:endParaRPr lang="en-US" altLang="zh-CN" sz="9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4862" y="10974"/>
              <a:ext cx="750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>
                  <a:latin typeface="Calibri" panose="020F0502020204030204" pitchFamily="34" charset="0"/>
                  <a:cs typeface="Calibri" panose="020F0502020204030204" pitchFamily="34" charset="0"/>
                </a:rPr>
                <a:t>Block</a:t>
              </a:r>
              <a:endParaRPr lang="en-US" altLang="zh-CN" sz="9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4862" y="13450"/>
              <a:ext cx="750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>
                  <a:latin typeface="Calibri" panose="020F0502020204030204" pitchFamily="34" charset="0"/>
                  <a:cs typeface="Calibri" panose="020F0502020204030204" pitchFamily="34" charset="0"/>
                </a:rPr>
                <a:t>Block</a:t>
              </a:r>
              <a:endParaRPr lang="en-US" altLang="zh-CN" sz="9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4862" y="11777"/>
              <a:ext cx="750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>
                  <a:latin typeface="Calibri" panose="020F0502020204030204" pitchFamily="34" charset="0"/>
                  <a:cs typeface="Calibri" panose="020F0502020204030204" pitchFamily="34" charset="0"/>
                </a:rPr>
                <a:t>Block</a:t>
              </a:r>
              <a:endParaRPr lang="en-US" altLang="zh-CN" sz="9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1176020" y="434975"/>
            <a:ext cx="2260600" cy="759460"/>
            <a:chOff x="1111" y="3329"/>
            <a:chExt cx="3004" cy="1196"/>
          </a:xfrm>
        </p:grpSpPr>
        <p:sp>
          <p:nvSpPr>
            <p:cNvPr id="63" name="圆角矩形 62"/>
            <p:cNvSpPr/>
            <p:nvPr/>
          </p:nvSpPr>
          <p:spPr>
            <a:xfrm>
              <a:off x="1111" y="3329"/>
              <a:ext cx="3004" cy="119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0" name="图片 29" descr="数据源管理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2459" y="3852"/>
              <a:ext cx="484" cy="484"/>
            </a:xfrm>
            <a:prstGeom prst="rect">
              <a:avLst/>
            </a:prstGeom>
          </p:spPr>
        </p:pic>
        <p:pic>
          <p:nvPicPr>
            <p:cNvPr id="31" name="图片 30" descr="数据源管理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3036" y="3852"/>
              <a:ext cx="484" cy="484"/>
            </a:xfrm>
            <a:prstGeom prst="rect">
              <a:avLst/>
            </a:prstGeom>
          </p:spPr>
        </p:pic>
        <p:pic>
          <p:nvPicPr>
            <p:cNvPr id="32" name="图片 31" descr="数据源管理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flipH="1">
              <a:off x="1892" y="3852"/>
              <a:ext cx="484" cy="484"/>
            </a:xfrm>
            <a:prstGeom prst="rect">
              <a:avLst/>
            </a:prstGeom>
          </p:spPr>
        </p:pic>
        <p:sp>
          <p:nvSpPr>
            <p:cNvPr id="33" name="文本框 32"/>
            <p:cNvSpPr txBox="1"/>
            <p:nvPr/>
          </p:nvSpPr>
          <p:spPr>
            <a:xfrm>
              <a:off x="2116" y="3490"/>
              <a:ext cx="1293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DataSource</a:t>
              </a:r>
              <a:endParaRPr lang="en-US" altLang="zh-CN" sz="9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188085" y="2797810"/>
            <a:ext cx="2198370" cy="337185"/>
            <a:chOff x="5534" y="7433"/>
            <a:chExt cx="3110" cy="531"/>
          </a:xfrm>
        </p:grpSpPr>
        <p:sp>
          <p:nvSpPr>
            <p:cNvPr id="39" name="圆角矩形 38"/>
            <p:cNvSpPr/>
            <p:nvPr/>
          </p:nvSpPr>
          <p:spPr>
            <a:xfrm>
              <a:off x="5534" y="7434"/>
              <a:ext cx="3111" cy="530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latin typeface="Calibri" panose="020F0502020204030204" pitchFamily="34" charset="0"/>
                  <a:cs typeface="Calibri" panose="020F0502020204030204" pitchFamily="34" charset="0"/>
                </a:rPr>
                <a:t>Oracle Contract</a:t>
              </a:r>
              <a:endParaRPr lang="en-US" altLang="zh-CN" sz="12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8" name="图片 37" descr="智能合约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004" y="7433"/>
              <a:ext cx="531" cy="531"/>
            </a:xfrm>
            <a:prstGeom prst="rect">
              <a:avLst/>
            </a:prstGeom>
          </p:spPr>
        </p:pic>
      </p:grpSp>
      <p:grpSp>
        <p:nvGrpSpPr>
          <p:cNvPr id="74" name="组合 73"/>
          <p:cNvGrpSpPr/>
          <p:nvPr/>
        </p:nvGrpSpPr>
        <p:grpSpPr>
          <a:xfrm>
            <a:off x="1109980" y="3124835"/>
            <a:ext cx="2277110" cy="1849120"/>
            <a:chOff x="854" y="6791"/>
            <a:chExt cx="3464" cy="2912"/>
          </a:xfrm>
        </p:grpSpPr>
        <p:sp>
          <p:nvSpPr>
            <p:cNvPr id="72" name="圆角矩形 71"/>
            <p:cNvSpPr/>
            <p:nvPr/>
          </p:nvSpPr>
          <p:spPr>
            <a:xfrm>
              <a:off x="854" y="7223"/>
              <a:ext cx="3464" cy="24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954" y="7459"/>
              <a:ext cx="1989" cy="530"/>
              <a:chOff x="6079" y="8823"/>
              <a:chExt cx="1989" cy="530"/>
            </a:xfrm>
          </p:grpSpPr>
          <p:pic>
            <p:nvPicPr>
              <p:cNvPr id="41" name="图片 40" descr="用户"/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079" y="8933"/>
                <a:ext cx="420" cy="420"/>
              </a:xfrm>
              <a:prstGeom prst="rect">
                <a:avLst/>
              </a:prstGeom>
            </p:spPr>
          </p:pic>
          <p:sp>
            <p:nvSpPr>
              <p:cNvPr id="45" name="圆角矩形 44"/>
              <p:cNvSpPr/>
              <p:nvPr/>
            </p:nvSpPr>
            <p:spPr>
              <a:xfrm>
                <a:off x="6548" y="8823"/>
                <a:ext cx="1521" cy="53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>
                    <a:latin typeface="Calibri" panose="020F0502020204030204" pitchFamily="34" charset="0"/>
                    <a:cs typeface="Calibri" panose="020F0502020204030204" pitchFamily="34" charset="0"/>
                  </a:rPr>
                  <a:t>User Contract</a:t>
                </a:r>
                <a:endParaRPr lang="en-US" altLang="zh-CN" sz="9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954" y="8154"/>
              <a:ext cx="1989" cy="530"/>
              <a:chOff x="6079" y="8823"/>
              <a:chExt cx="1989" cy="530"/>
            </a:xfrm>
          </p:grpSpPr>
          <p:pic>
            <p:nvPicPr>
              <p:cNvPr id="49" name="图片 48" descr="用户"/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079" y="8933"/>
                <a:ext cx="420" cy="420"/>
              </a:xfrm>
              <a:prstGeom prst="rect">
                <a:avLst/>
              </a:prstGeom>
            </p:spPr>
          </p:pic>
          <p:sp>
            <p:nvSpPr>
              <p:cNvPr id="50" name="圆角矩形 49"/>
              <p:cNvSpPr/>
              <p:nvPr/>
            </p:nvSpPr>
            <p:spPr>
              <a:xfrm>
                <a:off x="6548" y="8823"/>
                <a:ext cx="1521" cy="53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>
                    <a:latin typeface="Calibri" panose="020F0502020204030204" pitchFamily="34" charset="0"/>
                    <a:cs typeface="Calibri" panose="020F0502020204030204" pitchFamily="34" charset="0"/>
                  </a:rPr>
                  <a:t>User Contract</a:t>
                </a:r>
                <a:endParaRPr lang="en-US" altLang="zh-CN" sz="9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955" y="8849"/>
              <a:ext cx="1989" cy="530"/>
              <a:chOff x="6079" y="8823"/>
              <a:chExt cx="1989" cy="530"/>
            </a:xfrm>
          </p:grpSpPr>
          <p:pic>
            <p:nvPicPr>
              <p:cNvPr id="52" name="图片 51" descr="用户"/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6079" y="8933"/>
                <a:ext cx="420" cy="420"/>
              </a:xfrm>
              <a:prstGeom prst="rect">
                <a:avLst/>
              </a:prstGeom>
            </p:spPr>
          </p:pic>
          <p:sp>
            <p:nvSpPr>
              <p:cNvPr id="53" name="圆角矩形 52"/>
              <p:cNvSpPr/>
              <p:nvPr/>
            </p:nvSpPr>
            <p:spPr>
              <a:xfrm>
                <a:off x="6548" y="8823"/>
                <a:ext cx="1521" cy="530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900">
                    <a:latin typeface="Calibri" panose="020F0502020204030204" pitchFamily="34" charset="0"/>
                    <a:cs typeface="Calibri" panose="020F0502020204030204" pitchFamily="34" charset="0"/>
                  </a:rPr>
                  <a:t>User Contract</a:t>
                </a:r>
                <a:endParaRPr lang="en-US" altLang="zh-CN" sz="9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3387" y="6791"/>
              <a:ext cx="419" cy="504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r>
                <a:rPr lang="zh-CN" altLang="en-US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①</a:t>
              </a:r>
              <a:endParaRPr lang="zh-CN" alt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1176020" y="1605280"/>
            <a:ext cx="2260600" cy="759460"/>
            <a:chOff x="1111" y="4723"/>
            <a:chExt cx="3004" cy="1196"/>
          </a:xfrm>
        </p:grpSpPr>
        <p:sp>
          <p:nvSpPr>
            <p:cNvPr id="59" name="圆角矩形 58"/>
            <p:cNvSpPr/>
            <p:nvPr/>
          </p:nvSpPr>
          <p:spPr>
            <a:xfrm>
              <a:off x="1111" y="4723"/>
              <a:ext cx="3004" cy="119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34" name="图片 33" descr="server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76" y="4922"/>
              <a:ext cx="577" cy="577"/>
            </a:xfrm>
            <a:prstGeom prst="rect">
              <a:avLst/>
            </a:prstGeom>
          </p:spPr>
        </p:pic>
        <p:sp>
          <p:nvSpPr>
            <p:cNvPr id="37" name="文本框 36"/>
            <p:cNvSpPr txBox="1"/>
            <p:nvPr/>
          </p:nvSpPr>
          <p:spPr>
            <a:xfrm>
              <a:off x="1999" y="5557"/>
              <a:ext cx="1521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Calibri" panose="020F0502020204030204" pitchFamily="34" charset="0"/>
                  <a:cs typeface="Calibri" panose="020F0502020204030204" pitchFamily="34" charset="0"/>
                </a:rPr>
                <a:t>Oracle Network</a:t>
              </a:r>
              <a:endParaRPr lang="en-US" altLang="zh-CN" sz="9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1" name="图片 60" descr="server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236" y="4922"/>
              <a:ext cx="577" cy="577"/>
            </a:xfrm>
            <a:prstGeom prst="rect">
              <a:avLst/>
            </a:prstGeom>
          </p:spPr>
        </p:pic>
        <p:pic>
          <p:nvPicPr>
            <p:cNvPr id="62" name="图片 61" descr="server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539" y="4922"/>
              <a:ext cx="577" cy="577"/>
            </a:xfrm>
            <a:prstGeom prst="rect">
              <a:avLst/>
            </a:prstGeom>
          </p:spPr>
        </p:pic>
      </p:grpSp>
      <p:cxnSp>
        <p:nvCxnSpPr>
          <p:cNvPr id="57" name="肘形连接符 56"/>
          <p:cNvCxnSpPr/>
          <p:nvPr/>
        </p:nvCxnSpPr>
        <p:spPr>
          <a:xfrm flipV="1">
            <a:off x="2484755" y="3134995"/>
            <a:ext cx="637540" cy="146494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肘形连接符 55"/>
          <p:cNvCxnSpPr/>
          <p:nvPr/>
        </p:nvCxnSpPr>
        <p:spPr>
          <a:xfrm flipV="1">
            <a:off x="2484120" y="3134995"/>
            <a:ext cx="638175" cy="102362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肘形连接符 54"/>
          <p:cNvCxnSpPr/>
          <p:nvPr/>
        </p:nvCxnSpPr>
        <p:spPr>
          <a:xfrm flipV="1">
            <a:off x="2484120" y="3134995"/>
            <a:ext cx="638175" cy="58229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>
            <a:off x="1628140" y="3124835"/>
            <a:ext cx="0" cy="2774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 flipV="1">
            <a:off x="3122295" y="2374900"/>
            <a:ext cx="0" cy="422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 flipV="1">
            <a:off x="3122295" y="1194435"/>
            <a:ext cx="0" cy="422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/>
          <p:nvPr/>
        </p:nvCxnSpPr>
        <p:spPr>
          <a:xfrm>
            <a:off x="1628140" y="2389505"/>
            <a:ext cx="0" cy="4089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1628140" y="1208405"/>
            <a:ext cx="0" cy="4089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2774950" y="2429510"/>
            <a:ext cx="423514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zh-CN" alt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774950" y="1298575"/>
            <a:ext cx="423514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zh-CN" alt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624965" y="1252855"/>
            <a:ext cx="3073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④</a:t>
            </a:r>
            <a:endParaRPr lang="zh-CN" alt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628140" y="2429510"/>
            <a:ext cx="3600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⑤</a:t>
            </a:r>
            <a:endParaRPr lang="zh-CN" alt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628140" y="3095625"/>
            <a:ext cx="3073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⑥</a:t>
            </a:r>
            <a:endParaRPr lang="zh-CN" alt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761365" y="4986020"/>
            <a:ext cx="186309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alibri" panose="020F0502020204030204" pitchFamily="34" charset="0"/>
                <a:ea typeface="PingFang SC Semibold" panose="020B0400000000000000" charset="-122"/>
                <a:cs typeface="Calibri" panose="020F0502020204030204" pitchFamily="34" charset="0"/>
                <a:sym typeface="+mn-ea"/>
              </a:rPr>
              <a:t>Blockchain</a:t>
            </a:r>
            <a:endParaRPr lang="en-US" altLang="zh-CN" sz="1200" b="1" dirty="0">
              <a:solidFill>
                <a:schemeClr val="tx1"/>
              </a:solidFill>
              <a:latin typeface="Calibri" panose="020F0502020204030204" pitchFamily="34" charset="0"/>
              <a:ea typeface="PingFang SC Semibold" panose="020B0400000000000000" charset="-122"/>
              <a:cs typeface="Calibri" panose="020F0502020204030204" pitchFamily="34" charset="0"/>
              <a:sym typeface="+mn-ea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288290" y="5407660"/>
            <a:ext cx="4526280" cy="840105"/>
            <a:chOff x="8766" y="4206"/>
            <a:chExt cx="7128" cy="1323"/>
          </a:xfrm>
        </p:grpSpPr>
        <p:sp>
          <p:nvSpPr>
            <p:cNvPr id="93" name="文本框 92"/>
            <p:cNvSpPr txBox="1"/>
            <p:nvPr/>
          </p:nvSpPr>
          <p:spPr>
            <a:xfrm>
              <a:off x="8766" y="4206"/>
              <a:ext cx="6999" cy="132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txBody>
            <a:bodyPr wrap="square" rtlCol="0">
              <a:noAutofit/>
            </a:bodyPr>
            <a:lstStyle/>
            <a:p>
              <a:endParaRPr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8883" y="4332"/>
              <a:ext cx="1882" cy="504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r>
                <a:rPr lang="zh-CN" altLang="en-US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①</a:t>
              </a:r>
              <a:r>
                <a:rPr lang="en-US" altLang="zh-CN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call oracle</a:t>
              </a:r>
              <a:endPara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10780" y="4332"/>
              <a:ext cx="1970" cy="485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②</a:t>
              </a:r>
              <a:r>
                <a:rPr lang="en-US" altLang="zh-CN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emit event</a:t>
              </a:r>
              <a:endPara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13386" y="4353"/>
              <a:ext cx="1905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③</a:t>
              </a:r>
              <a:r>
                <a:rPr lang="en-US" altLang="zh-CN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fetch data</a:t>
              </a:r>
              <a:endPara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8915" y="4836"/>
              <a:ext cx="2086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④</a:t>
              </a:r>
              <a:r>
                <a:rPr lang="en-US" altLang="zh-CN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 ret data </a:t>
              </a:r>
              <a:endPara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10765" y="4836"/>
              <a:ext cx="2652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⑤</a:t>
              </a:r>
              <a:r>
                <a:rPr lang="en-US" altLang="zh-CN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 invoke contract</a:t>
              </a:r>
              <a:endPara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13421" y="4836"/>
              <a:ext cx="2473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⑥</a:t>
              </a:r>
              <a:r>
                <a:rPr lang="en-US" altLang="zh-CN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 callback user</a:t>
              </a:r>
              <a:endPara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grpSp>
        <p:nvGrpSpPr>
          <p:cNvPr id="221" name="组合 220"/>
          <p:cNvGrpSpPr/>
          <p:nvPr/>
        </p:nvGrpSpPr>
        <p:grpSpPr>
          <a:xfrm>
            <a:off x="6363970" y="382905"/>
            <a:ext cx="2370455" cy="759460"/>
            <a:chOff x="9397" y="1228"/>
            <a:chExt cx="3733" cy="1196"/>
          </a:xfrm>
        </p:grpSpPr>
        <p:grpSp>
          <p:nvGrpSpPr>
            <p:cNvPr id="103" name="组合 102"/>
            <p:cNvGrpSpPr/>
            <p:nvPr/>
          </p:nvGrpSpPr>
          <p:grpSpPr>
            <a:xfrm>
              <a:off x="9397" y="1228"/>
              <a:ext cx="3719" cy="1196"/>
              <a:chOff x="2055" y="3329"/>
              <a:chExt cx="3138" cy="1196"/>
            </a:xfrm>
          </p:grpSpPr>
          <p:sp>
            <p:nvSpPr>
              <p:cNvPr id="104" name="圆角矩形 103"/>
              <p:cNvSpPr/>
              <p:nvPr/>
            </p:nvSpPr>
            <p:spPr>
              <a:xfrm>
                <a:off x="2055" y="3329"/>
                <a:ext cx="3138" cy="119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107" name="图片 106" descr="数据源管理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2371" y="3852"/>
                <a:ext cx="484" cy="484"/>
              </a:xfrm>
              <a:prstGeom prst="rect">
                <a:avLst/>
              </a:prstGeom>
            </p:spPr>
          </p:pic>
          <p:sp>
            <p:nvSpPr>
              <p:cNvPr id="108" name="文本框 107"/>
              <p:cNvSpPr txBox="1"/>
              <p:nvPr/>
            </p:nvSpPr>
            <p:spPr>
              <a:xfrm>
                <a:off x="2116" y="3490"/>
                <a:ext cx="1293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>
                    <a:latin typeface="Calibri" panose="020F0502020204030204" pitchFamily="34" charset="0"/>
                    <a:cs typeface="Calibri" panose="020F0502020204030204" pitchFamily="34" charset="0"/>
                  </a:rPr>
                  <a:t>DataSource</a:t>
                </a:r>
                <a:endParaRPr lang="en-US" altLang="zh-CN" sz="9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14" name="组合 113"/>
            <p:cNvGrpSpPr/>
            <p:nvPr/>
          </p:nvGrpSpPr>
          <p:grpSpPr>
            <a:xfrm>
              <a:off x="11924" y="1366"/>
              <a:ext cx="1206" cy="917"/>
              <a:chOff x="11674" y="4750"/>
              <a:chExt cx="1206" cy="917"/>
            </a:xfrm>
          </p:grpSpPr>
          <p:sp>
            <p:nvSpPr>
              <p:cNvPr id="113" name="文本框 112"/>
              <p:cNvSpPr txBox="1"/>
              <p:nvPr/>
            </p:nvSpPr>
            <p:spPr>
              <a:xfrm>
                <a:off x="11674" y="4750"/>
                <a:ext cx="1206" cy="33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900">
                    <a:latin typeface="Calibri" panose="020F0502020204030204" pitchFamily="34" charset="0"/>
                    <a:cs typeface="Calibri" panose="020F0502020204030204" pitchFamily="34" charset="0"/>
                  </a:rPr>
                  <a:t>Website</a:t>
                </a:r>
                <a:endParaRPr lang="en-US" altLang="zh-CN" sz="9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109" name="图片 108" descr="Website"/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1911" y="5089"/>
                <a:ext cx="578" cy="578"/>
              </a:xfrm>
              <a:prstGeom prst="rect">
                <a:avLst/>
              </a:prstGeom>
            </p:spPr>
          </p:pic>
        </p:grpSp>
        <p:grpSp>
          <p:nvGrpSpPr>
            <p:cNvPr id="122" name="组合 121"/>
            <p:cNvGrpSpPr/>
            <p:nvPr/>
          </p:nvGrpSpPr>
          <p:grpSpPr>
            <a:xfrm>
              <a:off x="10783" y="1389"/>
              <a:ext cx="1321" cy="894"/>
              <a:chOff x="9168" y="3280"/>
              <a:chExt cx="1321" cy="894"/>
            </a:xfrm>
          </p:grpSpPr>
          <p:sp>
            <p:nvSpPr>
              <p:cNvPr id="121" name="文本框 120"/>
              <p:cNvSpPr txBox="1"/>
              <p:nvPr/>
            </p:nvSpPr>
            <p:spPr>
              <a:xfrm>
                <a:off x="9168" y="3280"/>
                <a:ext cx="1321" cy="33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900">
                    <a:latin typeface="Calibri" panose="020F0502020204030204" pitchFamily="34" charset="0"/>
                    <a:cs typeface="Calibri" panose="020F0502020204030204" pitchFamily="34" charset="0"/>
                  </a:rPr>
                  <a:t>Thinking</a:t>
                </a:r>
                <a:endParaRPr lang="en-US" altLang="zh-CN" sz="9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115" name="图片 114" descr="thinking"/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9373" y="3584"/>
                <a:ext cx="590" cy="590"/>
              </a:xfrm>
              <a:prstGeom prst="rect">
                <a:avLst/>
              </a:prstGeom>
            </p:spPr>
          </p:pic>
        </p:grpSp>
      </p:grpSp>
      <p:grpSp>
        <p:nvGrpSpPr>
          <p:cNvPr id="123" name="组合 122"/>
          <p:cNvGrpSpPr/>
          <p:nvPr/>
        </p:nvGrpSpPr>
        <p:grpSpPr>
          <a:xfrm>
            <a:off x="5737225" y="4512945"/>
            <a:ext cx="2409190" cy="759460"/>
            <a:chOff x="1111" y="4723"/>
            <a:chExt cx="3004" cy="1196"/>
          </a:xfrm>
        </p:grpSpPr>
        <p:sp>
          <p:nvSpPr>
            <p:cNvPr id="124" name="圆角矩形 123"/>
            <p:cNvSpPr/>
            <p:nvPr/>
          </p:nvSpPr>
          <p:spPr>
            <a:xfrm>
              <a:off x="1111" y="4723"/>
              <a:ext cx="3004" cy="119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25" name="图片 124" descr="server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76" y="4922"/>
              <a:ext cx="577" cy="577"/>
            </a:xfrm>
            <a:prstGeom prst="rect">
              <a:avLst/>
            </a:prstGeom>
          </p:spPr>
        </p:pic>
        <p:sp>
          <p:nvSpPr>
            <p:cNvPr id="126" name="文本框 125"/>
            <p:cNvSpPr txBox="1"/>
            <p:nvPr/>
          </p:nvSpPr>
          <p:spPr>
            <a:xfrm>
              <a:off x="1999" y="5557"/>
              <a:ext cx="1521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>
                  <a:latin typeface="Calibri" panose="020F0502020204030204" pitchFamily="34" charset="0"/>
                  <a:cs typeface="Calibri" panose="020F0502020204030204" pitchFamily="34" charset="0"/>
                </a:rPr>
                <a:t>Oracle Network</a:t>
              </a:r>
              <a:endParaRPr lang="en-US" altLang="zh-CN" sz="9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27" name="图片 126" descr="server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236" y="4922"/>
              <a:ext cx="577" cy="577"/>
            </a:xfrm>
            <a:prstGeom prst="rect">
              <a:avLst/>
            </a:prstGeom>
          </p:spPr>
        </p:pic>
        <p:pic>
          <p:nvPicPr>
            <p:cNvPr id="128" name="图片 127" descr="server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539" y="4922"/>
              <a:ext cx="577" cy="577"/>
            </a:xfrm>
            <a:prstGeom prst="rect">
              <a:avLst/>
            </a:prstGeom>
          </p:spPr>
        </p:pic>
      </p:grpSp>
      <p:grpSp>
        <p:nvGrpSpPr>
          <p:cNvPr id="160" name="组合 159"/>
          <p:cNvGrpSpPr/>
          <p:nvPr/>
        </p:nvGrpSpPr>
        <p:grpSpPr>
          <a:xfrm>
            <a:off x="5561965" y="1471930"/>
            <a:ext cx="3976370" cy="1164590"/>
            <a:chOff x="9037" y="2520"/>
            <a:chExt cx="6262" cy="1834"/>
          </a:xfrm>
        </p:grpSpPr>
        <p:sp>
          <p:nvSpPr>
            <p:cNvPr id="155" name="圆角矩形 154"/>
            <p:cNvSpPr/>
            <p:nvPr/>
          </p:nvSpPr>
          <p:spPr>
            <a:xfrm>
              <a:off x="9037" y="2520"/>
              <a:ext cx="6262" cy="183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35" name="组合 134"/>
            <p:cNvGrpSpPr/>
            <p:nvPr/>
          </p:nvGrpSpPr>
          <p:grpSpPr>
            <a:xfrm>
              <a:off x="9409" y="2765"/>
              <a:ext cx="1204" cy="1056"/>
              <a:chOff x="11080" y="6180"/>
              <a:chExt cx="1204" cy="1056"/>
            </a:xfrm>
          </p:grpSpPr>
          <p:grpSp>
            <p:nvGrpSpPr>
              <p:cNvPr id="129" name="组合 128"/>
              <p:cNvGrpSpPr/>
              <p:nvPr/>
            </p:nvGrpSpPr>
            <p:grpSpPr>
              <a:xfrm>
                <a:off x="11080" y="6180"/>
                <a:ext cx="1205" cy="1057"/>
                <a:chOff x="2016" y="4723"/>
                <a:chExt cx="1017" cy="1268"/>
              </a:xfrm>
            </p:grpSpPr>
            <p:sp>
              <p:nvSpPr>
                <p:cNvPr id="130" name="圆角矩形 129"/>
                <p:cNvSpPr/>
                <p:nvPr/>
              </p:nvSpPr>
              <p:spPr>
                <a:xfrm>
                  <a:off x="2016" y="4723"/>
                  <a:ext cx="1017" cy="1196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2" name="文本框 131"/>
                <p:cNvSpPr txBox="1"/>
                <p:nvPr/>
              </p:nvSpPr>
              <p:spPr>
                <a:xfrm>
                  <a:off x="2146" y="5557"/>
                  <a:ext cx="839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00">
                      <a:latin typeface="Calibri" panose="020F0502020204030204" pitchFamily="34" charset="0"/>
                      <a:cs typeface="Calibri" panose="020F0502020204030204" pitchFamily="34" charset="0"/>
                    </a:rPr>
                    <a:t>Agent-1</a:t>
                  </a:r>
                  <a:endParaRPr lang="en-US" altLang="zh-CN" sz="9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117" name="图片 116" descr="agent"/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1394" y="6290"/>
                <a:ext cx="577" cy="577"/>
              </a:xfrm>
              <a:prstGeom prst="rect">
                <a:avLst/>
              </a:prstGeom>
            </p:spPr>
          </p:pic>
        </p:grpSp>
        <p:grpSp>
          <p:nvGrpSpPr>
            <p:cNvPr id="157" name="组合 156"/>
            <p:cNvGrpSpPr/>
            <p:nvPr/>
          </p:nvGrpSpPr>
          <p:grpSpPr>
            <a:xfrm>
              <a:off x="12384" y="2765"/>
              <a:ext cx="1204" cy="1056"/>
              <a:chOff x="12967" y="2765"/>
              <a:chExt cx="1204" cy="1056"/>
            </a:xfrm>
          </p:grpSpPr>
          <p:grpSp>
            <p:nvGrpSpPr>
              <p:cNvPr id="143" name="组合 142"/>
              <p:cNvGrpSpPr/>
              <p:nvPr/>
            </p:nvGrpSpPr>
            <p:grpSpPr>
              <a:xfrm>
                <a:off x="12967" y="2765"/>
                <a:ext cx="1205" cy="1057"/>
                <a:chOff x="2016" y="4723"/>
                <a:chExt cx="1017" cy="1268"/>
              </a:xfrm>
            </p:grpSpPr>
            <p:sp>
              <p:nvSpPr>
                <p:cNvPr id="144" name="圆角矩形 143"/>
                <p:cNvSpPr/>
                <p:nvPr/>
              </p:nvSpPr>
              <p:spPr>
                <a:xfrm>
                  <a:off x="2016" y="4723"/>
                  <a:ext cx="1017" cy="1196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5" name="文本框 144"/>
                <p:cNvSpPr txBox="1"/>
                <p:nvPr/>
              </p:nvSpPr>
              <p:spPr>
                <a:xfrm>
                  <a:off x="2077" y="5557"/>
                  <a:ext cx="839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00">
                      <a:latin typeface="Calibri" panose="020F0502020204030204" pitchFamily="34" charset="0"/>
                      <a:cs typeface="Calibri" panose="020F0502020204030204" pitchFamily="34" charset="0"/>
                    </a:rPr>
                    <a:t>Agent-3</a:t>
                  </a:r>
                  <a:endParaRPr lang="en-US" altLang="zh-CN" sz="9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152" name="图片 151" descr="cpu-04"/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13217" y="2832"/>
                <a:ext cx="644" cy="644"/>
              </a:xfrm>
              <a:prstGeom prst="rect">
                <a:avLst/>
              </a:prstGeom>
            </p:spPr>
          </p:pic>
        </p:grpSp>
        <p:grpSp>
          <p:nvGrpSpPr>
            <p:cNvPr id="158" name="组合 157"/>
            <p:cNvGrpSpPr/>
            <p:nvPr/>
          </p:nvGrpSpPr>
          <p:grpSpPr>
            <a:xfrm>
              <a:off x="13835" y="2765"/>
              <a:ext cx="1204" cy="1040"/>
              <a:chOff x="14485" y="2781"/>
              <a:chExt cx="1204" cy="1040"/>
            </a:xfrm>
          </p:grpSpPr>
          <p:grpSp>
            <p:nvGrpSpPr>
              <p:cNvPr id="138" name="组合 137"/>
              <p:cNvGrpSpPr/>
              <p:nvPr/>
            </p:nvGrpSpPr>
            <p:grpSpPr>
              <a:xfrm>
                <a:off x="14485" y="2781"/>
                <a:ext cx="1205" cy="1041"/>
                <a:chOff x="2016" y="4723"/>
                <a:chExt cx="1017" cy="1249"/>
              </a:xfrm>
            </p:grpSpPr>
            <p:sp>
              <p:nvSpPr>
                <p:cNvPr id="139" name="圆角矩形 138"/>
                <p:cNvSpPr/>
                <p:nvPr/>
              </p:nvSpPr>
              <p:spPr>
                <a:xfrm>
                  <a:off x="2016" y="4723"/>
                  <a:ext cx="1017" cy="1196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0" name="文本框 139"/>
                <p:cNvSpPr txBox="1"/>
                <p:nvPr/>
              </p:nvSpPr>
              <p:spPr>
                <a:xfrm>
                  <a:off x="2090" y="5538"/>
                  <a:ext cx="839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00">
                      <a:latin typeface="Calibri" panose="020F0502020204030204" pitchFamily="34" charset="0"/>
                      <a:cs typeface="Calibri" panose="020F0502020204030204" pitchFamily="34" charset="0"/>
                    </a:rPr>
                    <a:t>Agent-4</a:t>
                  </a:r>
                  <a:endParaRPr lang="en-US" altLang="zh-CN" sz="9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153" name="图片 152" descr="大模型-copy (1)"/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14695" y="2875"/>
                <a:ext cx="643" cy="643"/>
              </a:xfrm>
              <a:prstGeom prst="rect">
                <a:avLst/>
              </a:prstGeom>
            </p:spPr>
          </p:pic>
        </p:grpSp>
        <p:grpSp>
          <p:nvGrpSpPr>
            <p:cNvPr id="156" name="组合 155"/>
            <p:cNvGrpSpPr/>
            <p:nvPr/>
          </p:nvGrpSpPr>
          <p:grpSpPr>
            <a:xfrm>
              <a:off x="10876" y="2773"/>
              <a:ext cx="1204" cy="1040"/>
              <a:chOff x="11221" y="2773"/>
              <a:chExt cx="1204" cy="1040"/>
            </a:xfrm>
          </p:grpSpPr>
          <p:grpSp>
            <p:nvGrpSpPr>
              <p:cNvPr id="148" name="组合 147"/>
              <p:cNvGrpSpPr/>
              <p:nvPr/>
            </p:nvGrpSpPr>
            <p:grpSpPr>
              <a:xfrm>
                <a:off x="11221" y="2773"/>
                <a:ext cx="1205" cy="1041"/>
                <a:chOff x="2016" y="4723"/>
                <a:chExt cx="1017" cy="1249"/>
              </a:xfrm>
            </p:grpSpPr>
            <p:sp>
              <p:nvSpPr>
                <p:cNvPr id="149" name="圆角矩形 148"/>
                <p:cNvSpPr/>
                <p:nvPr/>
              </p:nvSpPr>
              <p:spPr>
                <a:xfrm>
                  <a:off x="2016" y="4723"/>
                  <a:ext cx="1017" cy="1196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50" name="文本框 149"/>
                <p:cNvSpPr txBox="1"/>
                <p:nvPr/>
              </p:nvSpPr>
              <p:spPr>
                <a:xfrm>
                  <a:off x="2106" y="5538"/>
                  <a:ext cx="839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00">
                      <a:latin typeface="Calibri" panose="020F0502020204030204" pitchFamily="34" charset="0"/>
                      <a:cs typeface="Calibri" panose="020F0502020204030204" pitchFamily="34" charset="0"/>
                    </a:rPr>
                    <a:t>Agent-2</a:t>
                  </a:r>
                  <a:endParaRPr lang="en-US" altLang="zh-CN" sz="9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154" name="图片 153" descr="大模型-copy"/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11501" y="2881"/>
                <a:ext cx="579" cy="579"/>
              </a:xfrm>
              <a:prstGeom prst="rect">
                <a:avLst/>
              </a:prstGeom>
            </p:spPr>
          </p:pic>
        </p:grpSp>
        <p:sp>
          <p:nvSpPr>
            <p:cNvPr id="159" name="文本框 158"/>
            <p:cNvSpPr txBox="1"/>
            <p:nvPr/>
          </p:nvSpPr>
          <p:spPr>
            <a:xfrm>
              <a:off x="11532" y="3822"/>
              <a:ext cx="1575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US" altLang="zh-CN" sz="1200" b="1">
                  <a:latin typeface="Calibri" panose="020F0502020204030204" pitchFamily="34" charset="0"/>
                  <a:ea typeface="PingFang SC Semibold" panose="020B0400000000000000" charset="-122"/>
                  <a:cs typeface="Calibri" panose="020F0502020204030204" pitchFamily="34" charset="0"/>
                  <a:sym typeface="+mn-ea"/>
                </a:rPr>
                <a:t>Agent</a:t>
              </a:r>
              <a:endParaRPr lang="en-US" altLang="zh-CN" sz="1200" b="1">
                <a:latin typeface="Calibri" panose="020F0502020204030204" pitchFamily="34" charset="0"/>
                <a:ea typeface="PingFang SC Semibold" panose="020B0400000000000000" charset="-122"/>
                <a:cs typeface="Calibri" panose="020F0502020204030204" pitchFamily="34" charset="0"/>
                <a:sym typeface="+mn-ea"/>
              </a:endParaRPr>
            </a:p>
          </p:txBody>
        </p:sp>
      </p:grpSp>
      <p:grpSp>
        <p:nvGrpSpPr>
          <p:cNvPr id="187" name="组合 186"/>
          <p:cNvGrpSpPr/>
          <p:nvPr/>
        </p:nvGrpSpPr>
        <p:grpSpPr>
          <a:xfrm>
            <a:off x="6508750" y="2899410"/>
            <a:ext cx="1863725" cy="404495"/>
            <a:chOff x="11000" y="5654"/>
            <a:chExt cx="2935" cy="637"/>
          </a:xfrm>
        </p:grpSpPr>
        <p:sp>
          <p:nvSpPr>
            <p:cNvPr id="186" name="圆角矩形 185"/>
            <p:cNvSpPr/>
            <p:nvPr/>
          </p:nvSpPr>
          <p:spPr>
            <a:xfrm>
              <a:off x="11000" y="5654"/>
              <a:ext cx="2934" cy="63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84" name="图片 183" descr="judge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1278" y="5734"/>
              <a:ext cx="485" cy="485"/>
            </a:xfrm>
            <a:prstGeom prst="rect">
              <a:avLst/>
            </a:prstGeom>
          </p:spPr>
        </p:pic>
        <p:sp>
          <p:nvSpPr>
            <p:cNvPr id="185" name="文本框 184"/>
            <p:cNvSpPr txBox="1"/>
            <p:nvPr/>
          </p:nvSpPr>
          <p:spPr>
            <a:xfrm>
              <a:off x="11849" y="5785"/>
              <a:ext cx="2086" cy="43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200" dirty="0">
                  <a:uFillTx/>
                  <a:latin typeface="Calibri" panose="020F0502020204030204" pitchFamily="34" charset="0"/>
                  <a:cs typeface="Calibri" panose="020F0502020204030204" pitchFamily="34" charset="0"/>
                  <a:sym typeface="+mn-ea"/>
                </a:rPr>
                <a:t>Truth</a:t>
              </a:r>
              <a:r>
                <a:rPr lang="zh-CN" altLang="en-US" sz="1200" dirty="0">
                  <a:uFillTx/>
                  <a:latin typeface="Calibri" panose="020F0502020204030204" pitchFamily="34" charset="0"/>
                  <a:cs typeface="Calibri" panose="020F0502020204030204" pitchFamily="34" charset="0"/>
                  <a:sym typeface="+mn-ea"/>
                </a:rPr>
                <a:t> </a:t>
              </a:r>
              <a:r>
                <a:rPr lang="en-US" altLang="zh-CN" sz="1200" dirty="0">
                  <a:latin typeface="Calibri" panose="020F0502020204030204" pitchFamily="34" charset="0"/>
                  <a:cs typeface="Calibri" panose="020F0502020204030204" pitchFamily="34" charset="0"/>
                  <a:sym typeface="+mn-ea"/>
                </a:rPr>
                <a:t>Discovery</a:t>
              </a:r>
              <a:endParaRPr lang="en-US" altLang="zh-CN" sz="1200" dirty="0">
                <a:uFillTx/>
                <a:latin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188" name="文本框 187"/>
          <p:cNvSpPr txBox="1"/>
          <p:nvPr/>
        </p:nvSpPr>
        <p:spPr>
          <a:xfrm>
            <a:off x="9571990" y="2692400"/>
            <a:ext cx="1400175" cy="2755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txBody>
          <a:bodyPr wrap="square" rtlCol="0" anchor="t">
            <a:spAutoFit/>
          </a:bodyPr>
          <a:lstStyle/>
          <a:p>
            <a:r>
              <a:rPr lang="en-US" altLang="zh-CN" sz="1200">
                <a:latin typeface="Calibri" panose="020F0502020204030204" pitchFamily="34" charset="0"/>
                <a:cs typeface="Calibri" panose="020F0502020204030204" pitchFamily="34" charset="0"/>
              </a:rPr>
              <a:t>TrustWorthiness</a:t>
            </a:r>
            <a:endParaRPr lang="en-US" altLang="zh-CN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9627870" y="3090545"/>
            <a:ext cx="1325245" cy="2755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txBody>
          <a:bodyPr wrap="square" rtlCol="0" anchor="t">
            <a:spAutoFit/>
          </a:bodyPr>
          <a:lstStyle/>
          <a:p>
            <a:r>
              <a:rPr lang="en-US" altLang="zh-CN" sz="1200">
                <a:latin typeface="Calibri" panose="020F0502020204030204" pitchFamily="34" charset="0"/>
                <a:cs typeface="Calibri" panose="020F0502020204030204" pitchFamily="34" charset="0"/>
              </a:rPr>
              <a:t>FactConfidence</a:t>
            </a:r>
            <a:endParaRPr lang="en-US" altLang="zh-CN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2" name="图片 191" descr="trusted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972165" y="2632075"/>
            <a:ext cx="422275" cy="422275"/>
          </a:xfrm>
          <a:prstGeom prst="rect">
            <a:avLst/>
          </a:prstGeom>
        </p:spPr>
      </p:pic>
      <p:pic>
        <p:nvPicPr>
          <p:cNvPr id="193" name="图片 192" descr="事实描述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050270" y="3089910"/>
            <a:ext cx="276225" cy="276225"/>
          </a:xfrm>
          <a:prstGeom prst="rect">
            <a:avLst/>
          </a:prstGeom>
        </p:spPr>
      </p:pic>
      <p:graphicFrame>
        <p:nvGraphicFramePr>
          <p:cNvPr id="199" name="表格 198"/>
          <p:cNvGraphicFramePr/>
          <p:nvPr>
            <p:custDataLst>
              <p:tags r:id="rId31"/>
            </p:custDataLst>
          </p:nvPr>
        </p:nvGraphicFramePr>
        <p:xfrm>
          <a:off x="5803900" y="3584575"/>
          <a:ext cx="3293745" cy="548640"/>
        </p:xfrm>
        <a:graphic>
          <a:graphicData uri="http://schemas.openxmlformats.org/drawingml/2006/table">
            <a:tbl>
              <a:tblPr firstRow="1" lastRow="1" bandRow="1">
                <a:tableStyleId>{097B7428-5FDC-4A5C-B158-09836A44480C}</a:tableStyleId>
              </a:tblPr>
              <a:tblGrid>
                <a:gridCol w="805180"/>
                <a:gridCol w="858520"/>
                <a:gridCol w="805815"/>
                <a:gridCol w="824230"/>
              </a:tblGrid>
              <a:tr h="266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Agent-1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accent2"/>
                      </a:solidFill>
                      <a:prstDash val="sysDash"/>
                    </a:lnL>
                    <a:lnR w="19050">
                      <a:solidFill>
                        <a:schemeClr val="accent2"/>
                      </a:solidFill>
                      <a:prstDash val="sysDash"/>
                    </a:lnR>
                    <a:lnT w="19050">
                      <a:solidFill>
                        <a:schemeClr val="accent2"/>
                      </a:solidFill>
                      <a:prstDash val="sysDash"/>
                    </a:lnT>
                    <a:lnB w="19050">
                      <a:solidFill>
                        <a:schemeClr val="accent2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Agent-2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accent2"/>
                      </a:solidFill>
                      <a:prstDash val="sysDash"/>
                    </a:lnL>
                    <a:lnR w="19050">
                      <a:solidFill>
                        <a:schemeClr val="accent2"/>
                      </a:solidFill>
                      <a:prstDash val="sysDash"/>
                    </a:lnR>
                    <a:lnT w="19050">
                      <a:solidFill>
                        <a:schemeClr val="accent2"/>
                      </a:solidFill>
                      <a:prstDash val="sysDash"/>
                    </a:lnT>
                    <a:lnB w="19050">
                      <a:solidFill>
                        <a:schemeClr val="accent2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Agent-3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accent2"/>
                      </a:solidFill>
                      <a:prstDash val="sysDash"/>
                    </a:lnL>
                    <a:lnR w="19050">
                      <a:solidFill>
                        <a:schemeClr val="accent2"/>
                      </a:solidFill>
                      <a:prstDash val="sysDash"/>
                    </a:lnR>
                    <a:lnT w="19050">
                      <a:solidFill>
                        <a:schemeClr val="accent2"/>
                      </a:solidFill>
                      <a:prstDash val="sysDash"/>
                    </a:lnT>
                    <a:lnB w="19050">
                      <a:solidFill>
                        <a:schemeClr val="accent2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/>
                        <a:t>Agent-4</a:t>
                      </a:r>
                      <a:endParaRPr lang="en-US" altLang="zh-CN" sz="1200"/>
                    </a:p>
                  </a:txBody>
                  <a:tcPr>
                    <a:lnL w="19050">
                      <a:solidFill>
                        <a:schemeClr val="accent2"/>
                      </a:solidFill>
                      <a:prstDash val="sysDash"/>
                    </a:lnL>
                    <a:lnR w="19050">
                      <a:solidFill>
                        <a:schemeClr val="accent2"/>
                      </a:solidFill>
                      <a:prstDash val="sysDash"/>
                    </a:lnR>
                    <a:lnT w="19050">
                      <a:solidFill>
                        <a:schemeClr val="accent2"/>
                      </a:solidFill>
                      <a:prstDash val="sysDash"/>
                    </a:lnT>
                    <a:lnB w="19050">
                      <a:solidFill>
                        <a:schemeClr val="accent2"/>
                      </a:solidFill>
                      <a:prstDash val="sysDash"/>
                    </a:lnB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accent2"/>
                      </a:solidFill>
                      <a:prstDash val="sysDash"/>
                    </a:lnL>
                    <a:lnR w="19050">
                      <a:solidFill>
                        <a:schemeClr val="accent2"/>
                      </a:solidFill>
                      <a:prstDash val="sysDash"/>
                    </a:lnR>
                    <a:lnT w="19050">
                      <a:solidFill>
                        <a:schemeClr val="accent2"/>
                      </a:solidFill>
                      <a:prstDash val="sysDash"/>
                    </a:lnT>
                    <a:lnB w="19050">
                      <a:solidFill>
                        <a:schemeClr val="accent2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accent2"/>
                      </a:solidFill>
                      <a:prstDash val="sysDash"/>
                    </a:lnL>
                    <a:lnR w="19050">
                      <a:solidFill>
                        <a:schemeClr val="accent2"/>
                      </a:solidFill>
                      <a:prstDash val="sysDash"/>
                    </a:lnR>
                    <a:lnT w="19050">
                      <a:solidFill>
                        <a:schemeClr val="accent2"/>
                      </a:solidFill>
                      <a:prstDash val="sysDash"/>
                    </a:lnT>
                    <a:lnB w="19050">
                      <a:solidFill>
                        <a:schemeClr val="accent2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accent2"/>
                      </a:solidFill>
                      <a:prstDash val="sysDash"/>
                    </a:lnL>
                    <a:lnR w="19050">
                      <a:solidFill>
                        <a:schemeClr val="accent2"/>
                      </a:solidFill>
                      <a:prstDash val="sysDash"/>
                    </a:lnR>
                    <a:lnT w="19050">
                      <a:solidFill>
                        <a:schemeClr val="accent2"/>
                      </a:solidFill>
                      <a:prstDash val="sysDash"/>
                    </a:lnT>
                    <a:lnB w="19050">
                      <a:solidFill>
                        <a:schemeClr val="accent2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>
                    <a:lnL w="19050">
                      <a:solidFill>
                        <a:schemeClr val="accent2"/>
                      </a:solidFill>
                      <a:prstDash val="sysDash"/>
                    </a:lnL>
                    <a:lnR w="19050">
                      <a:solidFill>
                        <a:schemeClr val="accent2"/>
                      </a:solidFill>
                      <a:prstDash val="sysDash"/>
                    </a:lnR>
                    <a:lnT w="19050">
                      <a:solidFill>
                        <a:schemeClr val="accent2"/>
                      </a:solidFill>
                      <a:prstDash val="sysDash"/>
                    </a:lnT>
                    <a:lnB w="19050">
                      <a:solidFill>
                        <a:schemeClr val="accent2"/>
                      </a:solidFill>
                      <a:prstDash val="sysDash"/>
                    </a:lnB>
                  </a:tcPr>
                </a:tc>
              </a:tr>
            </a:tbl>
          </a:graphicData>
        </a:graphic>
      </p:graphicFrame>
      <p:pic>
        <p:nvPicPr>
          <p:cNvPr id="201" name="图片 200" descr="谎言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554085" y="3824605"/>
            <a:ext cx="306070" cy="306070"/>
          </a:xfrm>
          <a:prstGeom prst="rect">
            <a:avLst/>
          </a:prstGeom>
        </p:spPr>
      </p:pic>
      <p:pic>
        <p:nvPicPr>
          <p:cNvPr id="202" name="图片 201" descr="invoice-truth-icon 拷贝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720965" y="3865880"/>
            <a:ext cx="267335" cy="267335"/>
          </a:xfrm>
          <a:prstGeom prst="rect">
            <a:avLst/>
          </a:prstGeom>
        </p:spPr>
      </p:pic>
      <p:pic>
        <p:nvPicPr>
          <p:cNvPr id="205" name="图片 204" descr="invoice-truth-icon 拷贝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951345" y="3869690"/>
            <a:ext cx="267335" cy="267335"/>
          </a:xfrm>
          <a:prstGeom prst="rect">
            <a:avLst/>
          </a:prstGeom>
        </p:spPr>
      </p:pic>
      <p:pic>
        <p:nvPicPr>
          <p:cNvPr id="206" name="图片 205" descr="invoice-truth-icon 拷贝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099175" y="3865880"/>
            <a:ext cx="267335" cy="267335"/>
          </a:xfrm>
          <a:prstGeom prst="rect">
            <a:avLst/>
          </a:prstGeom>
        </p:spPr>
      </p:pic>
      <p:cxnSp>
        <p:nvCxnSpPr>
          <p:cNvPr id="207" name="直接箭头连接符 206"/>
          <p:cNvCxnSpPr>
            <a:endCxn id="199" idx="0"/>
          </p:cNvCxnSpPr>
          <p:nvPr/>
        </p:nvCxnSpPr>
        <p:spPr>
          <a:xfrm>
            <a:off x="7440295" y="3303905"/>
            <a:ext cx="10795" cy="28067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15" name="组合 214"/>
          <p:cNvGrpSpPr/>
          <p:nvPr/>
        </p:nvGrpSpPr>
        <p:grpSpPr>
          <a:xfrm>
            <a:off x="9150350" y="4512945"/>
            <a:ext cx="1616710" cy="759460"/>
            <a:chOff x="14355" y="7570"/>
            <a:chExt cx="2546" cy="1196"/>
          </a:xfrm>
        </p:grpSpPr>
        <p:grpSp>
          <p:nvGrpSpPr>
            <p:cNvPr id="213" name="组合 212"/>
            <p:cNvGrpSpPr/>
            <p:nvPr/>
          </p:nvGrpSpPr>
          <p:grpSpPr>
            <a:xfrm>
              <a:off x="14355" y="7570"/>
              <a:ext cx="2546" cy="1196"/>
              <a:chOff x="14811" y="8025"/>
              <a:chExt cx="2546" cy="1196"/>
            </a:xfrm>
          </p:grpSpPr>
          <p:sp>
            <p:nvSpPr>
              <p:cNvPr id="208" name="圆角矩形 207"/>
              <p:cNvSpPr/>
              <p:nvPr/>
            </p:nvSpPr>
            <p:spPr>
              <a:xfrm>
                <a:off x="14811" y="8025"/>
                <a:ext cx="2547" cy="1196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209" name="图片 208" descr="区块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14966" y="8283"/>
                <a:ext cx="576" cy="576"/>
              </a:xfrm>
              <a:prstGeom prst="rect">
                <a:avLst/>
              </a:prstGeom>
            </p:spPr>
          </p:pic>
          <p:pic>
            <p:nvPicPr>
              <p:cNvPr id="210" name="图片 209" descr="区块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15542" y="8283"/>
                <a:ext cx="576" cy="576"/>
              </a:xfrm>
              <a:prstGeom prst="rect">
                <a:avLst/>
              </a:prstGeom>
            </p:spPr>
          </p:pic>
          <p:pic>
            <p:nvPicPr>
              <p:cNvPr id="211" name="图片 210" descr="区块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16118" y="8283"/>
                <a:ext cx="576" cy="576"/>
              </a:xfrm>
              <a:prstGeom prst="rect">
                <a:avLst/>
              </a:prstGeom>
            </p:spPr>
          </p:pic>
          <p:pic>
            <p:nvPicPr>
              <p:cNvPr id="212" name="图片 211" descr="区块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 rot="5400000">
                <a:off x="16694" y="8283"/>
                <a:ext cx="576" cy="576"/>
              </a:xfrm>
              <a:prstGeom prst="rect">
                <a:avLst/>
              </a:prstGeom>
            </p:spPr>
          </p:pic>
        </p:grpSp>
        <p:sp>
          <p:nvSpPr>
            <p:cNvPr id="214" name="文本框 213"/>
            <p:cNvSpPr txBox="1"/>
            <p:nvPr/>
          </p:nvSpPr>
          <p:spPr>
            <a:xfrm>
              <a:off x="14984" y="8381"/>
              <a:ext cx="1281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>
                  <a:latin typeface="Calibri" panose="020F0502020204030204" pitchFamily="34" charset="0"/>
                  <a:cs typeface="Calibri" panose="020F0502020204030204" pitchFamily="34" charset="0"/>
                </a:rPr>
                <a:t>Blockchain</a:t>
              </a:r>
              <a:endParaRPr lang="en-US" altLang="zh-CN" sz="9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216" name="肘形连接符 215"/>
          <p:cNvCxnSpPr/>
          <p:nvPr/>
        </p:nvCxnSpPr>
        <p:spPr>
          <a:xfrm rot="10800000">
            <a:off x="5561965" y="2054225"/>
            <a:ext cx="175260" cy="2838450"/>
          </a:xfrm>
          <a:prstGeom prst="bentConnector3">
            <a:avLst>
              <a:gd name="adj1" fmla="val 23587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2" name="直接箭头连接符 221"/>
          <p:cNvCxnSpPr/>
          <p:nvPr/>
        </p:nvCxnSpPr>
        <p:spPr>
          <a:xfrm flipH="1" flipV="1">
            <a:off x="6791960" y="1142365"/>
            <a:ext cx="5715" cy="3295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3" name="直接箭头连接符 222"/>
          <p:cNvCxnSpPr/>
          <p:nvPr/>
        </p:nvCxnSpPr>
        <p:spPr>
          <a:xfrm>
            <a:off x="8358505" y="1142365"/>
            <a:ext cx="5715" cy="32956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8" name="直接箭头连接符 227"/>
          <p:cNvCxnSpPr/>
          <p:nvPr/>
        </p:nvCxnSpPr>
        <p:spPr>
          <a:xfrm flipH="1">
            <a:off x="8146415" y="4676775"/>
            <a:ext cx="100393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9" name="直接箭头连接符 228"/>
          <p:cNvCxnSpPr/>
          <p:nvPr/>
        </p:nvCxnSpPr>
        <p:spPr>
          <a:xfrm>
            <a:off x="8146415" y="5042535"/>
            <a:ext cx="1003935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30" name="组合 229"/>
          <p:cNvGrpSpPr/>
          <p:nvPr/>
        </p:nvGrpSpPr>
        <p:grpSpPr>
          <a:xfrm>
            <a:off x="5429250" y="5407660"/>
            <a:ext cx="5542915" cy="840105"/>
            <a:chOff x="8766" y="4206"/>
            <a:chExt cx="8729" cy="1323"/>
          </a:xfrm>
        </p:grpSpPr>
        <p:sp>
          <p:nvSpPr>
            <p:cNvPr id="231" name="文本框 230"/>
            <p:cNvSpPr txBox="1"/>
            <p:nvPr/>
          </p:nvSpPr>
          <p:spPr>
            <a:xfrm>
              <a:off x="8766" y="4206"/>
              <a:ext cx="8729" cy="132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txBody>
            <a:bodyPr wrap="square" rtlCol="0">
              <a:noAutofit/>
            </a:bodyPr>
            <a:lstStyle/>
            <a:p>
              <a:endParaRPr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2" name="文本框 231"/>
            <p:cNvSpPr txBox="1"/>
            <p:nvPr/>
          </p:nvSpPr>
          <p:spPr>
            <a:xfrm>
              <a:off x="8883" y="4332"/>
              <a:ext cx="1882" cy="504"/>
            </a:xfrm>
            <a:prstGeom prst="rect">
              <a:avLst/>
            </a:prstGeom>
            <a:noFill/>
          </p:spPr>
          <p:txBody>
            <a:bodyPr wrap="none" rtlCol="0" anchor="t">
              <a:noAutofit/>
            </a:bodyPr>
            <a:lstStyle/>
            <a:p>
              <a:r>
                <a:rPr lang="zh-CN" altLang="en-US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①</a:t>
              </a:r>
              <a:r>
                <a:rPr lang="en-US" altLang="zh-CN" sz="1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emit event</a:t>
              </a:r>
              <a:endParaRPr lang="en-US" altLang="zh-CN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3" name="文本框 232"/>
            <p:cNvSpPr txBox="1"/>
            <p:nvPr/>
          </p:nvSpPr>
          <p:spPr>
            <a:xfrm>
              <a:off x="11324" y="4332"/>
              <a:ext cx="1864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②</a:t>
              </a:r>
              <a:r>
                <a:rPr lang="en-US" altLang="zh-CN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ask agent</a:t>
              </a:r>
              <a:endPara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4" name="文本框 233"/>
            <p:cNvSpPr txBox="1"/>
            <p:nvPr/>
          </p:nvSpPr>
          <p:spPr>
            <a:xfrm>
              <a:off x="13182" y="4353"/>
              <a:ext cx="2024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③</a:t>
              </a:r>
              <a:r>
                <a:rPr lang="en-US" altLang="zh-CN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get answer</a:t>
              </a:r>
              <a:endPara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5" name="文本框 234"/>
            <p:cNvSpPr txBox="1"/>
            <p:nvPr/>
          </p:nvSpPr>
          <p:spPr>
            <a:xfrm>
              <a:off x="14993" y="4332"/>
              <a:ext cx="2024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④</a:t>
              </a:r>
              <a:r>
                <a:rPr lang="en-US" altLang="zh-CN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 ret answer </a:t>
              </a:r>
              <a:endPara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  <p:sp>
          <p:nvSpPr>
            <p:cNvPr id="236" name="文本框 235"/>
            <p:cNvSpPr txBox="1"/>
            <p:nvPr/>
          </p:nvSpPr>
          <p:spPr>
            <a:xfrm>
              <a:off x="8864" y="4836"/>
              <a:ext cx="2760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⑤</a:t>
              </a:r>
              <a:r>
                <a:rPr lang="en-US" altLang="zh-CN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 check truthiness</a:t>
              </a:r>
              <a:endPara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  <p:sp>
          <p:nvSpPr>
            <p:cNvPr id="237" name="文本框 236"/>
            <p:cNvSpPr txBox="1"/>
            <p:nvPr/>
          </p:nvSpPr>
          <p:spPr>
            <a:xfrm>
              <a:off x="11353" y="4836"/>
              <a:ext cx="2227" cy="48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⑥</a:t>
              </a:r>
              <a:r>
                <a:rPr lang="en-US" altLang="zh-CN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+mn-ea"/>
                </a:rPr>
                <a:t> consistency</a:t>
              </a:r>
              <a:endPara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endParaRPr>
            </a:p>
          </p:txBody>
        </p:sp>
      </p:grpSp>
      <p:sp>
        <p:nvSpPr>
          <p:cNvPr id="246" name="文本框 245"/>
          <p:cNvSpPr txBox="1"/>
          <p:nvPr/>
        </p:nvSpPr>
        <p:spPr>
          <a:xfrm>
            <a:off x="8466589" y="4410075"/>
            <a:ext cx="275436" cy="32004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r>
              <a:rPr lang="zh-CN" alt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zh-CN" alt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5281930" y="3303905"/>
            <a:ext cx="423514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zh-CN" alt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6449695" y="1142365"/>
            <a:ext cx="423514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zh-CN" alt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8357235" y="1142365"/>
            <a:ext cx="3073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④</a:t>
            </a:r>
            <a:endParaRPr lang="zh-CN" alt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7786370" y="2605405"/>
            <a:ext cx="36004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⑤</a:t>
            </a:r>
            <a:endParaRPr lang="zh-CN" alt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7451090" y="3290570"/>
            <a:ext cx="3073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⑥</a:t>
            </a:r>
            <a:endParaRPr lang="zh-CN" alt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7214235" y="4158615"/>
            <a:ext cx="423514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⑦</a:t>
            </a:r>
            <a:endParaRPr lang="zh-CN" altLang="en-US">
              <a:latin typeface="Calibri" panose="020F0502020204030204" pitchFamily="34" charset="0"/>
              <a:ea typeface="PingFang SC" panose="020B0400000000000000" charset="-122"/>
              <a:cs typeface="Calibri" panose="020F0502020204030204" pitchFamily="34" charset="0"/>
            </a:endParaRPr>
          </a:p>
        </p:txBody>
      </p:sp>
      <p:sp>
        <p:nvSpPr>
          <p:cNvPr id="254" name="文本框 253"/>
          <p:cNvSpPr txBox="1"/>
          <p:nvPr/>
        </p:nvSpPr>
        <p:spPr>
          <a:xfrm>
            <a:off x="8466455" y="4746625"/>
            <a:ext cx="43497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⑧</a:t>
            </a:r>
            <a:endParaRPr lang="zh-CN" altLang="en-US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8357234" y="5807710"/>
            <a:ext cx="1243965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⑦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ret truth</a:t>
            </a:r>
            <a:endParaRPr lang="en-US" altLang="zh-C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9388477" y="5807710"/>
            <a:ext cx="170942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⑧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invoke contract </a:t>
            </a:r>
            <a:endParaRPr lang="en-US" altLang="zh-C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+mn-ea"/>
            </a:endParaRPr>
          </a:p>
        </p:txBody>
      </p:sp>
      <p:grpSp>
        <p:nvGrpSpPr>
          <p:cNvPr id="263" name="组合 262"/>
          <p:cNvGrpSpPr/>
          <p:nvPr/>
        </p:nvGrpSpPr>
        <p:grpSpPr>
          <a:xfrm>
            <a:off x="4921250" y="766445"/>
            <a:ext cx="292100" cy="5610225"/>
            <a:chOff x="8787" y="620"/>
            <a:chExt cx="460" cy="9615"/>
          </a:xfrm>
        </p:grpSpPr>
        <p:pic>
          <p:nvPicPr>
            <p:cNvPr id="259" name="图片 258" descr="分割线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 rot="16200000">
              <a:off x="7517" y="6328"/>
              <a:ext cx="3000" cy="460"/>
            </a:xfrm>
            <a:prstGeom prst="rect">
              <a:avLst/>
            </a:prstGeom>
          </p:spPr>
        </p:pic>
        <p:pic>
          <p:nvPicPr>
            <p:cNvPr id="260" name="图片 259" descr="分割线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 rot="16200000">
              <a:off x="7517" y="4124"/>
              <a:ext cx="3000" cy="460"/>
            </a:xfrm>
            <a:prstGeom prst="rect">
              <a:avLst/>
            </a:prstGeom>
          </p:spPr>
        </p:pic>
        <p:pic>
          <p:nvPicPr>
            <p:cNvPr id="261" name="图片 260" descr="分割线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 rot="16200000">
              <a:off x="7517" y="8505"/>
              <a:ext cx="3000" cy="460"/>
            </a:xfrm>
            <a:prstGeom prst="rect">
              <a:avLst/>
            </a:prstGeom>
          </p:spPr>
        </p:pic>
        <p:pic>
          <p:nvPicPr>
            <p:cNvPr id="262" name="图片 261" descr="分割线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 rot="16200000">
              <a:off x="7517" y="1890"/>
              <a:ext cx="3000" cy="460"/>
            </a:xfrm>
            <a:prstGeom prst="rect">
              <a:avLst/>
            </a:prstGeom>
          </p:spPr>
        </p:pic>
      </p:grpSp>
      <p:pic>
        <p:nvPicPr>
          <p:cNvPr id="269" name="图片 268" descr="对比 vs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870450" y="327025"/>
            <a:ext cx="488315" cy="488315"/>
          </a:xfrm>
          <a:prstGeom prst="rect">
            <a:avLst/>
          </a:prstGeom>
        </p:spPr>
      </p:pic>
      <p:sp>
        <p:nvSpPr>
          <p:cNvPr id="166" name="文本框 165"/>
          <p:cNvSpPr txBox="1"/>
          <p:nvPr/>
        </p:nvSpPr>
        <p:spPr>
          <a:xfrm>
            <a:off x="1567180" y="6269990"/>
            <a:ext cx="127201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(a)</a:t>
            </a:r>
            <a:r>
              <a:rPr lang="zh-CN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zh-CN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Oracle</a:t>
            </a:r>
            <a:endParaRPr lang="en-US" altLang="zh-C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7918450" y="6247229"/>
            <a:ext cx="1610826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(b)</a:t>
            </a:r>
            <a:r>
              <a:rPr lang="zh-CN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</a:t>
            </a:r>
            <a:r>
              <a:rPr lang="zh-CN" alt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Oracle</a:t>
            </a:r>
            <a:endParaRPr lang="en-US" altLang="zh-C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811385" y="3481705"/>
            <a:ext cx="1238885" cy="786765"/>
            <a:chOff x="15298" y="5594"/>
            <a:chExt cx="1951" cy="1239"/>
          </a:xfrm>
        </p:grpSpPr>
        <p:grpSp>
          <p:nvGrpSpPr>
            <p:cNvPr id="5" name="组合 4"/>
            <p:cNvGrpSpPr/>
            <p:nvPr/>
          </p:nvGrpSpPr>
          <p:grpSpPr>
            <a:xfrm>
              <a:off x="15360" y="5699"/>
              <a:ext cx="1692" cy="1134"/>
              <a:chOff x="15359" y="5517"/>
              <a:chExt cx="1692" cy="1134"/>
            </a:xfrm>
          </p:grpSpPr>
          <p:pic>
            <p:nvPicPr>
              <p:cNvPr id="2" name="图片 1" descr="证明管理"/>
              <p:cNvPicPr>
                <a:picLocks noChangeAspect="1"/>
              </p:cNvPicPr>
              <p:nvPr/>
            </p:nvPicPr>
            <p:blipFill>
              <a:blip r:embed="rId40">
                <a:extLst>
                  <a:ext uri="{96DAC541-7B7A-43D3-8B79-37D633B846F1}">
                    <asvg:svgBlip xmlns:asvg="http://schemas.microsoft.com/office/drawing/2016/SVG/main" r:embed="rId41"/>
                  </a:ext>
                </a:extLst>
              </a:blip>
              <a:stretch>
                <a:fillRect/>
              </a:stretch>
            </p:blipFill>
            <p:spPr>
              <a:xfrm>
                <a:off x="15905" y="5517"/>
                <a:ext cx="602" cy="602"/>
              </a:xfrm>
              <a:prstGeom prst="rect">
                <a:avLst/>
              </a:prstGeom>
            </p:spPr>
          </p:pic>
          <p:sp>
            <p:nvSpPr>
              <p:cNvPr id="3" name="文本框 2"/>
              <p:cNvSpPr txBox="1"/>
              <p:nvPr/>
            </p:nvSpPr>
            <p:spPr>
              <a:xfrm>
                <a:off x="15359" y="6071"/>
                <a:ext cx="169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900">
                    <a:latin typeface="Calibri" panose="020F0502020204030204" pitchFamily="34" charset="0"/>
                    <a:cs typeface="Calibri" panose="020F0502020204030204" pitchFamily="34" charset="0"/>
                  </a:rPr>
                  <a:t>Zero-knowledge </a:t>
                </a:r>
                <a:endParaRPr lang="en-US" altLang="zh-CN" sz="9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altLang="zh-CN" sz="900">
                    <a:latin typeface="Calibri" panose="020F0502020204030204" pitchFamily="34" charset="0"/>
                    <a:cs typeface="Calibri" panose="020F0502020204030204" pitchFamily="34" charset="0"/>
                  </a:rPr>
                  <a:t>proof</a:t>
                </a:r>
                <a:endParaRPr lang="en-US" altLang="zh-CN" sz="9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5298" y="5594"/>
              <a:ext cx="1951" cy="122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</p:grpSp>
      <p:pic>
        <p:nvPicPr>
          <p:cNvPr id="8" name="图片 7" descr="群-通过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9295765" y="3496310"/>
            <a:ext cx="403860" cy="403860"/>
          </a:xfrm>
          <a:prstGeom prst="rect">
            <a:avLst/>
          </a:prstGeom>
        </p:spPr>
      </p:pic>
      <p:cxnSp>
        <p:nvCxnSpPr>
          <p:cNvPr id="9" name="直接箭头连接符 8"/>
          <p:cNvCxnSpPr>
            <a:stCxn id="6" idx="1"/>
            <a:endCxn id="199" idx="3"/>
          </p:cNvCxnSpPr>
          <p:nvPr/>
        </p:nvCxnSpPr>
        <p:spPr>
          <a:xfrm flipH="1" flipV="1">
            <a:off x="9097645" y="3858895"/>
            <a:ext cx="713740" cy="10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下箭头 3"/>
          <p:cNvSpPr/>
          <p:nvPr/>
        </p:nvSpPr>
        <p:spPr>
          <a:xfrm rot="16200000">
            <a:off x="8855710" y="2550160"/>
            <a:ext cx="300355" cy="1024255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下箭头 9"/>
          <p:cNvSpPr/>
          <p:nvPr/>
        </p:nvSpPr>
        <p:spPr>
          <a:xfrm>
            <a:off x="6873240" y="4157980"/>
            <a:ext cx="300355" cy="329565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>
            <a:off x="7458075" y="2640965"/>
            <a:ext cx="300355" cy="258445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TABLE_ENDDRAG_ORIGIN_RECT" val="335*63"/>
  <p:tag name="TABLE_ENDDRAG_RECT" val="363*340*335*63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29&quot;:[50052433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2">
      <extobjdata type="334E55B0-647D-440b-865C-3EC943EB4CBC" data="ewoJIkltZ1NldHRpbmdKc29uIiA6ICJ7XCJkcGlcIjpcIjYwMFwiLFwiZm9ybWF0XCI6XCJQTkdcIixcInRyYW5zcGFyZW50XCI6dHJ1ZSxcImF1dG9cIjpmYWxzZX0iLAoJIkxhdGV4IiA6ICJYRnRjZEdWNGRITmplMVpsY21sbWVWQnliMjltZlNoY2JXRjBhSE5tZTNacmZTeGNiV0YwYUhObWUzQjFZbjBzWEhCcEtWeGQiLAoJIkxhdGV4SW1nQmFzZTY0IiA6ICJpVkJPUncwS0dnb0FBQUFOU1VoRVVnQUFBNklBQUFCVEJBTUFBQUIzOEtlVkFBQUFNRkJNVkVYLy8vOEFBQUFBQUFBQUFBQUFBQUFBQUFBQUFBQUFBQUFBQUFBQUFBQUFBQUFBQUFBQUFBQUFBQUFBQUFBQUFBQXYzYUI3QUFBQUQzUlNUbE1BSXUvZHpVU1pFS3U3VklreVpuWmkrNzhTQUFBQUNYQklXWE1BQUE3RUFBQU94QUdWS3c0YkFBQVpQRWxFUVZSNEFlMWRmNHhreDFGK2U3ZDdjN3UzZDdObk1JYkVZWmF6SlJDLzVyaHpaQ2xHekdJZmlrR0VXUlFKQkZFMEV3UkhncEJtejRFY0lJZFpnUVJLVURTTGdod0RjbVpGVURESVlWY1FLd0tFWmhJVUlTRkZjL0JIQ0Voa0JyQVRJeUZtMmJVZEg3SDkrS3E3cTd1Nis3MTNjN2U3bDRuWDc0LzMra2QxVlhWOTFkWDErczNlSmNuclY1NEZGdDZjMXpOOTdYZGNtejZkcGsrajFyZE5uMDU1R2gyL250ZnplcnUxd01tMGI4dFRYeWpWM2pyMU9uN05GZXkrOERWWDRTWVV1R052N1Nhb2p5VHBiSnEvTlpYVGRQbGdqVEpJMDUxOWNWeE03emZqSzd2bkx0NTNDZGZGYzhJbmo2SDEwcVdITGxTYit4Sno4NE1icVgvZCs5aWYzRHlUQXhuUitXbytteWxFTk5sNjN1aGJjUmFVaUhKck0zOWFoOUxUWU1IdStjRFNvVWk2QWROVDZVWSt4VFFpZWlwZDF3cS83OTIvcVkyMzk5aTczQlJPMUhYajQ1dXU3YmFVdnVueUIycEs5T09YY2IzN3cxVlVycS9lRnRHK2tFYTY1amZJMmpRaW10UmV0U3FlSUJOK05aakFINkh0eGI2bHVZMkZtUlpFbjJlQlR3TFRsd0xkdU84UW42WHFLd1hjcHhMUmlzak5PekRoUmppQldycTNGTGJkbnZveHFET3lvczZnOXAyMmRyc0tzK2xLZ2FpcFJQU01Xd1pKSlF2UmhrMmVDcVoyS0YyelVPZWE0L3lOZnRWMUhHWnBtQmE1ODFRaW1sUmRMbmNTTnRzSjdkTVdpempzTzl6NmZBQmhMVTNkRm5HNG9wbDdLWDJSaTFuUDZVUjA2QkNiZ3dtamJhUHhVdFpjYmtkYmlPZ2pVRy96ZGdoMk1rNm1YM0dWdURTZGlCNFhPMFUxVGZkQ3ZWc3ZoeTIzcXg0aVNqdHBvWUVQWHJGQjJpeGlPcDJJTHFUL1o1VWV3Mlo5VzlPRjZrclFjTnVxSWFJSnRMdCsyNlFyUWQyaWQ1Y2ttVTVFazlxdXRWSWJObXZhbWlvc3lPVEU3enJzV29Sb0o4UGhEbFdKeGVKdGRGb1JIYnRYaEl6VWFEWTlWSnNWTVk4UUhjWU9WelIrLzMzemFmR1dNNlZydE8xT216TlNvMHBoc3JkL294VndpQkJ0QU5Fb0Z5OWdzTyt1dG5pMXkySTJwWWllRkJ0cExVMzVvTmZNb0Zmc3BWbnpQS2kyQ05FQkVQM2ZpYmkvL3owUDdqNzhkQlpwNmZPL1Y3MzNkMWF6dXVLMmNib2RONHFXS1VWMFRvQTRoczM2UXVVa2NZblJ3dTlIMXpXUTBybzIxOTRQUDd2bUJzK2E3emJueUVmK05CbzdTcEtoK2JCajM0Z1hkdSs1NzlLRmFsOHppUkN0UUk3NmpKQXJVdzhzUGFNVmVtbFQxOFg5MSt1NjY0T3VMWjdYUjdtelZuaStNTFdaRVZMSUpaNUNHL050Y29XZUlqRTZyVzBoNzBRcXJJdXU2NXRvMGhjZCthaUxFQjJhc251c3UwYUhxTzd1YXdZUm9tMTBxL2ZsWEpsNllDOU5QL3JqVjk1UlMzYzNkWU85bjRLR3o5NTE1MS9LQThWNFh2d0d2aWg4M2JLUWhTbGRvMG5YeFpZb05SS0owY3dubmlPRFAvRm5kUDNiY3pXVU4yaDZWLzZoZytKVFY2K2UvZXh6VlhFU1d6cjdPVm9RUC9icHUwRDBoaThTMGZWL3BiR2YrQksxcnlSSjZjNy9SQ0Y5aTNXbzVPMm92dmdVY2NXVmlhaCsxY3FUcWNiOVU1cCtpZ296bmZUNXZtcmgyK21xK1JMeHpXbjZvOXpvemV1TFB3c05lT001a1ZwZlkyTC9XWjYrTDk1S3dhSGIvOG41MVNwZ3pmM0VDS2MyUE51azlCLzJ5d2o4d09SUGMxZ1hxencyU1k2TEU0dFNWYUdvTy8rWVRVRTRpd0V6OHVOUGhHZ0Z4THl0NThva1IvaUlsckpZQzQ0TnUrbjFOZDMxZDhMMWtrVE9hNkdlOHV0Y1djZDRONSt3TksySVZxeVprcVFtTUNQOWUyeEJOUmw4YnhPcGI0ZVRaTVF0ZG1aUWlMTlhqNzZWaW9EZU0wa3JoZVpyd2xEeW5DOUNkQURpcnhqaVhKbWxtbFVtK1ZVcE1rbmVtOXBvVk9yS21YaDZJakliR1kwYlpkYlRpdWh4QWNJWVJ1c0xDMWZQaTBxQ3lUSjBhSjduQ1MrSWhkMTFWa3Q4K3A3c09XR2d3YUowRVFLQlVqaFhISFczUUx4aTlNbVYrUm5wSWxpVVR2L0Zxb2cvY0pjTjIrWFBxOFVIUlQwcnpWTDZCWW5vMWF0WHpmcjNhVkFyNmE2NXYzcHc3dy96YU15Z2dYNC8rN1ZQWHRqN1VNUm40b2FUWXRwdEdLM3BSb3JFaUJweHNpcFdZS2xxWGlVUXEyMm9CZ04zcWdoNjV3RndscEhqWERPTEg2MkM1Um01WUtNMTJvSnltNFpGbmt3RWR4RkdFUGJYclV6RTFxYXRKTFdVRTZCd1hzZlpwK3QyU1NjSThuYS9BWStoZHExeXltRXFvV0N6N3JoN3BZR0M2YWRBZ1JqSGtOSUd0MlRJaGhwSDFDVHBkM2xNYnFhQ0FHYkpvVG12UEdxYmR6MVU5UkZOZXVZWFNkSzZCQU9ScXN1akgzdUlEZzN1WkFtZVdKSzBuWlV6TXFOYWFyYzRTckd0RjBtWjRMZGlwT09CRU9EOHBlNkJVaEhxZUhvbXA5bHRuUCtvak42cG1kUjFJQ2c3Uk5FaWRYY3FvRFFnbTM0TUU2WHJ1MDFYQWFKSTdkUlYrTlBibVU5V0RabDU3SzFhb1lzaTBKSWNhNmtrcVFoL0I3MC84NlJpVUpIV3BYZUJFYlAyNk1laUE5Z1pTMVBZWFdINnBIUGVGbU5FU1RmN3E3WThtUzB4R2ZEcXVjUUxtNldKQzBvR0lxMWw1dW1abE13RUlLSnYxYW5KUFlPVXBwNnlSWlNjYXNNU0I0VUJFUDBsRU9qTEdKNW1zMlFJaDNZWkVlbTNHTUowbC9zRGZsUXRkWmpLUHBjZG1keDVhbDU0NlVrYlJJZ2VNNmhJNjVLaUs4emFzOVRZUTNTV3cvRlFST1lGbWZkRyt5Z3Q1MjFtblNNVHpXTG5oT05ZbXljTjMrWWxzZUE5UFpPa3JxVzRGQWxDb2YweXk2YjhRQzNJc20zc0JuSXRLUlVHMkltZ3U3bk0zMXlRb1JpeG9VVDBGU1pNaTM0OWNvZWo0dEtPRTFvVE93QTBGNTdwSjBiaEdqM0o3eXhpWFpQN1d0YWVwY0I1NUdTZVVpWkJuWERxbS9aSHZKQVE3cU05YVRXSnFKQUpicDRUd3ZZY2R1dE9qaElIZGlNajE5TVRDM3RkdGMvTGo4VnRzYVFUL0FKS1NTa3pvclJaYlJobThXT0FYdmpBMy81NWg1N21DM1F1b2lCNTI5OC8rZ1VpOVp6VDQwdWp3MnZiVWRqWEVEUzFRZGZrcmlBeENoRTlZeVRtV0RkWTAyTm5RZkJmNEVTRDREaHZCSHBCTjF5akZNK3RadDQrS2hEZGNzd1VUNnhFazdraU9mYS81cmZkcTFDQTZOYUtHbnRNV2hUdXhUNllKQ3lsekloMnZNaW1Sb3ZiQUVxazM3dUdVRG1tMGtoMUZTRDZRMFR3UGlLOXBrZ3pibUM1ZS9IU1F5bjlacjYrUy9kTDRtQXphYmxWUlVtZHE4MXpIbTk0dXBsL3JvK21PWU9LUkJTYnNnWEk5d0RNWm1UNDRMSElyL0hKMEliZEJidFlGWjIvUm1uajRPV0c3aHlaTlJHWUZSUGJnTFNYQTczcW9PTVBibkR6VWwyRFpmVW95NndaRHVHTTBUVlRLUnRFeVdncmFrem1EZVpQbjEraXJwa2FpdnFWT2g5UkU2aTJRTHFjeVErdVVVMmZBTVBUQ29CWmtmZ1krckg0b2tHQ0xFV1FHQW1FT3R1a24wRkZXcGZHTjFrUHoxSmpSdlRNbDlGZnNoa3hBZGRYSXg1aEMrdnhIcUtMZjhGVzBaM1pNc21mVmpXQnVmZllMRENyellSVUh3SXllNVhUODMvVzBOZmVVUVFWNlVGSjFhMFl1L0RMaG5rTHV0SEFuQXVpT1NiamtNUDRFUmxxeVF3WTJsVkVwTnU2bGVZaVhOampQWnUrbWVyenltQmx0UU40L1Z0eXJqVVJRSG9Cclp0NVY0bjlHODFHV2hkMnNvb0tEd0RobUJFdHE5Zll5NndDMmVlOHFuVDFnenNJMFg4L1M5ZmQ3L3hTRlVGemszdnd6SlpKMGdVUmlnM2VXSHZXYW9hQVROclhaVGN2cGZ1SnBtcHVPTmRHdmVXV0ljajFmbFBXaUNLTExrcGlLRFBpUFFhTHkvZ1JpVi9TNGlsTTdlZ2lTRzF3UjZ1L1R4aHFQTVpHdnZMUmdSbnJ1aUhScmtwbGVKNW9FaVJHQWlHVERtb20wcm9pbHVYdG94cFJKeCthSzE4TGdxN2FSekZ0dmw3cXV5RStvazRtU213N1F3eWo2NVZmYzRpWUxqRGUxc1VBVWRNL2xJNmVWTnkzV1VqUjcyMWd2Z3ppSGt5L1pnWmxQUUNURFE4TlNGMGxvbHhFTGFuTUdYMjJNMmJKTnhTV3cyVy9GN1dLM1ZCUWFVTmtVNU9FaVpGQXRHcHNvUWdsb21NYllORGxMSVVLZWthS3ZCMTh0ZWF3R3dSZEQ5RjdIdjV2TmRiZXNtVldoSXRyVWhoZE9UcGxUK3QydENxZzVieHVzWHFXN0xKQlJ5K1ZJUXIyMWE2aDNrYVcxVUF3UjRFQ3cvMnFubk1iQ0VScHkxMG51aHNqU2hSTklvMnVlYk4yV3l2VTFkbUlDTXB1cFNjeU5Rb1RJNGZRSEh1MzRpV3Npd1RDUm8wOFJCc0JvaFNKeUxSQjBGV0lya2ZLbW9ac21WdmVwd1FpeFl1R3ltZ29zMm1hc2VZQnNlYmMzeUk2SnhGdGlmUUNXUWlIU3hXQXRVT1hGYUxqR3l4UmlycDI0WkZuTFpNQ04wWVVCNVdhMU9qckhteEJ2YTVxV2huWFRVY2ZJbFNSSkJPRUt3SWNSVzluZmtjT29xV1d5eDh3d3RMVGFFeDhSTStrRXlCS0x3UEk3OEtnT3ltaVVpWms4RUpTb3ZUcjdoTEtVTVhUR1UxMUcwZXRuaWNsb2gwR1hMTUNnMVZkcXZJT1dDYVRFK2ZpZjZsaElCQWxxY3FQSmtDMFoxMU95N1gzenFZcUxtcUZNdDV4UEVUSk13ekFQUmwxaUFlVWg4RktkMzdjdDQ1ZEwyL3FwT25QSzJINlppMUYxYkZCZE1GemZlclJZVGNNdWhNaTZzbHNSZWtoOFNZZ0tIc1prVEIzZGEyaHJaNWJCWWhpYnV0cU1KYTdNVkNaRUIxaThaTFA1RjhES3dnMElGZWI4QVNJTnVRNHlmNktycHhTV2VBY0gwTUxpcktYVTQxVHpnSER4RWk1STNycDJoYmpvUnk5NUY1RTgvUC9MTnFKL2xWYkIxOE1ldlNkM1FoUkhYYkRvSHREUkROa2RteDhZYkcwYjExRGhaL2NqcWNqTnA3NjJYL2h4YWVvdXY0YWJYQkNDaWN4UWF3TVJPbmdJNGdMUW9ZcURpUXlGVU0rQWFKZ1g4ajVtSEtzTXh3NmhOaGo5c1dNR3R0UXNVbUZLREVxUUJSajFQWGJOTkJlSWFLR0tJeTZLdXlldGhrMkQ2Zmx0YzZWOEVrR01aZVFXYmZHWm5wQ2NvUUtKWTZFckxnNjF0K2dKMTlManFET3J4UzZDUm11QnJMTjBLcVQraTBhS1VhNThiWTBrSWhpWTFkSENCTWd5cVNXVVZCb0tMeXovaTBYSDFHeXdRNk5qUklqWG5PUHZxTWFybEUxMTE5dStXdVg2YlVpWTVxNnVpSkVTZVJXNUk0M1FqUkRadGVDeEpObkpJblppQnYxczg0UVNVOFYyQVNJQW5ZZGJER1JwdVpReGkvUTFJeFdkRDNuUHBDSXdqRmVJcm9KRUdYU0hMWkpTK1ZieHpQOENTUEZJQktsak5WV2trV1BRK2k5bVlnbXBhNS9kaEt1MFJIT21mQTdzd2hSQ3J2OEp1SGtUWVNvTDdNVnhTbk16ZTZqMjQ0M2xXclcwRWJQdTUvMFZsdUFLSjJFS0x3eHJxODVBVkY5UmQ2bys4M2RReFN6VXNjREV5REtwQjR6VWRFTHIrMU9KMjJmdjBadGFoUWxSZzdSdkxjWDVCL3l6U3dEVVhMT0NGRUt1MndscTlVTjkxRWRBeW5uc1RKN21XOHZmZkNrbDhhbTQwMmxLaDhudVhrMXBMOEgrMmpTMVJFSXAzTjhsS01SL1k0czVhV29FRkcxMUNkRDFLUmdrcHN0TDZRclZHN0k1V2c2ajFrVlZjUFlhQmdsUm03bVNkNEpRMTA3b0dHY2lXalNpeEZGMkkzZGZMSTFTbThoeXVsSjVwRFA1NHdDNnFPMDhtRktZRFpzcXlxZ1JiMUhpTGVzVXhMUjRPMkYzRzRaQStGQm5PNXBSUHUxakFBalJYbUlZaHVZZEkweXFlUWx5dk02VUk1dmpHZ2JVMjNTV2hxSjRhcm9FREtuZ0ZkVk05ek5yQmQ2bVY1MW94dzkyc2E4a1ExaVJFRm8zOEh0OEVrUkZUSlJETHlhSmtNYzZkeDd4YkttQWtYUkhkMWk5VndzUWhTSkNpbUpoM0VFeW94b25VT3ErVjZpMllWMzlMdlo4ZVk0d1JwbDBwQ2ZxYmUxcVZzWmlQcnZvM3hxRkNkR1lvMTJ0NG10K1p3bUVNVjB4VXF3bGlMaU1TUGFQbUJFaFV3VWcvazErQkNyYXZFalpYQ1JTZGRWeWMzTE93WDB6NHhVNEtiTVlzdE5zUXdXTUN1bUtmMVk4eFQzZ1VRVVkxUTRtZ0JSekNhT1hJNXZUMCsxRzh5WUNNb3ViRkdWWkdITnhZbVJtM25TVW9pZTBhNHBFRVdnRUhobEl4cWUxRU1rQ0owWGt3NTBUYnBHaFV4S21sZjFhSFB2OGFsNkp4UkJPK3VtcG5KNnlqWGFDM1NpQXp6UWQ1MElRcFNPQytwcCt1MmFVK1o5SUVXam9vTDJCSWkyWFh6UDRsdlY0YWlXa1JtMVV6K3JyYW5ZTlg0NVl1Tm1mdmNhZFo3VUc0cEFGQ2h3QUVhL28wZGx6R3Ywb0JFVk11bjBWdmthYWFjdUdIdEhGYlpDaDRjanNIYzdQU1dpVytZTGkrR2tnTnVrWU0yZlZWWFUzVVIzaFFPQkpmVUtBTkg1Szh5Z0REc0JvbEE1eHNCeVBtMFdjQnJubEZESVg5d1FDcW80TWZJUkF1dmo2anlMRmpYRGlFVmkwNVE4UkdlV3JGWmNnRW5kbkxseDBqVXFaVmJEM1JKVDJWQU1FY0w4TGJic1ZIV0lubVhoZUhvZkdhbDlTTHlRWWxscmdZV2FPS1ZkMThUSW9EaVFzNnNiRjVzQTBSWjdZOEJQVjJlTnlWekljR1FOQzRodWEwUEJaa1ppRkNGcVZwdEFGSW1nOWVBOFJKMWdXOW9Yb2xMbTJJdjY2b3VKV1hZUUlSZWd3b2MzQ0llbzFRaUZ0b05PTjVjcEp4SXhudGFvZHBkdUlGYXlVVi9mckw5U2hxYkdTRVI3RnJxQkJML0s3SDEycGpiUXdRY3hZeFQxZTc5aFFDL3RSanNaaVZHRWFHTkg4ZklSRlhiekxEWE9FbTEwMlMraVZpWldvcGQyaW5RUjlta2FjZXBSUzlOMVUvZjB0RFRlNzR5b0ZYWjVCVGluSzB4U1poYjR1YjRmQUpoQ1BRY0NKZ284YWpsTFJEdVppRUtyb3BYZjBaNEJSTmM5YVZTUnZ6T2lPZ2w3cGUzdnJkUWVJZG82cjVvRFJEZFZJOTA4UzQwUEUxR1dTZkZ2emNwUGtvWjcxUmk2SWhIUUpKblMwOU9PUGg2aWhQVjFuVUt2UW9USUxLSzBmNC9zd0xBQVJIbFhVbWNwcXAva0x4bktxa1JVNzJUb2lSTjN5WmpYSnZLMUZkbXV5aTErTCtPZUdseHViQU1GdHdZSW9ibTZvZm9Fb3BSQWJ0c0JucVVPRFZGUFpsM0tWOG5NeUtpRGNHazNRRFNoeWdjRnZ1ZFo3ZWZsQnFKYVlSZEtkUzFGMmE2UGpnaTdQL0g0cXFWUWhZRTdaYUo4V1d0QmlQWTFIZm5Eamk0S1VwTEVDa2NzMWJ1VUdnNWt6VmpOUWQyNzRabnFHQ0xDTnFMMEVLS1BNMDAxUGtCMGhSclg2T2JSZyttSUdyTXVFTVlPTkdsbVJJaXVFRmVTaVIvYmlmd1FmRzJvS2RXc0NZa1k2cXpUa3k1UFQ5MmtXOVVzYkFPTldaVmh2V3g1WUQzeDBTRFVZU0RNeUFFVTNOYmxiMEJSNzk2RTdhcHV4TmJBcUJCcFU3ZlN0TXhHSDdPa0Zhd1RGaUFhbTY3S1REUXJ5Z2x3amJqbW5zSE1Iekh4Qno3R1VZV2kzZzRHektwakZkQzd5Y0VjWmxxT0laZEFHS3RWaUdpZVRCaEsvSW9MQmxwaEdVbEZIQURUR1pMYitUdzlMVDFJK3JhaUN1MDAvVG5wTVdXTEtLMDRNN3NHaXB2ZU9JSkpHd2gvOEdnTjYwcGRGTWxvdUlqVWhJNk9JMmlndUtuNjNXM0l2aXBkekhRRDVZQ2NVaU83eVRnbS90K0QwaWZqVmRVSjYzSUFvMVNPMWtoWkllcjVWczk2bitCb2lwbUlJaTZhVkRJZWdQaVFJN01oQnMxVUpieXd1bnV6d3QrTjNHL1pRazh2bnpJZFlzZlVMZkN4QjJUd0tsdEVFOHpPeEFaQ1lzV3lwZ0xCcEJkTkN3VjJKQlNYRlJuK2J0bERWSk4rVEpER0xPbkxrZGx3YTlIbVFPNjZwRmpiRzNtY2pWYTJWUjFTdXpWSHFkK2E2cFN2YURXOUxQVnZTUEZlNFN5RjJXd0lYbDRSaEx6S1hUdGxCdWRkMVMvbHlzUXlzTCtHL296OUEzNDFHTlczR2k2Z3VxNlZwd2FJZDFnYkNqeTZMaTdyUnJqUm5sMWphQ283UkJFNVRkaUZCVGhhR2xZRHRLUzdUOStsL3NFSys1dWtPc0R0ZytLTjFDdlhhSm8rcmY3eEQvZnpwUm9JK0UzTDhBUkU1blM1RzRVU3ZET0xWMGc5QUN6aUtLaXlDVGZ6MHlEUzFJQ1dIWTl5T1pwWnIwbGRXR1c4dTZna1paa2FzeTRRT3VnTkFmMGlMSDNWbWQwZmx5c3p3ZC8xZmIrbUJlb2UxMUk5M2V2cnJxRVhNQ0ErTWdIb2VtWVI2U0YwcjBJbEViektEbEVLVGsxRjJFV0pRNVpxb0RWNkhZM202dXRHMnBUVDNZY3Yvd2J1S080VWtYWkI2ck9rSTlJVlBhVEhnZzFmUEU3RzZ4RWk0dFZ4NVUzRStSL0p4cVVyNnQ5RlVYQmRlVU1IelUrYzFiWkhBRU1NbjZGVmYrVk5kVlRlcGpwS1ovRWJublR2MmF0WG5WeGIwb3cvYURpbzVqZGUvZ0FOaHFzOGZ2bFRsdEFXY21VU1JTOU5mNWVlYzdWMGI1TUs5b0p5MTZGWVF2OG15MXRzcXhiL0F6OFovZFY5STF3WXhGb2FxK3dRSllCMEdCeUN4bk1rUXZTRkJsclZ4WDhSak5TR3I0OVVKS0l2YkhHN0pSMml4V2RKU2NFMVBZTkdqTld4T09LMVpXd3hVNmVrSjdnb01sT0VWcGNKbXkzNk0rYTNvNGUyUVhYUitoMmFNaTlydzFNOUxPT1hYV3ZEMGtmeEJrUzVNaFVEV3R3UFBIWG54NnZwcnBtMDVZcy8rTnI3NjAvLzlNK2s2ZmZZTml1ZTE0bnRLZk5XWlZzcVVFc0VyN0pBbE5iNUdoRmk5ZXo2VzlZQWcyWTZla1l1MXR0Si9BakJzNk5sRUdtcEc1TEdMTW1nUmlzb3NXR0svQmh3Uk9ZR2RUcWl0SE10K2tCTmk3SjMybFRuVXZxUFlpNWU0SCtpZjY2ZXB1ZG9BNXJsRG9XbytnZklRTVY2Q002bk5lRzVxa1FVZjB1bnJ3dlZZQWNwa3FtNXpqeGpUSEpOU05IRmI0VjJkRDNoZWlBZS85TFpReGZQc1ZWdFZ4eTh5RXVYYmIvY1J4R1cyTExQN0gzWmJrS0tsbUJLNXJvZzhJSUdBZ1ZkdjZoTytnV2lHYVFSeTZSaHd6Q1NnRldua2lxTk9TSzc5a1VaVzF6elJLV1o1eTdzL3NGRWxBZEhGTXA4LzNzdTdENzhDMW44UzUvL2NQWGUzOXJNNm9yYTVqSjMxNGdzb3lFRDBhVDBoUWYzSHV0TDRpY3Y3TjczSVdveC81aUtMWlgrcXhhUUpvblBNamwxendqa2RKVzY2dTlOZFVYZnV4eVJSV1ByKzBUbHlCYXJrZmRQWm9xU3l4OXBnRnFqazQzTXBRcFk1dEpSQjE1SDF3b0pqbTVuTDN4OW1kQVVpMzRhY3hDSUJpd0xGVGtUcGxHRjFFZXFzeDF0clpOTmY4Ri8xVGdJUkFPV2hYb2NUMFZHVWtoNTVEcmxQejE4TTVNL0lmSmhqRHNJUkFPV2hkcFU0c1Nva1A0SWRjNjRrNU9ibXZVeGs3bWFRUWVCYU1DeVVKM1dMVzcvaFV4Zkk1MnR0SDhyTXhtc2VLTU9BdEdBcGNjL3FKUXlqelFEb3FOYWJVY3Y3eE5ab25YTkl6c0lSQU9XSHYrZ2N1cjFiVFN3aUtqZW1uRktWY0VDeFFOQU5HVHBDL0JyN1Z2TTBIMHVyOVZhelQvUG0yeWFKK2dzVFZ3SGdHaklVbkNQaXIzWDMwWWptN2lHeHEwa0daWGc1OWdIZ0dqSTBta1lsV2JpWS9xSTVnZzNuSkRIdUpQYW9lNXZvd2NSZFVPV0Jhb1UvNWVwQlFPUFNGZk5QLzZaWk5Zbi9EUEFnOWhISTVZRmVnejFKNkFDaXFQZFZibjU5NWRoRUhRUFlJMUdMUE5CS2NuUGZmbGtSN2RuUWZ3Y2FUSXJ6RVUrc085OU5HYVpyOHA4T3NydmZMMEhGaGdIbjdGdWFKU0ZId3hKOW8xb3pESVU0ZXF0bTk4bTNPQWpVVHIxOWZWMmQrYld6a1NPQkpROHlWN3dkc250MC9uY3VwVVg2T21jeXFGcDVmMlBKWWNtNVlBWUw1b2ZKQjRRdTljb202MnZvNitOYmYvTDdHc1VrZjFPYStaZCsrVncrOGIveWhMTCtuK3lzWU1wa0tMaUl3QUFBQUJKUlU1RXJrSmdnZz09Igp9Cg=="/>
    </extobj>
  </extobjs>
</s:customData>
</file>

<file path=customXml/itemProps66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1101</Words>
  <Application>WPS 表格</Application>
  <PresentationFormat>宽屏</PresentationFormat>
  <Paragraphs>194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PingFang SC</vt:lpstr>
      <vt:lpstr>PingFang SC Semibold</vt:lpstr>
      <vt:lpstr>苹方-简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WPS_hh0424</cp:lastModifiedBy>
  <cp:revision>173</cp:revision>
  <dcterms:created xsi:type="dcterms:W3CDTF">2026-04-21T07:16:59Z</dcterms:created>
  <dcterms:modified xsi:type="dcterms:W3CDTF">2026-04-21T07:16:59Z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2052-12.1.25867.25867</vt:lpwstr>
  </property>
  <property fmtid="{D5CDD505-2E9C-101B-9397-08002B2CF9AE}" pid="3" name="ICV">
    <vt:lpwstr>0D5C8728CB906E425011B969169B4722_43</vt:lpwstr>
  </property>
</Properties>
</file>